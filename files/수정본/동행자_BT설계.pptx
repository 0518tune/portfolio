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80" r:id="rId29"/>
    <p:sldId id="285" r:id="rId9"/>
    <p:sldId id="262" r:id="rId10"/>
    <p:sldId id="263" r:id="rId11"/>
    <p:sldId id="286" r:id="rId12"/>
    <p:sldId id="264" r:id="rId13"/>
    <p:sldId id="265" r:id="rId14"/>
    <p:sldId id="288" r:id="rId43"/>
    <p:sldId id="272" r:id="rId15"/>
    <p:sldId id="273" r:id="rId16"/>
    <p:sldId id="274" r:id="rId17"/>
    <p:sldId id="275" r:id="rId18"/>
    <p:sldId id="276" r:id="rId19"/>
    <p:sldId id="277" r:id="rId20"/>
    <p:sldId id="266" r:id="rId21"/>
    <p:sldId id="267" r:id="rId22"/>
    <p:sldId id="268" r:id="rId23"/>
    <p:sldId id="269" r:id="rId24"/>
    <p:sldId id="270" r:id="rId25"/>
    <p:sldId id="271" r:id="rId26"/>
    <p:sldId id="281" r:id="rId30"/>
    <p:sldId id="287" r:id="rId27"/>
    <p:sldId id="278" r:id="rId28"/>
    <p:sldId id="283" r:id="rId31"/>
    <p:sldId id="279" r:id="rId32"/>
  </p:sldIdLst>
  <p:sldSz cx="18288000" cy="10287000"/>
  <p:notesSz cx="6858000" cy="9144000"/>
  <p:embeddedFontLst>
    <p:embeddedFont>
      <p:font typeface="NanumGothic" panose="020D0604000000000000" pitchFamily="50" charset="-127"/>
      <p:regular r:id="rId34"/>
    </p:embeddedFont>
    <p:embeddedFont>
      <p:font typeface="Noto Sans Kr" panose="020B0200000000000000" pitchFamily="50" charset="-127"/>
      <p:regular r:id="rId35"/>
      <p:bold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767"/>
    <a:srgbClr val="2D2D2D"/>
    <a:srgbClr val="282828"/>
    <a:srgbClr val="3A3A3A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7" autoAdjust="0"/>
    <p:restoredTop sz="96709" autoAdjust="0"/>
  </p:normalViewPr>
  <p:slideViewPr>
    <p:cSldViewPr>
      <p:cViewPr varScale="1">
        <p:scale>
          <a:sx n="103" d="100"/>
          <a:sy n="103" d="100"/>
        </p:scale>
        <p:origin x="28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8.xml"/><Relationship Id="rId30" Type="http://schemas.openxmlformats.org/officeDocument/2006/relationships/slide" Target="slides/slide28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7C14E-F9CE-4A18-A040-FBA890D86BB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4B864-8D89-42D5-98DD-B6453A33B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1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B864-8D89-42D5-98DD-B6453A33BD7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985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B864-8D89-42D5-98DD-B6453A33BD7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927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B864-8D89-42D5-98DD-B6453A33BD7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474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 flipV="1">
            <a:off x="13662661" y="9087000"/>
            <a:ext cx="4610725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687835" y="1257300"/>
            <a:ext cx="8456165" cy="368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4"/>
              </a:lnSpc>
            </a:pPr>
            <a:r>
              <a:rPr lang="en-US" sz="13172" spc="-922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동행자</a:t>
            </a:r>
          </a:p>
          <a:p>
            <a:pPr algn="l">
              <a:lnSpc>
                <a:spcPts val="13304"/>
              </a:lnSpc>
            </a:pPr>
            <a:r>
              <a:rPr lang="en-US" sz="13172" spc="-922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BT 설계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76494" y="8524389"/>
            <a:ext cx="2495976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 spc="30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 : 김태윤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76494" y="9206957"/>
            <a:ext cx="4193440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238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010-5750-7113</a:t>
            </a:r>
          </a:p>
          <a:p>
            <a:pPr algn="just">
              <a:lnSpc>
                <a:spcPts val="2800"/>
              </a:lnSpc>
            </a:pPr>
            <a:r>
              <a:rPr lang="en-US" sz="2000" spc="238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0518tune@gmail.com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84167" y="3884018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086981" y="5427068"/>
            <a:ext cx="788682" cy="78868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86981" y="6337085"/>
            <a:ext cx="788682" cy="78868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86981" y="7247103"/>
            <a:ext cx="788682" cy="788682"/>
            <a:chOff x="0" y="0"/>
            <a:chExt cx="812800" cy="812800"/>
          </a:xfrm>
        </p:grpSpPr>
        <p:sp>
          <p:nvSpPr>
            <p:cNvPr id="25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6" name="Group 10"/>
          <p:cNvGrpSpPr/>
          <p:nvPr/>
        </p:nvGrpSpPr>
        <p:grpSpPr>
          <a:xfrm>
            <a:off x="2086981" y="8156575"/>
            <a:ext cx="788682" cy="78868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14478" y="5427068"/>
            <a:ext cx="788682" cy="7886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14478" y="6337085"/>
            <a:ext cx="788682" cy="78868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114478" y="7247103"/>
            <a:ext cx="788682" cy="788682"/>
            <a:chOff x="0" y="0"/>
            <a:chExt cx="812800" cy="812800"/>
          </a:xfrm>
        </p:grpSpPr>
        <p:sp>
          <p:nvSpPr>
            <p:cNvPr id="37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9" name="Group 19"/>
          <p:cNvGrpSpPr/>
          <p:nvPr/>
        </p:nvGrpSpPr>
        <p:grpSpPr>
          <a:xfrm>
            <a:off x="10114478" y="8156575"/>
            <a:ext cx="788682" cy="78868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14490" y="2591082"/>
            <a:ext cx="7684303" cy="105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00572" y="5211804"/>
            <a:ext cx="6515928" cy="360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69"/>
              </a:lnSpc>
            </a:pP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지원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로직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ko-KR" alt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로직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ko-KR" alt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로직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전술 명령 · 예외 · 캐릭터 설정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226825" y="5211804"/>
            <a:ext cx="4875777" cy="27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69"/>
              </a:lnSpc>
            </a:pP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범위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확장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계획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BT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전체</a:t>
            </a: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구성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just">
              <a:lnSpc>
                <a:spcPts val="7269"/>
              </a:lnSpc>
            </a:pPr>
            <a:r>
              <a:rPr lang="en-US" sz="3202" spc="-14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· </a:t>
            </a:r>
            <a:r>
              <a:rPr lang="en-US" sz="3202" spc="-14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블랙보드</a:t>
            </a:r>
            <a:endParaRPr lang="en-US" sz="3202" spc="-144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2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7621" y="5605509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 dirty="0">
                <a:solidFill>
                  <a:srgbClr val="000000"/>
                </a:solidFill>
                <a:latin typeface="Noto Sans KR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7621" y="6515526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7621" y="7425544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7621" y="8335016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5119" y="5605509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5119" y="6515526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5119" y="7425544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5119" y="8335016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>
                <a:solidFill>
                  <a:srgbClr val="000000"/>
                </a:solidFill>
                <a:latin typeface="Noto Sans KR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416557" y="461972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49440" y="2089491"/>
            <a:ext cx="538085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 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44341" y="1580270"/>
            <a:ext cx="6211481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2999" b="1" spc="-239" dirty="0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1.  </a:t>
            </a:r>
            <a:r>
              <a:rPr lang="en-US" sz="2999" b="1" spc="-239" dirty="0" err="1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설계</a:t>
            </a:r>
            <a:r>
              <a:rPr lang="en-US" sz="2999" b="1" spc="-239" dirty="0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 </a:t>
            </a:r>
            <a:r>
              <a:rPr lang="en-US" sz="2999" b="1" spc="-239" dirty="0" err="1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배경</a:t>
            </a:r>
            <a:endParaRPr lang="en-US" sz="2999" b="1" spc="-239" dirty="0">
              <a:solidFill>
                <a:srgbClr val="FFFFFF"/>
              </a:solidFill>
              <a:latin typeface="NanumGothic"/>
              <a:ea typeface="NanumGothic"/>
              <a:cs typeface="NanumGothic"/>
              <a:sym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44341" y="2166341"/>
            <a:ext cx="10414959" cy="175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고난도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액션의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진입장벽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완화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플레이어가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실수해도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AI가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보완해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도전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의욕을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꺾지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않는다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동행자의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정체성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전투 중 합을 맞추는 동료로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느끼게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해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내러티브와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시스템을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일치시킨다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44341" y="5127557"/>
            <a:ext cx="675990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2999" b="1" spc="-239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2.  설계 목표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44341" y="5699056"/>
            <a:ext cx="10414959" cy="2369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신뢰할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수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있는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생존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지원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사망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시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즉각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부활을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1순위로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수행해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AI에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대한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신뢰도를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확보한다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  <a:p>
            <a:pPr marL="431801" lvl="1" indent="-215900" algn="just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캐릭터별 개성 분화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/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/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/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/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공격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거리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·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가드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빈도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·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스킬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타이밍을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달리해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파트너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선택에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전략성을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만든다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  <a:p>
            <a:pPr marL="431801" lvl="1" indent="-215900" algn="just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최적화된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연산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구조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다수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전투에서도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프레임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드랍이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없도록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판단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주기를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분리한다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3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EA4475D8-F490-7E1B-25E9-39C2334A5B5B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0CA0E65-A37E-1DB3-D7BD-F32C7E8131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1586D475-39AB-C3E2-890D-371844B4221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375C939-B9CC-BDC3-A9F9-049961CF39BF}"/>
              </a:ext>
            </a:extLst>
          </p:cNvPr>
          <p:cNvSpPr txBox="1"/>
          <p:nvPr/>
        </p:nvSpPr>
        <p:spPr>
          <a:xfrm>
            <a:off x="228600" y="305570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 dirty="0">
                <a:solidFill>
                  <a:srgbClr val="000000"/>
                </a:solidFill>
                <a:latin typeface="Noto Sans KR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416557" y="461972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49440" y="2089491"/>
            <a:ext cx="538085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 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44341" y="1580270"/>
            <a:ext cx="6211481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3. 핵심 메커니즘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5766" y="2466954"/>
            <a:ext cx="10414959" cy="52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latin typeface="Noto Sans KR"/>
              </a:rPr>
              <a:t>상위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조건이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충족되면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하위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로직을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즉시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중단하고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전환한다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5766" y="5457825"/>
            <a:ext cx="10414959" cy="113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latin typeface="Noto Sans KR"/>
              </a:rPr>
              <a:t>판단에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필요한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모든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값을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한곳에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모은다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플레이어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HP,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적과의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거리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자신의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명혈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등.</a:t>
            </a:r>
          </a:p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latin typeface="Noto Sans KR"/>
              </a:rPr>
              <a:t>변화값만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읽어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판단한다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매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프레임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전체를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계산하지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않아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CPU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부하가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낮다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15766" y="7966075"/>
            <a:ext cx="10414959" cy="113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latin typeface="Noto Sans KR"/>
              </a:rPr>
              <a:t>평타로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명혈을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모으고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,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일정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수치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이상일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때만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연혈을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쓴다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자원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관리형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로직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latin typeface="Noto Sans KR"/>
              </a:rPr>
              <a:t>행동에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개연성이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Noto Sans KR"/>
              </a:rPr>
              <a:t>생기고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전투에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리듬감이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>만들어진다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4341" y="2155804"/>
            <a:ext cx="10414959" cy="3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①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우선순위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기반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행동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선택</a:t>
            </a:r>
            <a:endParaRPr lang="en-US" sz="2000" b="1" dirty="0">
              <a:solidFill>
                <a:srgbClr val="FFFFFF"/>
              </a:solidFill>
              <a:highlight>
                <a:srgbClr val="808080"/>
              </a:highlight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44341" y="5146675"/>
            <a:ext cx="10414959" cy="3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②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블랙보드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기반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데이터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공유</a:t>
            </a:r>
            <a:endParaRPr lang="en-US" sz="2000" b="1" dirty="0">
              <a:solidFill>
                <a:srgbClr val="FFFFFF"/>
              </a:solidFill>
              <a:highlight>
                <a:srgbClr val="808080"/>
              </a:highlight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844341" y="7654925"/>
            <a:ext cx="10414959" cy="33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③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자원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관리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기반의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전투</a:t>
            </a:r>
            <a:r>
              <a:rPr lang="en-US"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사이클</a:t>
            </a:r>
            <a:endParaRPr lang="en-US" sz="2000" b="1" dirty="0">
              <a:solidFill>
                <a:srgbClr val="FFFFFF"/>
              </a:solidFill>
              <a:highlight>
                <a:srgbClr val="808080"/>
              </a:highlight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12616" y="3178506"/>
            <a:ext cx="10414959" cy="139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생명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지원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(Urgent) :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사망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시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부활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힐링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중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어그로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탈취</a:t>
            </a:r>
            <a:endParaRPr lang="en-US" sz="150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전술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명령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(Command) :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커맨드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휠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입력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시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해당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명령을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최우선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수행</a:t>
            </a:r>
            <a:endParaRPr lang="en-US" sz="150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전투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수행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(Combat) :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적이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있을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때만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활성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.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명혈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상태에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따라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평타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/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연혈</a:t>
            </a:r>
            <a:endParaRPr lang="en-US" sz="150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동행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·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탐험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(Follow) :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조건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없는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최종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폴백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.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추적과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위치</a:t>
            </a:r>
            <a:r>
              <a:rPr lang="en-US" sz="15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Gothic"/>
                <a:sym typeface="NanumGothic"/>
              </a:rPr>
              <a:t>선정</a:t>
            </a:r>
            <a:endParaRPr lang="en-US" sz="150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anumGothic"/>
              <a:sym typeface="Nanum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4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C376887-A423-770C-1A18-54954B073A23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A332D23-5ACE-B6AE-607F-0524FE97BE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E0267CCD-8945-F901-7EE7-D1B2D6C78E7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F9C9CBA-0412-7BCF-6449-7170D8E98AA8}"/>
              </a:ext>
            </a:extLst>
          </p:cNvPr>
          <p:cNvSpPr txBox="1"/>
          <p:nvPr/>
        </p:nvSpPr>
        <p:spPr>
          <a:xfrm>
            <a:off x="228600" y="305570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 dirty="0">
                <a:solidFill>
                  <a:srgbClr val="000000"/>
                </a:solidFill>
                <a:latin typeface="Noto Sans KR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416557" y="461972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49440" y="2089491"/>
            <a:ext cx="538085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 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44341" y="1580270"/>
            <a:ext cx="6211481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2999" b="1" spc="-239">
                <a:solidFill>
                  <a:srgbClr val="FFFFFF"/>
                </a:solidFill>
                <a:latin typeface="NanumGothic"/>
                <a:ea typeface="NanumGothic"/>
                <a:cs typeface="NanumGothic"/>
                <a:sym typeface="NanumGothic"/>
              </a:rPr>
              <a:t>4.  구현 및 확장 전략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44341" y="2166341"/>
            <a:ext cx="10554659" cy="1754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모듈러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서브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트리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BT 자산은 하나만 유지한다. 트리를 캐릭터별로 복제하지 않고 데이터 테이블의 수치만 주입한다.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</a:p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동행자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추가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비용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[동행자 AI 파라미터] 시트에 행 하나를 더하는 것으로 끝난다.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</a:p>
          <a:p>
            <a:pPr marL="431801" lvl="1" indent="-215900" algn="l">
              <a:lnSpc>
                <a:spcPct val="200000"/>
              </a:lnSpc>
              <a:buFont typeface="Arial"/>
              <a:buChar char="•"/>
            </a:pP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상황별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업데이트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 err="1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빈도</a:t>
            </a:r>
            <a:r>
              <a:rPr sz="2000" b="1" dirty="0">
                <a:solidFill>
                  <a:srgbClr val="FFFFFF"/>
                </a:solidFill>
                <a:highlight>
                  <a:srgbClr val="808080"/>
                </a:highlight>
                <a:latin typeface="Noto Sans KR"/>
              </a:rPr>
              <a:t> </a:t>
            </a:r>
            <a:r>
              <a:rPr sz="2000" b="1" dirty="0">
                <a:solidFill>
                  <a:srgbClr val="FFFFFF"/>
                </a:solidFill>
                <a:latin typeface="Noto Sans KR"/>
              </a:rPr>
              <a:t> : </a:t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>Combat 0.1초 · Follow 0.5초로 서비스 틱을 분리하고, 다수 동시 운용 시 랜덤 편차(±0.05s)로 틱을 분산한다.</a:t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 err="1">
                <a:solidFill>
                  <a:srgbClr val="FFFFFF"/>
                </a:solidFill>
                <a:latin typeface="Noto Sans KR"/>
              </a:rPr>
              <a:t/>
            </a:r>
            <a:r>
              <a:rPr sz="2000" b="0" dirty="0">
                <a:solidFill>
                  <a:srgbClr val="FFFFFF"/>
                </a:solidFill>
                <a:latin typeface="Noto Sans K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5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2F4E1185-7543-8C0F-3C31-B4F40957F017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355ECBD-04A7-AED8-8E7E-36ADDDA8A4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F9D51698-096E-A6E4-8EEC-DC032EA647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89DF75F-2F94-B9CF-1B89-642B09FBA621}"/>
              </a:ext>
            </a:extLst>
          </p:cNvPr>
          <p:cNvSpPr txBox="1"/>
          <p:nvPr/>
        </p:nvSpPr>
        <p:spPr>
          <a:xfrm>
            <a:off x="228600" y="305570"/>
            <a:ext cx="78740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725" b="1" dirty="0">
                <a:solidFill>
                  <a:srgbClr val="000000"/>
                </a:solidFill>
                <a:latin typeface="Noto Sans KR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1_설계범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6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D939C5-6406-2E42-71DD-4242F87C8341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397D1D-BE95-2645-DA22-AA52AC6FDD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8A0B8A-260C-70ED-AB20-B78669C51BF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DDC29A5-38E2-235C-383B-3D2EAECA9577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2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8638343" y="2060795"/>
            <a:ext cx="1011314" cy="824776"/>
            <a:chOff x="0" y="-28575"/>
            <a:chExt cx="266354" cy="217225"/>
          </a:xfrm>
        </p:grpSpPr>
        <p:sp>
          <p:nvSpPr>
            <p:cNvPr id="4" name="Freeform 4"/>
            <p:cNvSpPr/>
            <p:nvPr/>
          </p:nvSpPr>
          <p:spPr>
            <a:xfrm>
              <a:off x="0" y="-9603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2800" cy="3566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94919" y="3732560"/>
            <a:ext cx="2843858" cy="1027589"/>
            <a:chOff x="-14302" y="-36328"/>
            <a:chExt cx="749000" cy="2706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14302" y="-36328"/>
              <a:ext cx="749000" cy="2706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9098281" y="2867200"/>
            <a:ext cx="45719" cy="443579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2529903" y="5676264"/>
            <a:ext cx="3086100" cy="1143220"/>
            <a:chOff x="0" y="0"/>
            <a:chExt cx="812800" cy="3010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[생명 지원]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Urgent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47623" y="5650525"/>
            <a:ext cx="3086100" cy="1143220"/>
            <a:chOff x="0" y="0"/>
            <a:chExt cx="812800" cy="3010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전투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수행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Combat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51471" y="5650525"/>
            <a:ext cx="3086100" cy="1143220"/>
            <a:chOff x="0" y="0"/>
            <a:chExt cx="812800" cy="3010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탐험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Follow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H="1">
            <a:off x="5574156" y="4519015"/>
            <a:ext cx="2073467" cy="1199096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659097" y="4498286"/>
            <a:ext cx="1792544" cy="129795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144000" y="4556256"/>
            <a:ext cx="0" cy="109427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26" name="Group 26"/>
          <p:cNvGrpSpPr/>
          <p:nvPr/>
        </p:nvGrpSpPr>
        <p:grpSpPr>
          <a:xfrm>
            <a:off x="12153900" y="1841500"/>
            <a:ext cx="5105400" cy="3454400"/>
            <a:chOff x="0" y="0"/>
            <a:chExt cx="1344632" cy="8050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44632" cy="805078"/>
            </a:xfrm>
            <a:custGeom>
              <a:avLst/>
              <a:gdLst/>
              <a:ahLst/>
              <a:cxnLst/>
              <a:rect l="l" t="t" r="r" b="b"/>
              <a:pathLst>
                <a:path w="1344632" h="805078">
                  <a:moveTo>
                    <a:pt x="0" y="0"/>
                  </a:moveTo>
                  <a:lnTo>
                    <a:pt x="1344632" y="0"/>
                  </a:lnTo>
                  <a:lnTo>
                    <a:pt x="1344632" y="805078"/>
                  </a:lnTo>
                  <a:lnTo>
                    <a:pt x="0" y="805078"/>
                  </a:lnTo>
                  <a:close/>
                </a:path>
              </a:pathLst>
            </a:custGeom>
            <a:ln w="38100" cap="sq">
              <a:solidFill>
                <a:srgbClr val="D9D9D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344632" cy="83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BT 전체 구성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89398" y="7372984"/>
            <a:ext cx="1167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부활 · 도발,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회복 · 가드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0883" y="8231942"/>
            <a:ext cx="168413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전투보다 생존이 우선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66673" y="8060492"/>
            <a:ext cx="304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데코레이터 : TargetEnemy Is Set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24521" y="8206203"/>
            <a:ext cx="254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없음 · 최종 폴백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8518" y="7201534"/>
            <a:ext cx="16243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명혈·스태미나,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연혈 · 가드 · 평타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59707" y="7156745"/>
            <a:ext cx="226962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 추적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사선후방 2m, 7m 초과 워프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2451641" y="2179472"/>
            <a:ext cx="271410" cy="0"/>
          </a:xfrm>
          <a:prstGeom prst="line">
            <a:avLst/>
          </a:prstGeom>
          <a:ln w="66675" cap="rnd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5" name="AutoShape 36"/>
          <p:cNvSpPr/>
          <p:nvPr/>
        </p:nvSpPr>
        <p:spPr>
          <a:xfrm>
            <a:off x="12451641" y="5118100"/>
            <a:ext cx="271410" cy="0"/>
          </a:xfrm>
          <a:prstGeom prst="line">
            <a:avLst/>
          </a:prstGeom>
          <a:ln w="66675" cap="rnd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6" name="AutoShape 36"/>
          <p:cNvSpPr/>
          <p:nvPr/>
        </p:nvSpPr>
        <p:spPr>
          <a:xfrm>
            <a:off x="12451641" y="4851400"/>
            <a:ext cx="271410" cy="0"/>
          </a:xfrm>
          <a:prstGeom prst="line">
            <a:avLst/>
          </a:prstGeom>
          <a:ln w="66675" cap="rnd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7" name="AutoShape 36"/>
          <p:cNvSpPr/>
          <p:nvPr/>
        </p:nvSpPr>
        <p:spPr>
          <a:xfrm>
            <a:off x="12451641" y="4584700"/>
            <a:ext cx="271410" cy="0"/>
          </a:xfrm>
          <a:prstGeom prst="line">
            <a:avLst/>
          </a:prstGeom>
          <a:ln w="66675" cap="rnd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2451641" y="2451231"/>
            <a:ext cx="271410" cy="0"/>
          </a:xfrm>
          <a:prstGeom prst="line">
            <a:avLst/>
          </a:prstGeom>
          <a:ln w="66675" cap="rnd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2451641" y="2803656"/>
            <a:ext cx="271410" cy="0"/>
          </a:xfrm>
          <a:prstGeom prst="line">
            <a:avLst/>
          </a:prstGeom>
          <a:ln w="66675" cap="rnd">
            <a:solidFill>
              <a:srgbClr val="C1FF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12451641" y="3079881"/>
            <a:ext cx="271410" cy="0"/>
          </a:xfrm>
          <a:prstGeom prst="line">
            <a:avLst/>
          </a:prstGeom>
          <a:ln w="66675" cap="rnd">
            <a:solidFill>
              <a:srgbClr val="C1FF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12451641" y="3356106"/>
            <a:ext cx="271410" cy="0"/>
          </a:xfrm>
          <a:prstGeom prst="line">
            <a:avLst/>
          </a:prstGeom>
          <a:ln w="66675" cap="rnd">
            <a:solidFill>
              <a:srgbClr val="C1FF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12451641" y="3708531"/>
            <a:ext cx="271410" cy="0"/>
          </a:xfrm>
          <a:prstGeom prst="line">
            <a:avLst/>
          </a:prstGeom>
          <a:ln w="66675" cap="rnd">
            <a:solidFill>
              <a:srgbClr val="C1FF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2451641" y="3984604"/>
            <a:ext cx="271410" cy="0"/>
          </a:xfrm>
          <a:prstGeom prst="line">
            <a:avLst/>
          </a:prstGeom>
          <a:ln w="66675" cap="rnd">
            <a:solidFill>
              <a:srgbClr val="C1FF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2451641" y="4339972"/>
            <a:ext cx="271410" cy="0"/>
          </a:xfrm>
          <a:prstGeom prst="line">
            <a:avLst/>
          </a:prstGeom>
          <a:ln w="66675" cap="rnd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12825484" y="2036597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TargetEnemy (Object - Actor)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825484" y="2308356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PlayerActor (Object - Actor)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825484" y="2660781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CompanionHP (Float)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825484" y="2937006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PlayerHP (Float)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825484" y="3213231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Ichor (Float)</a:t>
            </a:r>
          </a:p>
        </p:txBody>
      </p:sp>
      <p:sp>
        <p:nvSpPr>
          <p:cNvPr id="58" name="TextBox 48"/>
          <p:cNvSpPr txBox="1"/>
          <p:nvPr/>
        </p:nvSpPr>
        <p:spPr>
          <a:xfrm>
            <a:off x="12825484" y="5003800"/>
            <a:ext cx="2903621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AIParamRow (RowHandle)</a:t>
            </a:r>
          </a:p>
        </p:txBody>
      </p:sp>
      <p:sp>
        <p:nvSpPr>
          <p:cNvPr id="59" name="TextBox 48"/>
          <p:cNvSpPr txBox="1"/>
          <p:nvPr/>
        </p:nvSpPr>
        <p:spPr>
          <a:xfrm>
            <a:off x="12825484" y="4737100"/>
            <a:ext cx="2903621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PotionCount (Int)</a:t>
            </a:r>
          </a:p>
        </p:txBody>
      </p:sp>
      <p:sp>
        <p:nvSpPr>
          <p:cNvPr id="60" name="TextBox 48"/>
          <p:cNvSpPr txBox="1"/>
          <p:nvPr/>
        </p:nvSpPr>
        <p:spPr>
          <a:xfrm>
            <a:off x="12825484" y="4470400"/>
            <a:ext cx="2903621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ReviveCD (Float)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25484" y="3565656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DistanceToPlayer (Float)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25484" y="3841729"/>
            <a:ext cx="290362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DistanceToEnemy (Float)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25484" y="4197097"/>
            <a:ext cx="3844385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CommandState (Enum)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02023" y="3904942"/>
            <a:ext cx="11049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스태미나 재생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업데이트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946978" y="1397000"/>
            <a:ext cx="171077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Blackboard 주요 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7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69" name="Group 4">
            <a:extLst>
              <a:ext uri="{FF2B5EF4-FFF2-40B4-BE49-F238E27FC236}">
                <a16:creationId xmlns:a16="http://schemas.microsoft.com/office/drawing/2014/main" id="{E407BC1C-1670-FF15-5647-62B41F444854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CEB2F163-446E-2B58-24AC-D31196D800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1" name="TextBox 6">
              <a:extLst>
                <a:ext uri="{FF2B5EF4-FFF2-40B4-BE49-F238E27FC236}">
                  <a16:creationId xmlns:a16="http://schemas.microsoft.com/office/drawing/2014/main" id="{63A494AE-6AF7-DF9E-0C8A-D4E3EE4394D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D9C23D4-C7ED-61EC-B5E3-5A3EA471F0FA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3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5_우선순위근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8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01D40E-B404-0614-DB68-97C9A134949B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47D844C-97B4-298C-EC56-DC7F34A4C3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949B55-136B-4D15-367D-FEFE140D27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0AECA1-20D6-94D3-BCBF-92B2AE3A21C9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3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2_블랙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9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A99013-5FBC-8062-9115-3A44C062FA87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2BDDDDB-DE37-B77B-901F-13C6F2C1CA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BB797A-DA63-E2E8-5245-D41C90F60D2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678002-6E23-D974-52D2-4E7776A48B90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4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8638343" y="2095500"/>
            <a:ext cx="1011314" cy="716280"/>
            <a:chOff x="0" y="0"/>
            <a:chExt cx="266354" cy="188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2800" cy="3566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749222" y="3870493"/>
            <a:ext cx="2789555" cy="609223"/>
          </a:xfrm>
          <a:custGeom>
            <a:avLst/>
            <a:gdLst/>
            <a:ahLst/>
            <a:cxnLst/>
            <a:rect l="l" t="t" r="r" b="b"/>
            <a:pathLst>
              <a:path w="734698" h="160454">
                <a:moveTo>
                  <a:pt x="27753" y="0"/>
                </a:moveTo>
                <a:lnTo>
                  <a:pt x="706944" y="0"/>
                </a:lnTo>
                <a:cubicBezTo>
                  <a:pt x="722272" y="0"/>
                  <a:pt x="734698" y="12426"/>
                  <a:pt x="734698" y="27753"/>
                </a:cubicBezTo>
                <a:lnTo>
                  <a:pt x="734698" y="132700"/>
                </a:lnTo>
                <a:cubicBezTo>
                  <a:pt x="734698" y="140061"/>
                  <a:pt x="731774" y="147120"/>
                  <a:pt x="726569" y="152325"/>
                </a:cubicBezTo>
                <a:cubicBezTo>
                  <a:pt x="721364" y="157530"/>
                  <a:pt x="714305" y="160454"/>
                  <a:pt x="706944" y="160454"/>
                </a:cubicBezTo>
                <a:lnTo>
                  <a:pt x="27753" y="160454"/>
                </a:lnTo>
                <a:cubicBezTo>
                  <a:pt x="20393" y="160454"/>
                  <a:pt x="13333" y="157530"/>
                  <a:pt x="8129" y="152325"/>
                </a:cubicBezTo>
                <a:cubicBezTo>
                  <a:pt x="2924" y="147120"/>
                  <a:pt x="0" y="140061"/>
                  <a:pt x="0" y="132700"/>
                </a:cubicBezTo>
                <a:lnTo>
                  <a:pt x="0" y="27753"/>
                </a:lnTo>
                <a:cubicBezTo>
                  <a:pt x="0" y="20393"/>
                  <a:pt x="2924" y="13333"/>
                  <a:pt x="8129" y="8129"/>
                </a:cubicBezTo>
                <a:cubicBezTo>
                  <a:pt x="13333" y="2924"/>
                  <a:pt x="20393" y="0"/>
                  <a:pt x="27753" y="0"/>
                </a:cubicBezTo>
                <a:close/>
              </a:path>
            </a:pathLst>
          </a:custGeom>
          <a:solidFill>
            <a:srgbClr val="00BF63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" name="Freeform 12"/>
          <p:cNvSpPr/>
          <p:nvPr/>
        </p:nvSpPr>
        <p:spPr>
          <a:xfrm flipH="1">
            <a:off x="9098281" y="2841793"/>
            <a:ext cx="45719" cy="468986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2529903" y="5104654"/>
            <a:ext cx="3086100" cy="1143220"/>
            <a:chOff x="0" y="0"/>
            <a:chExt cx="812800" cy="3010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[생명 지원]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Urgent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00950" y="5104654"/>
            <a:ext cx="3086100" cy="1143220"/>
            <a:chOff x="0" y="0"/>
            <a:chExt cx="812800" cy="3010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[동행/탐험]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Follow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17248" y="5104654"/>
            <a:ext cx="3086100" cy="1143220"/>
            <a:chOff x="0" y="0"/>
            <a:chExt cx="812800" cy="3010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[전투 수행]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Combat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H="1">
            <a:off x="5574156" y="4519015"/>
            <a:ext cx="2073467" cy="627486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9144000" y="4830455"/>
            <a:ext cx="0" cy="274199"/>
          </a:xfrm>
          <a:custGeom>
            <a:avLst/>
            <a:gdLst/>
            <a:ahLst/>
            <a:cxnLst/>
            <a:rect l="l" t="t" r="r" b="b"/>
            <a:pathLst>
              <a:path h="274199">
                <a:moveTo>
                  <a:pt x="0" y="0"/>
                </a:moveTo>
                <a:lnTo>
                  <a:pt x="0" y="274199"/>
                </a:lnTo>
              </a:path>
            </a:pathLst>
          </a:cu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670750" y="4479716"/>
            <a:ext cx="1780891" cy="67483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26" name="Group 26"/>
          <p:cNvGrpSpPr/>
          <p:nvPr/>
        </p:nvGrpSpPr>
        <p:grpSpPr>
          <a:xfrm>
            <a:off x="11586320" y="2038459"/>
            <a:ext cx="5672980" cy="2791995"/>
            <a:chOff x="0" y="0"/>
            <a:chExt cx="1494118" cy="6811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94118" cy="681191"/>
            </a:xfrm>
            <a:custGeom>
              <a:avLst/>
              <a:gdLst/>
              <a:ahLst/>
              <a:cxnLst/>
              <a:rect l="l" t="t" r="r" b="b"/>
              <a:pathLst>
                <a:path w="1494118" h="681191">
                  <a:moveTo>
                    <a:pt x="0" y="0"/>
                  </a:moveTo>
                  <a:lnTo>
                    <a:pt x="1494118" y="0"/>
                  </a:lnTo>
                  <a:lnTo>
                    <a:pt x="1494118" y="681191"/>
                  </a:lnTo>
                  <a:lnTo>
                    <a:pt x="0" y="681191"/>
                  </a:lnTo>
                  <a:close/>
                </a:path>
              </a:pathLst>
            </a:custGeom>
            <a:ln w="38100" cap="sq">
              <a:solidFill>
                <a:srgbClr val="D9D9D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94118" cy="709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</a:t>
            </a:r>
          </a:p>
        </p:txBody>
      </p:sp>
      <p:sp>
        <p:nvSpPr>
          <p:cNvPr id="30" name="AutoShape 30"/>
          <p:cNvSpPr/>
          <p:nvPr/>
        </p:nvSpPr>
        <p:spPr>
          <a:xfrm flipV="1">
            <a:off x="10538778" y="3331659"/>
            <a:ext cx="1047542" cy="843446"/>
          </a:xfrm>
          <a:prstGeom prst="line">
            <a:avLst/>
          </a:prstGeom>
          <a:ln w="38100" cap="flat">
            <a:solidFill>
              <a:srgbClr val="C1FF72">
                <a:alpha val="60000"/>
              </a:srgbClr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754287" y="2270256"/>
            <a:ext cx="242589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BF63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1 : Stamina Regen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54213" y="3378259"/>
            <a:ext cx="229597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2: Target Update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54213" y="3654484"/>
            <a:ext cx="437420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TargetEnemy = PlayerTarget ?? LastAttacker ?? Nearest()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DistanceToEnemy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= 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GetDistance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TargetEnemy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DistanceToPlayer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= 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GetDistance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PlayerActor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54213" y="2549584"/>
            <a:ext cx="94252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Tick : 0.1s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54287" y="2825809"/>
            <a:ext cx="53581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Logic : Stamina = Clamp(Stamina + 12*DT, 0, MaxStam)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28700" y="6370320"/>
            <a:ext cx="16350661" cy="3067682"/>
            <a:chOff x="0" y="0"/>
            <a:chExt cx="4306347" cy="80794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74726" cy="760620"/>
            </a:xfrm>
            <a:custGeom>
              <a:avLst/>
              <a:gdLst/>
              <a:ahLst/>
              <a:cxnLst/>
              <a:rect l="l" t="t" r="r" b="b"/>
              <a:pathLst>
                <a:path w="4274726" h="760620">
                  <a:moveTo>
                    <a:pt x="0" y="0"/>
                  </a:moveTo>
                  <a:lnTo>
                    <a:pt x="4274726" y="0"/>
                  </a:lnTo>
                  <a:lnTo>
                    <a:pt x="4274726" y="760620"/>
                  </a:lnTo>
                  <a:lnTo>
                    <a:pt x="0" y="760620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621" y="18754"/>
              <a:ext cx="4274726" cy="789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Service 1 : Stamina Regen  스태미나 재생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ct val="150000"/>
                </a:lnSpc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가드·회피에 쓰이는 ‘스태미나’를 자동 회복시킨다. 연혈 자원인 ‘명혈’은 재생하지 않으며 평타 +4 · 처치 +12로만 수급한다.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갱신 빈도 (Tick) : Combat 0.1초 / Follow 0.5초 (±0.05초 편차).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작동 논리 (Logic) : Stamina = Clamp(Stamina + 12*DT, 0, MaxStamina)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논리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AutoNum type="arabicPeriod"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초당 12 유닛으로 회복한다. 가드 1회 비용이 12이므로 초당 1회분이 보충된다.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AutoNum type="arabicPeriod"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상한은 100 고정이 아니라 MaxStamina를 참조한다. 명혈 상한 MaxIchor(80~140)와는 별개다.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algn="l">
                <a:lnSpc>
                  <a:spcPct val="150000"/>
                </a:lnSpc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6730227" y="381000"/>
            <a:ext cx="6687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10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44" name="Group 9">
            <a:extLst>
              <a:ext uri="{FF2B5EF4-FFF2-40B4-BE49-F238E27FC236}">
                <a16:creationId xmlns:a16="http://schemas.microsoft.com/office/drawing/2014/main" id="{B2269D36-6358-2EEB-2EC5-BE4C0E0CD230}"/>
              </a:ext>
            </a:extLst>
          </p:cNvPr>
          <p:cNvGrpSpPr/>
          <p:nvPr/>
        </p:nvGrpSpPr>
        <p:grpSpPr>
          <a:xfrm>
            <a:off x="7749222" y="3869548"/>
            <a:ext cx="2808399" cy="771122"/>
            <a:chOff x="0" y="-249"/>
            <a:chExt cx="739661" cy="203094"/>
          </a:xfrm>
        </p:grpSpPr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2A583A40-3A5A-BC1E-C878-02FEA516E55F}"/>
                </a:ext>
              </a:extLst>
            </p:cNvPr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46" name="TextBox 11">
              <a:extLst>
                <a:ext uri="{FF2B5EF4-FFF2-40B4-BE49-F238E27FC236}">
                  <a16:creationId xmlns:a16="http://schemas.microsoft.com/office/drawing/2014/main" id="{4B798F69-6BE0-1B46-7EB7-CA6C4193072B}"/>
                </a:ext>
              </a:extLst>
            </p:cNvPr>
            <p:cNvSpPr txBox="1"/>
            <p:nvPr/>
          </p:nvSpPr>
          <p:spPr>
            <a:xfrm>
              <a:off x="0" y="-249"/>
              <a:ext cx="739661" cy="203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461E94D1-F83A-0976-F1B0-69C65C2E53F9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5CDA86D-F761-A40A-63EE-5CCB501EF7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BF62C7-4026-2BD0-F3A6-9DA55B0F3B8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2CE4C76-32FD-B692-7D94-CF69FED5ECCB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4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2800" cy="3566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49222" y="3869548"/>
            <a:ext cx="2808399" cy="771122"/>
            <a:chOff x="0" y="-249"/>
            <a:chExt cx="739661" cy="2030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49"/>
              <a:ext cx="739661" cy="203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2529903" y="5104654"/>
            <a:ext cx="3086100" cy="1143220"/>
            <a:chOff x="0" y="0"/>
            <a:chExt cx="812800" cy="3010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[생명 지원]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Urgent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00950" y="5104654"/>
            <a:ext cx="3086100" cy="1143220"/>
            <a:chOff x="0" y="0"/>
            <a:chExt cx="812800" cy="3010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[동행/탐험]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Follow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17248" y="5104654"/>
            <a:ext cx="3086100" cy="1143220"/>
            <a:chOff x="0" y="0"/>
            <a:chExt cx="812800" cy="3010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[전투 수행]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Combat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H="1">
            <a:off x="5574156" y="4519015"/>
            <a:ext cx="2073467" cy="627486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9144000" y="4830455"/>
            <a:ext cx="0" cy="274199"/>
          </a:xfrm>
          <a:custGeom>
            <a:avLst/>
            <a:gdLst/>
            <a:ahLst/>
            <a:cxnLst/>
            <a:rect l="l" t="t" r="r" b="b"/>
            <a:pathLst>
              <a:path h="274199">
                <a:moveTo>
                  <a:pt x="0" y="0"/>
                </a:moveTo>
                <a:lnTo>
                  <a:pt x="0" y="274199"/>
                </a:lnTo>
              </a:path>
            </a:pathLst>
          </a:cu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670750" y="4479716"/>
            <a:ext cx="1780891" cy="67483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26" name="Group 26"/>
          <p:cNvGrpSpPr/>
          <p:nvPr/>
        </p:nvGrpSpPr>
        <p:grpSpPr>
          <a:xfrm>
            <a:off x="11586320" y="2038459"/>
            <a:ext cx="5672980" cy="2791995"/>
            <a:chOff x="0" y="0"/>
            <a:chExt cx="1494118" cy="6811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94118" cy="681191"/>
            </a:xfrm>
            <a:custGeom>
              <a:avLst/>
              <a:gdLst/>
              <a:ahLst/>
              <a:cxnLst/>
              <a:rect l="l" t="t" r="r" b="b"/>
              <a:pathLst>
                <a:path w="1494118" h="681191">
                  <a:moveTo>
                    <a:pt x="0" y="0"/>
                  </a:moveTo>
                  <a:lnTo>
                    <a:pt x="1494118" y="0"/>
                  </a:lnTo>
                  <a:lnTo>
                    <a:pt x="1494118" y="681191"/>
                  </a:lnTo>
                  <a:lnTo>
                    <a:pt x="0" y="681191"/>
                  </a:lnTo>
                  <a:close/>
                </a:path>
              </a:pathLst>
            </a:custGeom>
            <a:ln w="38100" cap="sq">
              <a:solidFill>
                <a:srgbClr val="D9D9D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94118" cy="709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</a:t>
            </a:r>
          </a:p>
        </p:txBody>
      </p:sp>
      <p:sp>
        <p:nvSpPr>
          <p:cNvPr id="30" name="AutoShape 30"/>
          <p:cNvSpPr/>
          <p:nvPr/>
        </p:nvSpPr>
        <p:spPr>
          <a:xfrm flipV="1">
            <a:off x="10538778" y="3331659"/>
            <a:ext cx="1047542" cy="843446"/>
          </a:xfrm>
          <a:prstGeom prst="line">
            <a:avLst/>
          </a:prstGeom>
          <a:ln w="38100" cap="flat">
            <a:solidFill>
              <a:srgbClr val="C1FF72">
                <a:alpha val="60000"/>
              </a:srgbClr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754287" y="2270256"/>
            <a:ext cx="242589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1 : Stamina Regen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54213" y="3378259"/>
            <a:ext cx="229597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BF63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2: Target Update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54213" y="3654484"/>
            <a:ext cx="437420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TargetEnemy = PlayerTarget ?? LastAttacker ?? Nearest()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DistanceToEnemy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= 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GetDistance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TargetEnemy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DistanceToPlayer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= 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GetDistance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PlayerActor</a:t>
            </a: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54213" y="2549584"/>
            <a:ext cx="94252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Tick : 0.1s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54287" y="2825809"/>
            <a:ext cx="53581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Logic : Stamina = Clamp(Stamina + 12*DT, 0, MaxStam)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28700" y="5570220"/>
            <a:ext cx="16341723" cy="3848521"/>
            <a:chOff x="0" y="0"/>
            <a:chExt cx="4303993" cy="101360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74726" cy="971346"/>
            </a:xfrm>
            <a:custGeom>
              <a:avLst/>
              <a:gdLst/>
              <a:ahLst/>
              <a:cxnLst/>
              <a:rect l="l" t="t" r="r" b="b"/>
              <a:pathLst>
                <a:path w="4274726" h="971346">
                  <a:moveTo>
                    <a:pt x="0" y="0"/>
                  </a:moveTo>
                  <a:lnTo>
                    <a:pt x="4274726" y="0"/>
                  </a:lnTo>
                  <a:lnTo>
                    <a:pt x="4274726" y="971346"/>
                  </a:lnTo>
                  <a:lnTo>
                    <a:pt x="0" y="971346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267" y="13681"/>
              <a:ext cx="4274726" cy="999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Service 2 : Target Update (타겟 및 거리 정보 업데이트)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algn="l">
                <a:lnSpc>
                  <a:spcPct val="150000"/>
                </a:lnSpc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AI가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주변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상황을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인식하고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우선순위에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맞는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지원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추적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공격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)을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선택하기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위한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가장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기초적인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환경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데이터를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업데이트한다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작동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논리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(Logic): (3단계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논리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</a:t>
              </a:r>
            </a:p>
            <a:p>
              <a:pPr marL="647700" lvl="2" indent="-215900" algn="l">
                <a:lnSpc>
                  <a:spcPct val="150000"/>
                </a:lnSpc>
                <a:buAutoNum type="alphaLcPeriod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TargetEnemy = PlayerTarget ?? LastAttacker ?? Nearest()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971550" lvl="3" indent="-242888" algn="l">
                <a:lnSpc>
                  <a:spcPct val="150000"/>
                </a:lnSpc>
                <a:buFont typeface="Arial"/>
                <a:buChar char="￭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설명: ① 조준 중인 적 ② 플레이어를 때린 적 ③ 반경 1200uu·시야 내 최근접 순. 셋 다 없으면 반드시 Clear한다.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647700" lvl="2" indent="-215900" algn="l">
                <a:lnSpc>
                  <a:spcPct val="150000"/>
                </a:lnSpc>
                <a:buAutoNum type="alphaLcPeriod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DistanceToEnemy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=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GetDistance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TargetEnemy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</a:t>
              </a:r>
            </a:p>
            <a:p>
              <a:pPr marL="971550" lvl="3" indent="-242888" algn="l">
                <a:lnSpc>
                  <a:spcPct val="150000"/>
                </a:lnSpc>
                <a:buFont typeface="Arial"/>
                <a:buChar char="￭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설명: TargetEnemy와의 거리를 저장한다. 사거리 체크(InRangeCheck)와 최소 사거리 이탈(MoveAway) 판정에 쓰인다.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647700" lvl="2" indent="-215900" algn="l">
                <a:lnSpc>
                  <a:spcPct val="150000"/>
                </a:lnSpc>
                <a:buAutoNum type="alphaLcPeriod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DistanceToPlayer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=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GetDistance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PlayerActor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</a:t>
              </a:r>
            </a:p>
            <a:p>
              <a:pPr marL="971550" lvl="3" indent="-242888" algn="l">
                <a:lnSpc>
                  <a:spcPct val="150000"/>
                </a:lnSpc>
                <a:buFont typeface="Arial"/>
                <a:buChar char="￭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설명: 플레이어와의 거리를 저장한다. 추종 전환(2m/7m) 판정에 쓰인다. ※ 명령 중에는 타겟 갱신을 건너뛴다.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algn="l">
                <a:lnSpc>
                  <a:spcPct val="150000"/>
                </a:lnSpc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11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3BD64610-B887-155E-F56B-7DA3D7ADA7DB}"/>
              </a:ext>
            </a:extLst>
          </p:cNvPr>
          <p:cNvGrpSpPr/>
          <p:nvPr/>
        </p:nvGrpSpPr>
        <p:grpSpPr>
          <a:xfrm>
            <a:off x="8638343" y="2095500"/>
            <a:ext cx="1011314" cy="716280"/>
            <a:chOff x="0" y="0"/>
            <a:chExt cx="266354" cy="18865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C12E6D74-9851-007D-1404-8D41EB7E34E7}"/>
                </a:ext>
              </a:extLst>
            </p:cNvPr>
            <p:cNvSpPr/>
            <p:nvPr/>
          </p:nvSpPr>
          <p:spPr>
            <a:xfrm>
              <a:off x="0" y="0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5643E6B8-94A0-4E28-6FB4-3CB021375980}"/>
                </a:ext>
              </a:extLst>
            </p:cNvPr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sp>
        <p:nvSpPr>
          <p:cNvPr id="43" name="Freeform 12">
            <a:extLst>
              <a:ext uri="{FF2B5EF4-FFF2-40B4-BE49-F238E27FC236}">
                <a16:creationId xmlns:a16="http://schemas.microsoft.com/office/drawing/2014/main" id="{B839F684-CFCB-CE67-FEE1-DA6DC13E3389}"/>
              </a:ext>
            </a:extLst>
          </p:cNvPr>
          <p:cNvSpPr/>
          <p:nvPr/>
        </p:nvSpPr>
        <p:spPr>
          <a:xfrm flipH="1">
            <a:off x="9098281" y="2841793"/>
            <a:ext cx="45719" cy="468986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2A2DFB8-089E-27EA-B194-61AFD887D688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1908C48-7F23-A3F5-5089-DB229E9117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43CFAC-D7B3-555D-A51C-D0D1F8F83DC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FEE889F-C559-587E-187C-3A305978EC62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4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3_노드스펙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12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8A5CCC-BBC2-BF03-04C4-D7E7BD6A5344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43CFE26-1A0B-DAFE-DE58-50498906CD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8E6D77-8C0A-B685-264B-CD00BB44A61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67A2EB-6806-5A44-8FAA-528E48CEA406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4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916362" y="4827532"/>
            <a:ext cx="4313182" cy="4149571"/>
            <a:chOff x="0" y="0"/>
            <a:chExt cx="1135982" cy="10928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5982" cy="1092891"/>
            </a:xfrm>
            <a:custGeom>
              <a:avLst/>
              <a:gdLst/>
              <a:ahLst/>
              <a:cxnLst/>
              <a:rect l="l" t="t" r="r" b="b"/>
              <a:pathLst>
                <a:path w="1135982" h="1092891">
                  <a:moveTo>
                    <a:pt x="0" y="0"/>
                  </a:moveTo>
                  <a:lnTo>
                    <a:pt x="1135982" y="0"/>
                  </a:lnTo>
                  <a:lnTo>
                    <a:pt x="1135982" y="1092891"/>
                  </a:lnTo>
                  <a:lnTo>
                    <a:pt x="0" y="1092891"/>
                  </a:ln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35982" cy="1121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flipH="1">
            <a:off x="5574156" y="4514409"/>
            <a:ext cx="2068641" cy="1203703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144000" y="4556256"/>
            <a:ext cx="45719" cy="1120008"/>
          </a:xfrm>
          <a:custGeom>
            <a:avLst/>
            <a:gdLst/>
            <a:ahLst/>
            <a:cxnLst/>
            <a:rect l="l" t="t" r="r" b="b"/>
            <a:pathLst>
              <a:path h="598274">
                <a:moveTo>
                  <a:pt x="0" y="0"/>
                </a:moveTo>
                <a:lnTo>
                  <a:pt x="0" y="598274"/>
                </a:lnTo>
              </a:path>
            </a:pathLst>
          </a:cu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54572" y="4504083"/>
            <a:ext cx="1797068" cy="1222075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로직 설계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546" y="26932"/>
              <a:ext cx="773749" cy="9937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49222" y="3870493"/>
            <a:ext cx="2789555" cy="609223"/>
            <a:chOff x="0" y="0"/>
            <a:chExt cx="734698" cy="1604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>
                <a:alpha val="49804"/>
              </a:srgbClr>
            </a:solidFill>
            <a:ln w="952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54310"/>
              <a:ext cx="734698" cy="106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</a:t>
              </a: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38343" y="2169291"/>
            <a:ext cx="1011314" cy="716280"/>
            <a:chOff x="0" y="0"/>
            <a:chExt cx="266354" cy="1886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sp>
        <p:nvSpPr>
          <p:cNvPr id="35" name="Freeform 35"/>
          <p:cNvSpPr/>
          <p:nvPr/>
        </p:nvSpPr>
        <p:spPr>
          <a:xfrm flipH="1">
            <a:off x="9098281" y="2933481"/>
            <a:ext cx="45719" cy="377298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13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37" name="Group 14">
            <a:extLst>
              <a:ext uri="{FF2B5EF4-FFF2-40B4-BE49-F238E27FC236}">
                <a16:creationId xmlns:a16="http://schemas.microsoft.com/office/drawing/2014/main" id="{1A15FCB8-D055-8778-EEFF-76CF316091CC}"/>
              </a:ext>
            </a:extLst>
          </p:cNvPr>
          <p:cNvGrpSpPr/>
          <p:nvPr/>
        </p:nvGrpSpPr>
        <p:grpSpPr>
          <a:xfrm>
            <a:off x="2529903" y="5676264"/>
            <a:ext cx="3086100" cy="1143220"/>
            <a:chOff x="0" y="0"/>
            <a:chExt cx="812800" cy="301095"/>
          </a:xfrm>
        </p:grpSpPr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0277F688-457D-0EDB-8CBA-F32643665726}"/>
                </a:ext>
              </a:extLst>
            </p:cNvPr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43146D34-7DE5-A1E9-697F-43AF6870E614}"/>
                </a:ext>
              </a:extLst>
            </p:cNvPr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[생명 지원]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Urgent</a:t>
              </a:r>
            </a:p>
          </p:txBody>
        </p:sp>
      </p:grpSp>
      <p:sp>
        <p:nvSpPr>
          <p:cNvPr id="42" name="TextBox 19">
            <a:extLst>
              <a:ext uri="{FF2B5EF4-FFF2-40B4-BE49-F238E27FC236}">
                <a16:creationId xmlns:a16="http://schemas.microsoft.com/office/drawing/2014/main" id="{AFFA3AD7-F12C-EB93-1471-ECA4C0B2516B}"/>
              </a:ext>
            </a:extLst>
          </p:cNvPr>
          <p:cNvSpPr txBox="1"/>
          <p:nvPr/>
        </p:nvSpPr>
        <p:spPr>
          <a:xfrm>
            <a:off x="7600950" y="5542029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전투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수행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Combat</a:t>
            </a:r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996CBCFD-6D1E-5245-EB65-F19DE4C988F0}"/>
              </a:ext>
            </a:extLst>
          </p:cNvPr>
          <p:cNvSpPr txBox="1"/>
          <p:nvPr/>
        </p:nvSpPr>
        <p:spPr>
          <a:xfrm>
            <a:off x="12377315" y="5542029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동행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탐험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Follow</a:t>
            </a:r>
          </a:p>
        </p:txBody>
      </p:sp>
      <p:sp>
        <p:nvSpPr>
          <p:cNvPr id="46" name="TextBox 30">
            <a:extLst>
              <a:ext uri="{FF2B5EF4-FFF2-40B4-BE49-F238E27FC236}">
                <a16:creationId xmlns:a16="http://schemas.microsoft.com/office/drawing/2014/main" id="{0C8A0434-B55F-3146-FDDC-5E9366042134}"/>
              </a:ext>
            </a:extLst>
          </p:cNvPr>
          <p:cNvSpPr txBox="1"/>
          <p:nvPr/>
        </p:nvSpPr>
        <p:spPr>
          <a:xfrm>
            <a:off x="3489398" y="7372984"/>
            <a:ext cx="1167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부활 · 도발,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회복 · 가드</a:t>
            </a:r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B80CC014-3E79-27A4-2ADD-E96A28FD05CF}"/>
              </a:ext>
            </a:extLst>
          </p:cNvPr>
          <p:cNvSpPr txBox="1"/>
          <p:nvPr/>
        </p:nvSpPr>
        <p:spPr>
          <a:xfrm>
            <a:off x="3230883" y="8231942"/>
            <a:ext cx="168413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전투보다 생존이 우선</a:t>
            </a: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02FAC43C-C516-1015-5A29-B7AB07E1E626}"/>
              </a:ext>
            </a:extLst>
          </p:cNvPr>
          <p:cNvSpPr txBox="1"/>
          <p:nvPr/>
        </p:nvSpPr>
        <p:spPr>
          <a:xfrm>
            <a:off x="7620000" y="8060492"/>
            <a:ext cx="304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데코레이터 : TargetEnemy Is Set</a:t>
            </a:r>
            <a:r>
              <a:rPr lang="en-US" sz="1500" b="1" dirty="0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1EA725E1-957C-1601-7F12-3D6158A53582}"/>
              </a:ext>
            </a:extLst>
          </p:cNvPr>
          <p:cNvSpPr txBox="1"/>
          <p:nvPr/>
        </p:nvSpPr>
        <p:spPr>
          <a:xfrm>
            <a:off x="12650365" y="8206203"/>
            <a:ext cx="254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조건 없음 · 최종 폴백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4C3AD161-023A-EB37-4496-847D22B235AC}"/>
              </a:ext>
            </a:extLst>
          </p:cNvPr>
          <p:cNvSpPr txBox="1"/>
          <p:nvPr/>
        </p:nvSpPr>
        <p:spPr>
          <a:xfrm>
            <a:off x="8331845" y="7201534"/>
            <a:ext cx="16243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명혈·스태미나,</a:t>
            </a:r>
            <a:r>
              <a:rPr lang="en-US" sz="1500" b="1" dirty="0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연혈 · 가드 · 평타</a:t>
            </a:r>
            <a:r>
              <a:rPr lang="en-US" sz="1500" b="1" dirty="0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1" dirty="0" err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lang="en-US" sz="1500" b="1" dirty="0">
              <a:solidFill>
                <a:srgbClr val="FFDE59">
                  <a:alpha val="5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" name="TextBox 35">
            <a:extLst>
              <a:ext uri="{FF2B5EF4-FFF2-40B4-BE49-F238E27FC236}">
                <a16:creationId xmlns:a16="http://schemas.microsoft.com/office/drawing/2014/main" id="{15E89A4C-E2D1-45B3-0CA6-9B895823B26E}"/>
              </a:ext>
            </a:extLst>
          </p:cNvPr>
          <p:cNvSpPr txBox="1"/>
          <p:nvPr/>
        </p:nvSpPr>
        <p:spPr>
          <a:xfrm>
            <a:off x="12785551" y="7156745"/>
            <a:ext cx="226962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 추적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사선후방 2m, 7m 초과 워프</a:t>
            </a:r>
          </a:p>
        </p:txBody>
      </p:sp>
      <p:grpSp>
        <p:nvGrpSpPr>
          <p:cNvPr id="52" name="Group 26">
            <a:extLst>
              <a:ext uri="{FF2B5EF4-FFF2-40B4-BE49-F238E27FC236}">
                <a16:creationId xmlns:a16="http://schemas.microsoft.com/office/drawing/2014/main" id="{BA162F04-44D7-8C44-CA56-D60E6B59E9FD}"/>
              </a:ext>
            </a:extLst>
          </p:cNvPr>
          <p:cNvGrpSpPr/>
          <p:nvPr/>
        </p:nvGrpSpPr>
        <p:grpSpPr>
          <a:xfrm>
            <a:off x="12409794" y="5442458"/>
            <a:ext cx="3086100" cy="1450858"/>
            <a:chOff x="0" y="-54091"/>
            <a:chExt cx="812800" cy="382119"/>
          </a:xfrm>
        </p:grpSpPr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72A64F2B-5660-0457-B18A-21691192747F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extBox 28">
              <a:extLst>
                <a:ext uri="{FF2B5EF4-FFF2-40B4-BE49-F238E27FC236}">
                  <a16:creationId xmlns:a16="http://schemas.microsoft.com/office/drawing/2014/main" id="{D3F62E82-4B99-FF71-9149-997680BE2665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5" name="Group 26">
            <a:extLst>
              <a:ext uri="{FF2B5EF4-FFF2-40B4-BE49-F238E27FC236}">
                <a16:creationId xmlns:a16="http://schemas.microsoft.com/office/drawing/2014/main" id="{772033E4-ACCD-BE74-FB82-192741E7DD34}"/>
              </a:ext>
            </a:extLst>
          </p:cNvPr>
          <p:cNvGrpSpPr/>
          <p:nvPr/>
        </p:nvGrpSpPr>
        <p:grpSpPr>
          <a:xfrm>
            <a:off x="7600950" y="5442458"/>
            <a:ext cx="3086100" cy="1450858"/>
            <a:chOff x="0" y="-54091"/>
            <a:chExt cx="812800" cy="382119"/>
          </a:xfrm>
        </p:grpSpPr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8C71833D-275A-BFDE-33F9-8CAB3C99C9DC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TextBox 28">
              <a:extLst>
                <a:ext uri="{FF2B5EF4-FFF2-40B4-BE49-F238E27FC236}">
                  <a16:creationId xmlns:a16="http://schemas.microsoft.com/office/drawing/2014/main" id="{D3543C88-DB5F-B1BF-4C18-17E30DE234E9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8" name="Group 4">
            <a:extLst>
              <a:ext uri="{FF2B5EF4-FFF2-40B4-BE49-F238E27FC236}">
                <a16:creationId xmlns:a16="http://schemas.microsoft.com/office/drawing/2014/main" id="{AA08C8F9-A90E-3800-A38C-454B2BAD7B01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BB18F43B-0280-98A3-297A-2EB5010463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79D4F4A-3FAC-77F5-4EA7-4852A8B5902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9917A3B-DD5D-5D0F-8C7B-FA2A114B5825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5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4166377" y="4375127"/>
            <a:ext cx="3085725" cy="2288358"/>
            <a:chOff x="0" y="0"/>
            <a:chExt cx="812800" cy="6027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602768"/>
            </a:xfrm>
            <a:custGeom>
              <a:avLst/>
              <a:gdLst/>
              <a:ahLst/>
              <a:cxnLst/>
              <a:rect l="l" t="t" r="r" b="b"/>
              <a:pathLst>
                <a:path w="812800" h="602768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565134"/>
                  </a:lnTo>
                  <a:cubicBezTo>
                    <a:pt x="812800" y="585919"/>
                    <a:pt x="795951" y="602768"/>
                    <a:pt x="775166" y="602768"/>
                  </a:cubicBezTo>
                  <a:lnTo>
                    <a:pt x="37634" y="602768"/>
                  </a:lnTo>
                  <a:cubicBezTo>
                    <a:pt x="16849" y="602768"/>
                    <a:pt x="0" y="585919"/>
                    <a:pt x="0" y="565134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63134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37826" y="4375127"/>
            <a:ext cx="3085725" cy="1603237"/>
            <a:chOff x="0" y="0"/>
            <a:chExt cx="812800" cy="4223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22303"/>
            </a:xfrm>
            <a:custGeom>
              <a:avLst/>
              <a:gdLst/>
              <a:ahLst/>
              <a:cxnLst/>
              <a:rect l="l" t="t" r="r" b="b"/>
              <a:pathLst>
                <a:path w="812800" h="42230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384669"/>
                  </a:lnTo>
                  <a:cubicBezTo>
                    <a:pt x="812800" y="405454"/>
                    <a:pt x="795951" y="422303"/>
                    <a:pt x="775166" y="422303"/>
                  </a:cubicBezTo>
                  <a:lnTo>
                    <a:pt x="37634" y="422303"/>
                  </a:lnTo>
                  <a:cubicBezTo>
                    <a:pt x="16849" y="422303"/>
                    <a:pt x="0" y="405454"/>
                    <a:pt x="0" y="38466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45087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[Urgent]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5709239" y="3751943"/>
            <a:ext cx="1578598" cy="6231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288637" y="3765292"/>
            <a:ext cx="1592052" cy="60983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4314461" y="4535163"/>
            <a:ext cx="2789555" cy="609223"/>
            <a:chOff x="0" y="0"/>
            <a:chExt cx="734698" cy="1604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04775"/>
              <a:ext cx="734698" cy="18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PlayerHP &lt;= 0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85911" y="4535163"/>
            <a:ext cx="2789555" cy="609223"/>
            <a:chOff x="0" y="0"/>
            <a:chExt cx="734698" cy="1604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04775"/>
              <a:ext cx="734698" cy="18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Self HP &lt; 0.2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14461" y="5213597"/>
            <a:ext cx="2789555" cy="609223"/>
            <a:chOff x="0" y="0"/>
            <a:chExt cx="734698" cy="16045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04775"/>
              <a:ext cx="734698" cy="12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CompanionHP &gt; 0.4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14461" y="5889494"/>
            <a:ext cx="2789555" cy="609223"/>
            <a:chOff x="0" y="0"/>
            <a:chExt cx="734698" cy="16045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04775"/>
              <a:ext cx="734698" cy="12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GiveLife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85911" y="5213597"/>
            <a:ext cx="2789555" cy="609223"/>
            <a:chOff x="0" y="0"/>
            <a:chExt cx="734698" cy="1604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4775"/>
              <a:ext cx="734698" cy="12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HealPotion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82218" y="7001431"/>
            <a:ext cx="5069883" cy="1603376"/>
            <a:chOff x="0" y="0"/>
            <a:chExt cx="1335278" cy="4222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35278" cy="422288"/>
            </a:xfrm>
            <a:custGeom>
              <a:avLst/>
              <a:gdLst/>
              <a:ahLst/>
              <a:cxnLst/>
              <a:rect l="l" t="t" r="r" b="b"/>
              <a:pathLst>
                <a:path w="1335278" h="422288">
                  <a:moveTo>
                    <a:pt x="0" y="0"/>
                  </a:moveTo>
                  <a:lnTo>
                    <a:pt x="1335278" y="0"/>
                  </a:lnTo>
                  <a:lnTo>
                    <a:pt x="1335278" y="422288"/>
                  </a:lnTo>
                  <a:lnTo>
                    <a:pt x="0" y="42228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335278" cy="450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플레이어 HP가 0이 되면 동행자 최대 HP의 30%를 소모해 최대 HP 25%로 부활시킨다. 쿨타임 120초, 동행자 HP 40% 미만이면 차단한다.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233997" y="7001431"/>
            <a:ext cx="3086100" cy="1603376"/>
            <a:chOff x="0" y="0"/>
            <a:chExt cx="812800" cy="4222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22288"/>
            </a:xfrm>
            <a:custGeom>
              <a:avLst/>
              <a:gdLst/>
              <a:ahLst/>
              <a:cxnLst/>
              <a:rect l="l" t="t" r="r" b="b"/>
              <a:pathLst>
                <a:path w="812800" h="422288">
                  <a:moveTo>
                    <a:pt x="0" y="0"/>
                  </a:moveTo>
                  <a:lnTo>
                    <a:pt x="812800" y="0"/>
                  </a:lnTo>
                  <a:lnTo>
                    <a:pt x="812800" y="422288"/>
                  </a:lnTo>
                  <a:lnTo>
                    <a:pt x="0" y="42228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812800" cy="450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긴급 시 현재 행동을 즉시 중단하고 우선 실행한다. Abort는 Lower Priority만 쓴다.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750619" y="7001431"/>
            <a:ext cx="4988078" cy="1603376"/>
            <a:chOff x="0" y="0"/>
            <a:chExt cx="1313732" cy="4222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13732" cy="422288"/>
            </a:xfrm>
            <a:custGeom>
              <a:avLst/>
              <a:gdLst/>
              <a:ahLst/>
              <a:cxnLst/>
              <a:rect l="l" t="t" r="r" b="b"/>
              <a:pathLst>
                <a:path w="1313732" h="422288">
                  <a:moveTo>
                    <a:pt x="0" y="0"/>
                  </a:moveTo>
                  <a:lnTo>
                    <a:pt x="1313732" y="0"/>
                  </a:lnTo>
                  <a:lnTo>
                    <a:pt x="1313732" y="422288"/>
                  </a:lnTo>
                  <a:lnTo>
                    <a:pt x="0" y="42228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313732" cy="450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자신의 HP가 20% 이하로 떨어지면 최대 HP의 40%를 회복한다. 쿨타임 30초. </a:t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PotionCount로 3회 제한. 도발은 다음 장.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3831304" y="4055248"/>
            <a:ext cx="483158" cy="479915"/>
          </a:xfrm>
          <a:custGeom>
            <a:avLst/>
            <a:gdLst/>
            <a:ahLst/>
            <a:cxnLst/>
            <a:rect l="l" t="t" r="r" b="b"/>
            <a:pathLst>
              <a:path w="483158" h="479915">
                <a:moveTo>
                  <a:pt x="0" y="0"/>
                </a:moveTo>
                <a:lnTo>
                  <a:pt x="483157" y="0"/>
                </a:lnTo>
                <a:lnTo>
                  <a:pt x="483157" y="479915"/>
                </a:lnTo>
                <a:lnTo>
                  <a:pt x="0" y="479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940640" y="6663485"/>
            <a:ext cx="483158" cy="479915"/>
          </a:xfrm>
          <a:custGeom>
            <a:avLst/>
            <a:gdLst/>
            <a:ahLst/>
            <a:cxnLst/>
            <a:rect l="l" t="t" r="r" b="b"/>
            <a:pathLst>
              <a:path w="483158" h="479915">
                <a:moveTo>
                  <a:pt x="0" y="0"/>
                </a:moveTo>
                <a:lnTo>
                  <a:pt x="483157" y="0"/>
                </a:lnTo>
                <a:lnTo>
                  <a:pt x="483157" y="479915"/>
                </a:lnTo>
                <a:lnTo>
                  <a:pt x="0" y="479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077591" y="4116627"/>
            <a:ext cx="520469" cy="517000"/>
          </a:xfrm>
          <a:custGeom>
            <a:avLst/>
            <a:gdLst/>
            <a:ahLst/>
            <a:cxnLst/>
            <a:rect l="l" t="t" r="r" b="b"/>
            <a:pathLst>
              <a:path w="520469" h="517000">
                <a:moveTo>
                  <a:pt x="0" y="0"/>
                </a:moveTo>
                <a:lnTo>
                  <a:pt x="520470" y="0"/>
                </a:lnTo>
                <a:lnTo>
                  <a:pt x="520470" y="517000"/>
                </a:lnTo>
                <a:lnTo>
                  <a:pt x="0" y="51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568662" y="6663485"/>
            <a:ext cx="520469" cy="517000"/>
          </a:xfrm>
          <a:custGeom>
            <a:avLst/>
            <a:gdLst/>
            <a:ahLst/>
            <a:cxnLst/>
            <a:rect l="l" t="t" r="r" b="b"/>
            <a:pathLst>
              <a:path w="520469" h="517000">
                <a:moveTo>
                  <a:pt x="0" y="0"/>
                </a:moveTo>
                <a:lnTo>
                  <a:pt x="520470" y="0"/>
                </a:lnTo>
                <a:lnTo>
                  <a:pt x="520470" y="516999"/>
                </a:lnTo>
                <a:lnTo>
                  <a:pt x="0" y="516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로직 설계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76334" y="4582599"/>
            <a:ext cx="102572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38B6FF"/>
                </a:solidFill>
                <a:latin typeface="Noto Sans KR"/>
                <a:ea typeface="Noto Sans KR"/>
                <a:cs typeface="Noto Sans KR"/>
                <a:sym typeface="Noto Sans KR"/>
              </a:rPr>
              <a:t>Abort LowerPri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18935" y="4582599"/>
            <a:ext cx="102572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38B6FF"/>
                </a:solidFill>
                <a:latin typeface="Noto Sans KR"/>
                <a:ea typeface="Noto Sans KR"/>
                <a:cs typeface="Noto Sans KR"/>
                <a:sym typeface="Noto Sans KR"/>
              </a:rPr>
              <a:t>Abort LowerPri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14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49" name="AutoShape 10">
            <a:extLst>
              <a:ext uri="{FF2B5EF4-FFF2-40B4-BE49-F238E27FC236}">
                <a16:creationId xmlns:a16="http://schemas.microsoft.com/office/drawing/2014/main" id="{838E52DE-8E1B-16B6-C271-55CF60F49923}"/>
              </a:ext>
            </a:extLst>
          </p:cNvPr>
          <p:cNvSpPr/>
          <p:nvPr/>
        </p:nvSpPr>
        <p:spPr>
          <a:xfrm flipH="1">
            <a:off x="8794963" y="2082377"/>
            <a:ext cx="1690947" cy="574835"/>
          </a:xfrm>
          <a:prstGeom prst="line">
            <a:avLst/>
          </a:prstGeom>
          <a:ln w="38100" cap="rnd">
            <a:solidFill>
              <a:schemeClr val="bg1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50" name="Group 4">
            <a:extLst>
              <a:ext uri="{FF2B5EF4-FFF2-40B4-BE49-F238E27FC236}">
                <a16:creationId xmlns:a16="http://schemas.microsoft.com/office/drawing/2014/main" id="{ECA7D756-6B79-FEAA-2C89-71EB90030B46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71F4DCC5-1CD4-8BCC-A4A0-FCF0241B369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CFE7732-E332-B8A7-5453-61C223BF20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53D4C5F-2A91-0C21-2864-B2FB2A30375C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5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5_우선순위근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15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01D40E-B404-0614-DB68-97C9A134949B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47D844C-97B4-298C-EC56-DC7F34A4C3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949B55-136B-4D15-367D-FEFE140D27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0AECA1-20D6-94D3-BCBF-92B2AE3A21C9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5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6992094" y="4827532"/>
            <a:ext cx="4313182" cy="4149571"/>
            <a:chOff x="0" y="0"/>
            <a:chExt cx="1135982" cy="10928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5982" cy="1092891"/>
            </a:xfrm>
            <a:custGeom>
              <a:avLst/>
              <a:gdLst/>
              <a:ahLst/>
              <a:cxnLst/>
              <a:rect l="l" t="t" r="r" b="b"/>
              <a:pathLst>
                <a:path w="1135982" h="1092891">
                  <a:moveTo>
                    <a:pt x="0" y="0"/>
                  </a:moveTo>
                  <a:lnTo>
                    <a:pt x="1135982" y="0"/>
                  </a:lnTo>
                  <a:lnTo>
                    <a:pt x="1135982" y="1092891"/>
                  </a:lnTo>
                  <a:lnTo>
                    <a:pt x="0" y="1092891"/>
                  </a:ln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35982" cy="1121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flipH="1">
            <a:off x="5574156" y="4514409"/>
            <a:ext cx="2068641" cy="1203703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54572" y="4504083"/>
            <a:ext cx="1797068" cy="1222075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12800" cy="3566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49222" y="3870493"/>
            <a:ext cx="2789555" cy="609223"/>
            <a:chOff x="0" y="0"/>
            <a:chExt cx="734698" cy="1604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>
                <a:alpha val="49804"/>
              </a:srgbClr>
            </a:solidFill>
            <a:ln w="952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04775"/>
              <a:ext cx="734698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 행동 선택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38343" y="2169291"/>
            <a:ext cx="1011314" cy="653502"/>
            <a:chOff x="0" y="0"/>
            <a:chExt cx="266354" cy="1886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sp>
        <p:nvSpPr>
          <p:cNvPr id="35" name="Freeform 35"/>
          <p:cNvSpPr/>
          <p:nvPr/>
        </p:nvSpPr>
        <p:spPr>
          <a:xfrm flipH="1">
            <a:off x="9098280" y="2855852"/>
            <a:ext cx="45719" cy="454927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16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37" name="Freeform 35">
            <a:extLst>
              <a:ext uri="{FF2B5EF4-FFF2-40B4-BE49-F238E27FC236}">
                <a16:creationId xmlns:a16="http://schemas.microsoft.com/office/drawing/2014/main" id="{A10E0C7C-5088-6E16-0780-57093F9CDDC3}"/>
              </a:ext>
            </a:extLst>
          </p:cNvPr>
          <p:cNvSpPr/>
          <p:nvPr/>
        </p:nvSpPr>
        <p:spPr>
          <a:xfrm flipH="1">
            <a:off x="9031187" y="4553735"/>
            <a:ext cx="112811" cy="1122529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TextBox 16">
            <a:extLst>
              <a:ext uri="{FF2B5EF4-FFF2-40B4-BE49-F238E27FC236}">
                <a16:creationId xmlns:a16="http://schemas.microsoft.com/office/drawing/2014/main" id="{63B81ACC-F636-7756-13EB-5786089C2B7E}"/>
              </a:ext>
            </a:extLst>
          </p:cNvPr>
          <p:cNvSpPr txBox="1"/>
          <p:nvPr/>
        </p:nvSpPr>
        <p:spPr>
          <a:xfrm>
            <a:off x="2529903" y="5567768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생명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지원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Urgent</a:t>
            </a:r>
          </a:p>
        </p:txBody>
      </p:sp>
      <p:grpSp>
        <p:nvGrpSpPr>
          <p:cNvPr id="40" name="Group 17">
            <a:extLst>
              <a:ext uri="{FF2B5EF4-FFF2-40B4-BE49-F238E27FC236}">
                <a16:creationId xmlns:a16="http://schemas.microsoft.com/office/drawing/2014/main" id="{24E5E59D-A668-51FF-0082-C7E7966D5620}"/>
              </a:ext>
            </a:extLst>
          </p:cNvPr>
          <p:cNvGrpSpPr/>
          <p:nvPr/>
        </p:nvGrpSpPr>
        <p:grpSpPr>
          <a:xfrm>
            <a:off x="7640028" y="5650525"/>
            <a:ext cx="3086100" cy="1143220"/>
            <a:chOff x="0" y="0"/>
            <a:chExt cx="812800" cy="301095"/>
          </a:xfrm>
        </p:grpSpPr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95CAB6AE-0F4F-242E-4803-707A727B184E}"/>
                </a:ext>
              </a:extLst>
            </p:cNvPr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2AF8C4E0-7681-8CAB-4275-44F6BC73E1D8}"/>
                </a:ext>
              </a:extLst>
            </p:cNvPr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전투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수행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Combat</a:t>
              </a:r>
            </a:p>
          </p:txBody>
        </p:sp>
      </p:grpSp>
      <p:sp>
        <p:nvSpPr>
          <p:cNvPr id="45" name="TextBox 22">
            <a:extLst>
              <a:ext uri="{FF2B5EF4-FFF2-40B4-BE49-F238E27FC236}">
                <a16:creationId xmlns:a16="http://schemas.microsoft.com/office/drawing/2014/main" id="{FAFDAE3A-9DA1-2CAC-B390-BE69A6CF27E8}"/>
              </a:ext>
            </a:extLst>
          </p:cNvPr>
          <p:cNvSpPr txBox="1"/>
          <p:nvPr/>
        </p:nvSpPr>
        <p:spPr>
          <a:xfrm>
            <a:off x="12400112" y="5542029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동행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탐험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Follow</a:t>
            </a:r>
          </a:p>
        </p:txBody>
      </p:sp>
      <p:sp>
        <p:nvSpPr>
          <p:cNvPr id="46" name="TextBox 30">
            <a:extLst>
              <a:ext uri="{FF2B5EF4-FFF2-40B4-BE49-F238E27FC236}">
                <a16:creationId xmlns:a16="http://schemas.microsoft.com/office/drawing/2014/main" id="{EEDB6AB9-EAA8-FC22-8987-83F7E0F4B9CF}"/>
              </a:ext>
            </a:extLst>
          </p:cNvPr>
          <p:cNvSpPr txBox="1"/>
          <p:nvPr/>
        </p:nvSpPr>
        <p:spPr>
          <a:xfrm>
            <a:off x="3489398" y="7372984"/>
            <a:ext cx="1167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부활 · 도발,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회복 · 가드</a:t>
            </a:r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9C344DF4-4330-E24F-3857-2A28C1A87CAB}"/>
              </a:ext>
            </a:extLst>
          </p:cNvPr>
          <p:cNvSpPr txBox="1"/>
          <p:nvPr/>
        </p:nvSpPr>
        <p:spPr>
          <a:xfrm>
            <a:off x="3230883" y="8231942"/>
            <a:ext cx="168413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전투보다 생존이 우선</a:t>
            </a: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F981B6CD-8101-CEF9-4A8B-969D69B3E1FC}"/>
              </a:ext>
            </a:extLst>
          </p:cNvPr>
          <p:cNvSpPr txBox="1"/>
          <p:nvPr/>
        </p:nvSpPr>
        <p:spPr>
          <a:xfrm>
            <a:off x="7659078" y="8060492"/>
            <a:ext cx="304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데코레이터 : TargetEnemy Is Set</a:t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C727036C-AC31-4800-2D20-531E5BD71EA0}"/>
              </a:ext>
            </a:extLst>
          </p:cNvPr>
          <p:cNvSpPr txBox="1"/>
          <p:nvPr/>
        </p:nvSpPr>
        <p:spPr>
          <a:xfrm>
            <a:off x="12673162" y="8206203"/>
            <a:ext cx="254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조건 없음 · 최종 폴백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F185474F-29B3-3798-3CAD-BDC9C66A4EDB}"/>
              </a:ext>
            </a:extLst>
          </p:cNvPr>
          <p:cNvSpPr txBox="1"/>
          <p:nvPr/>
        </p:nvSpPr>
        <p:spPr>
          <a:xfrm>
            <a:off x="8370923" y="7201534"/>
            <a:ext cx="16243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명혈·스태미나,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연혈 · 가드 · 평타</a:t>
            </a:r>
          </a:p>
        </p:txBody>
      </p:sp>
      <p:sp>
        <p:nvSpPr>
          <p:cNvPr id="51" name="TextBox 35">
            <a:extLst>
              <a:ext uri="{FF2B5EF4-FFF2-40B4-BE49-F238E27FC236}">
                <a16:creationId xmlns:a16="http://schemas.microsoft.com/office/drawing/2014/main" id="{9EF73545-9B94-0530-B434-B81033225EDE}"/>
              </a:ext>
            </a:extLst>
          </p:cNvPr>
          <p:cNvSpPr txBox="1"/>
          <p:nvPr/>
        </p:nvSpPr>
        <p:spPr>
          <a:xfrm>
            <a:off x="12808348" y="7156745"/>
            <a:ext cx="226962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 추적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사선후방 2m, 7m 초과 워프</a:t>
            </a:r>
          </a:p>
        </p:txBody>
      </p:sp>
      <p:grpSp>
        <p:nvGrpSpPr>
          <p:cNvPr id="55" name="Group 26">
            <a:extLst>
              <a:ext uri="{FF2B5EF4-FFF2-40B4-BE49-F238E27FC236}">
                <a16:creationId xmlns:a16="http://schemas.microsoft.com/office/drawing/2014/main" id="{79DCCCFA-6766-02A4-3A37-BC8A1CAE852C}"/>
              </a:ext>
            </a:extLst>
          </p:cNvPr>
          <p:cNvGrpSpPr/>
          <p:nvPr/>
        </p:nvGrpSpPr>
        <p:grpSpPr>
          <a:xfrm>
            <a:off x="2543422" y="5476418"/>
            <a:ext cx="3086100" cy="1450858"/>
            <a:chOff x="0" y="-54091"/>
            <a:chExt cx="812800" cy="382119"/>
          </a:xfrm>
        </p:grpSpPr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4AE17D1E-4B1C-B124-FB4D-3E55EA3C33DA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TextBox 28">
              <a:extLst>
                <a:ext uri="{FF2B5EF4-FFF2-40B4-BE49-F238E27FC236}">
                  <a16:creationId xmlns:a16="http://schemas.microsoft.com/office/drawing/2014/main" id="{69976942-0445-D54F-D4FC-55D2D2554F00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61" name="Group 26">
            <a:extLst>
              <a:ext uri="{FF2B5EF4-FFF2-40B4-BE49-F238E27FC236}">
                <a16:creationId xmlns:a16="http://schemas.microsoft.com/office/drawing/2014/main" id="{176B43F1-06B7-9760-0919-AD580345E047}"/>
              </a:ext>
            </a:extLst>
          </p:cNvPr>
          <p:cNvGrpSpPr/>
          <p:nvPr/>
        </p:nvGrpSpPr>
        <p:grpSpPr>
          <a:xfrm>
            <a:off x="12386594" y="5476418"/>
            <a:ext cx="3086100" cy="1450858"/>
            <a:chOff x="0" y="-54091"/>
            <a:chExt cx="812800" cy="382119"/>
          </a:xfrm>
        </p:grpSpPr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D6B0C3B1-689C-4548-CE56-5508ACB9248C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TextBox 28">
              <a:extLst>
                <a:ext uri="{FF2B5EF4-FFF2-40B4-BE49-F238E27FC236}">
                  <a16:creationId xmlns:a16="http://schemas.microsoft.com/office/drawing/2014/main" id="{1C83B1E2-B5C2-880B-1716-0AA38C2BE6DD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64" name="Group 4">
            <a:extLst>
              <a:ext uri="{FF2B5EF4-FFF2-40B4-BE49-F238E27FC236}">
                <a16:creationId xmlns:a16="http://schemas.microsoft.com/office/drawing/2014/main" id="{6FBF136C-4FE5-26F7-1BB7-75EE41CF91DE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D024594B-6D6F-748D-9AD2-A578BDFCD3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523675D-9A6D-DB2C-706B-5D28AA79111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335E415-4E6B-16CF-6B2A-E749F0BBA202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3556" y="2347855"/>
            <a:ext cx="1882816" cy="982980"/>
            <a:chOff x="0" y="0"/>
            <a:chExt cx="495946" cy="25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946" cy="258923"/>
            </a:xfrm>
            <a:custGeom>
              <a:avLst/>
              <a:gdLst/>
              <a:ahLst/>
              <a:cxnLst/>
              <a:rect l="l" t="t" r="r" b="b"/>
              <a:pathLst>
                <a:path w="495946" h="258923">
                  <a:moveTo>
                    <a:pt x="61678" y="0"/>
                  </a:moveTo>
                  <a:lnTo>
                    <a:pt x="434268" y="0"/>
                  </a:lnTo>
                  <a:cubicBezTo>
                    <a:pt x="450626" y="0"/>
                    <a:pt x="466314" y="6498"/>
                    <a:pt x="477881" y="18065"/>
                  </a:cubicBezTo>
                  <a:cubicBezTo>
                    <a:pt x="489448" y="29632"/>
                    <a:pt x="495946" y="45320"/>
                    <a:pt x="495946" y="61678"/>
                  </a:cubicBezTo>
                  <a:lnTo>
                    <a:pt x="495946" y="197245"/>
                  </a:lnTo>
                  <a:cubicBezTo>
                    <a:pt x="495946" y="213603"/>
                    <a:pt x="489448" y="229291"/>
                    <a:pt x="477881" y="240858"/>
                  </a:cubicBezTo>
                  <a:cubicBezTo>
                    <a:pt x="466314" y="252425"/>
                    <a:pt x="450626" y="258923"/>
                    <a:pt x="434268" y="258923"/>
                  </a:cubicBezTo>
                  <a:lnTo>
                    <a:pt x="61678" y="258923"/>
                  </a:lnTo>
                  <a:cubicBezTo>
                    <a:pt x="45320" y="258923"/>
                    <a:pt x="29632" y="252425"/>
                    <a:pt x="18065" y="240858"/>
                  </a:cubicBezTo>
                  <a:cubicBezTo>
                    <a:pt x="6498" y="229291"/>
                    <a:pt x="0" y="213603"/>
                    <a:pt x="0" y="197245"/>
                  </a:cubicBezTo>
                  <a:lnTo>
                    <a:pt x="0" y="61678"/>
                  </a:lnTo>
                  <a:cubicBezTo>
                    <a:pt x="0" y="45320"/>
                    <a:pt x="6498" y="29632"/>
                    <a:pt x="18065" y="18065"/>
                  </a:cubicBezTo>
                  <a:cubicBezTo>
                    <a:pt x="29632" y="6498"/>
                    <a:pt x="45320" y="0"/>
                    <a:pt x="61678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95946" cy="28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[Combat]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034" y="3520888"/>
            <a:ext cx="1878337" cy="716280"/>
            <a:chOff x="0" y="0"/>
            <a:chExt cx="494766" cy="1886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8794964" y="3330835"/>
            <a:ext cx="2239" cy="190052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1572610" y="3172891"/>
            <a:ext cx="2052931" cy="1486753"/>
            <a:chOff x="0" y="-144643"/>
            <a:chExt cx="2737241" cy="198233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-144643"/>
              <a:ext cx="2737241" cy="1982338"/>
              <a:chOff x="0" y="-28575"/>
              <a:chExt cx="540755" cy="39162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40755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40755" h="363046">
                    <a:moveTo>
                      <a:pt x="56567" y="0"/>
                    </a:moveTo>
                    <a:lnTo>
                      <a:pt x="484188" y="0"/>
                    </a:lnTo>
                    <a:cubicBezTo>
                      <a:pt x="499191" y="0"/>
                      <a:pt x="513579" y="5960"/>
                      <a:pt x="524187" y="16568"/>
                    </a:cubicBezTo>
                    <a:cubicBezTo>
                      <a:pt x="534796" y="27177"/>
                      <a:pt x="540755" y="41565"/>
                      <a:pt x="540755" y="56567"/>
                    </a:cubicBezTo>
                    <a:lnTo>
                      <a:pt x="540755" y="306478"/>
                    </a:lnTo>
                    <a:cubicBezTo>
                      <a:pt x="540755" y="337720"/>
                      <a:pt x="515429" y="363046"/>
                      <a:pt x="484188" y="363046"/>
                    </a:cubicBezTo>
                    <a:lnTo>
                      <a:pt x="56567" y="363046"/>
                    </a:lnTo>
                    <a:cubicBezTo>
                      <a:pt x="41565" y="363046"/>
                      <a:pt x="27177" y="357086"/>
                      <a:pt x="16568" y="346477"/>
                    </a:cubicBezTo>
                    <a:cubicBezTo>
                      <a:pt x="5960" y="335869"/>
                      <a:pt x="0" y="321481"/>
                      <a:pt x="0" y="306478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33226" cy="34316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31361" y="213380"/>
              <a:ext cx="2504448" cy="812297"/>
              <a:chOff x="0" y="0"/>
              <a:chExt cx="494706" cy="1604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8794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488794" h="160454">
                    <a:moveTo>
                      <a:pt x="41715" y="0"/>
                    </a:moveTo>
                    <a:lnTo>
                      <a:pt x="447078" y="0"/>
                    </a:lnTo>
                    <a:cubicBezTo>
                      <a:pt x="458142" y="0"/>
                      <a:pt x="468752" y="4395"/>
                      <a:pt x="476576" y="12218"/>
                    </a:cubicBezTo>
                    <a:cubicBezTo>
                      <a:pt x="484399" y="20041"/>
                      <a:pt x="488794" y="30652"/>
                      <a:pt x="488794" y="41715"/>
                    </a:cubicBezTo>
                    <a:lnTo>
                      <a:pt x="488794" y="118738"/>
                    </a:lnTo>
                    <a:cubicBezTo>
                      <a:pt x="488794" y="141777"/>
                      <a:pt x="470117" y="160454"/>
                      <a:pt x="447078" y="160454"/>
                    </a:cubicBezTo>
                    <a:lnTo>
                      <a:pt x="41715" y="160454"/>
                    </a:lnTo>
                    <a:cubicBezTo>
                      <a:pt x="30652" y="160454"/>
                      <a:pt x="20041" y="156059"/>
                      <a:pt x="12218" y="148236"/>
                    </a:cubicBezTo>
                    <a:cubicBezTo>
                      <a:pt x="4395" y="140412"/>
                      <a:pt x="0" y="129802"/>
                      <a:pt x="0" y="118738"/>
                    </a:cubicBezTo>
                    <a:lnTo>
                      <a:pt x="0" y="41715"/>
                    </a:lnTo>
                    <a:cubicBezTo>
                      <a:pt x="0" y="30652"/>
                      <a:pt x="4395" y="20041"/>
                      <a:pt x="12218" y="12218"/>
                    </a:cubicBezTo>
                    <a:cubicBezTo>
                      <a:pt x="20041" y="4395"/>
                      <a:pt x="30652" y="0"/>
                      <a:pt x="41715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04775"/>
                <a:ext cx="494706" cy="2409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Ichor &lt; Thr(%)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038719" y="4318738"/>
            <a:ext cx="1878337" cy="824762"/>
            <a:chOff x="0" y="-28575"/>
            <a:chExt cx="494766" cy="2172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87237" cy="17509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5088" y="4318738"/>
            <a:ext cx="1878337" cy="824762"/>
            <a:chOff x="0" y="-28575"/>
            <a:chExt cx="494766" cy="217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94766" cy="1729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58813" y="4318738"/>
            <a:ext cx="1878337" cy="824762"/>
            <a:chOff x="0" y="-28575"/>
            <a:chExt cx="494766" cy="217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94766" cy="16589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2994" y="6551274"/>
            <a:ext cx="2257673" cy="1486753"/>
            <a:chOff x="0" y="-144643"/>
            <a:chExt cx="3010231" cy="1982338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-144643"/>
              <a:ext cx="3010231" cy="1982338"/>
              <a:chOff x="0" y="-28575"/>
              <a:chExt cx="594686" cy="39162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4686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363046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311608"/>
                    </a:lnTo>
                    <a:cubicBezTo>
                      <a:pt x="594686" y="340016"/>
                      <a:pt x="571657" y="363046"/>
                      <a:pt x="543249" y="363046"/>
                    </a:cubicBezTo>
                    <a:lnTo>
                      <a:pt x="51437" y="363046"/>
                    </a:lnTo>
                    <a:cubicBezTo>
                      <a:pt x="37795" y="363046"/>
                      <a:pt x="24712" y="357626"/>
                      <a:pt x="15066" y="347980"/>
                    </a:cubicBezTo>
                    <a:cubicBezTo>
                      <a:pt x="5419" y="338334"/>
                      <a:pt x="0" y="325250"/>
                      <a:pt x="0" y="31160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94686" cy="3517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4462" y="213380"/>
              <a:ext cx="2721307" cy="812297"/>
              <a:chOff x="0" y="0"/>
              <a:chExt cx="537542" cy="1604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04775"/>
                <a:ext cx="537541" cy="1566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GuardChance</a:t>
                </a: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 flipH="1">
            <a:off x="6977887" y="4209986"/>
            <a:ext cx="939169" cy="21723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664096" y="4218535"/>
            <a:ext cx="970161" cy="2086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736372" y="3879028"/>
            <a:ext cx="4452878" cy="60290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 flipH="1">
            <a:off x="1789963" y="4659645"/>
            <a:ext cx="809112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2599075" y="4659645"/>
            <a:ext cx="809112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 flipH="1">
            <a:off x="9052239" y="5143500"/>
            <a:ext cx="1582017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634256" y="5143500"/>
            <a:ext cx="1579676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5097981" y="5143500"/>
            <a:ext cx="870466" cy="33737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4" name="AutoShape 44"/>
          <p:cNvSpPr/>
          <p:nvPr/>
        </p:nvSpPr>
        <p:spPr>
          <a:xfrm flipH="1">
            <a:off x="14336717" y="5143500"/>
            <a:ext cx="761263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5" name="AutoShape 45"/>
          <p:cNvSpPr/>
          <p:nvPr/>
        </p:nvSpPr>
        <p:spPr>
          <a:xfrm flipH="1">
            <a:off x="10634256" y="5143500"/>
            <a:ext cx="0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11001830" y="8038027"/>
            <a:ext cx="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47" name="Group 47"/>
          <p:cNvGrpSpPr/>
          <p:nvPr/>
        </p:nvGrpSpPr>
        <p:grpSpPr>
          <a:xfrm>
            <a:off x="1028700" y="5040929"/>
            <a:ext cx="1522526" cy="838988"/>
            <a:chOff x="0" y="0"/>
            <a:chExt cx="2030034" cy="111865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104775"/>
                <a:ext cx="352035" cy="144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290977" y="5460424"/>
            <a:ext cx="1522526" cy="838988"/>
            <a:chOff x="0" y="0"/>
            <a:chExt cx="2030034" cy="1118651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4775"/>
                <a:ext cx="361436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46924" y="5040929"/>
            <a:ext cx="1522526" cy="838988"/>
            <a:chOff x="0" y="0"/>
            <a:chExt cx="2030034" cy="111865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422" y="153177"/>
              <a:ext cx="1857743" cy="812297"/>
              <a:chOff x="0" y="0"/>
              <a:chExt cx="366962" cy="1604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104775"/>
                <a:ext cx="366962" cy="144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Strafe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72994" y="5460424"/>
            <a:ext cx="1522526" cy="838988"/>
            <a:chOff x="0" y="0"/>
            <a:chExt cx="2030034" cy="111865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104775"/>
                <a:ext cx="362507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1452669" y="5351942"/>
            <a:ext cx="1579673" cy="947470"/>
            <a:chOff x="0" y="-28575"/>
            <a:chExt cx="416096" cy="24957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01043" cy="220995"/>
            </a:xfrm>
            <a:custGeom>
              <a:avLst/>
              <a:gdLst/>
              <a:ahLst/>
              <a:cxnLst/>
              <a:rect l="l" t="t" r="r" b="b"/>
              <a:pathLst>
                <a:path w="401043" h="220995">
                  <a:moveTo>
                    <a:pt x="76274" y="0"/>
                  </a:moveTo>
                  <a:lnTo>
                    <a:pt x="324769" y="0"/>
                  </a:lnTo>
                  <a:cubicBezTo>
                    <a:pt x="344998" y="0"/>
                    <a:pt x="364399" y="8036"/>
                    <a:pt x="378703" y="22340"/>
                  </a:cubicBezTo>
                  <a:cubicBezTo>
                    <a:pt x="393007" y="36644"/>
                    <a:pt x="401043" y="56045"/>
                    <a:pt x="401043" y="76274"/>
                  </a:cubicBezTo>
                  <a:lnTo>
                    <a:pt x="401043" y="144721"/>
                  </a:lnTo>
                  <a:cubicBezTo>
                    <a:pt x="401043" y="164950"/>
                    <a:pt x="393007" y="184351"/>
                    <a:pt x="378703" y="198655"/>
                  </a:cubicBezTo>
                  <a:cubicBezTo>
                    <a:pt x="364399" y="212959"/>
                    <a:pt x="344998" y="220995"/>
                    <a:pt x="324769" y="220995"/>
                  </a:cubicBezTo>
                  <a:lnTo>
                    <a:pt x="76274" y="220995"/>
                  </a:lnTo>
                  <a:cubicBezTo>
                    <a:pt x="56045" y="220995"/>
                    <a:pt x="36644" y="212959"/>
                    <a:pt x="22340" y="198655"/>
                  </a:cubicBezTo>
                  <a:cubicBezTo>
                    <a:pt x="8036" y="184351"/>
                    <a:pt x="0" y="164950"/>
                    <a:pt x="0" y="144721"/>
                  </a:cubicBezTo>
                  <a:lnTo>
                    <a:pt x="0" y="76274"/>
                  </a:lnTo>
                  <a:cubicBezTo>
                    <a:pt x="0" y="56045"/>
                    <a:pt x="8036" y="36644"/>
                    <a:pt x="22340" y="22340"/>
                  </a:cubicBezTo>
                  <a:cubicBezTo>
                    <a:pt x="36644" y="8036"/>
                    <a:pt x="56045" y="0"/>
                    <a:pt x="7627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416096" cy="220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2994" y="8419312"/>
            <a:ext cx="2257673" cy="838988"/>
            <a:chOff x="0" y="0"/>
            <a:chExt cx="3010231" cy="1118651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104775"/>
                <a:ext cx="537537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2213932" y="6659756"/>
            <a:ext cx="2257673" cy="838988"/>
            <a:chOff x="0" y="0"/>
            <a:chExt cx="3010231" cy="111865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104775"/>
                <a:ext cx="530552" cy="1960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BasicAttack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92" name="AutoShape 92"/>
          <p:cNvSpPr/>
          <p:nvPr/>
        </p:nvSpPr>
        <p:spPr>
          <a:xfrm flipH="1">
            <a:off x="3625540" y="3879028"/>
            <a:ext cx="4232494" cy="91481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93" name="Group 93"/>
          <p:cNvGrpSpPr/>
          <p:nvPr/>
        </p:nvGrpSpPr>
        <p:grpSpPr>
          <a:xfrm>
            <a:off x="1110661" y="6274837"/>
            <a:ext cx="2298347" cy="2983463"/>
            <a:chOff x="0" y="0"/>
            <a:chExt cx="605400" cy="7858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26180" y="6274837"/>
            <a:ext cx="2298347" cy="2983463"/>
            <a:chOff x="0" y="0"/>
            <a:chExt cx="605400" cy="78586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102928" y="6274837"/>
            <a:ext cx="2298347" cy="2983463"/>
            <a:chOff x="0" y="0"/>
            <a:chExt cx="605400" cy="7858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0959" y="6434872"/>
            <a:ext cx="2077750" cy="609223"/>
            <a:chOff x="0" y="0"/>
            <a:chExt cx="547226" cy="16045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104775"/>
              <a:ext cx="547226" cy="254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Cooldown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736478" y="6434872"/>
            <a:ext cx="2077750" cy="609223"/>
            <a:chOff x="0" y="0"/>
            <a:chExt cx="547226" cy="16045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· CD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213226" y="6434872"/>
            <a:ext cx="2077750" cy="609223"/>
            <a:chOff x="0" y="0"/>
            <a:chExt cx="547226" cy="16045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(Kite)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20959" y="7113306"/>
            <a:ext cx="2077750" cy="609223"/>
            <a:chOff x="0" y="0"/>
            <a:chExt cx="547226" cy="16045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BuffExpired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736478" y="7113306"/>
            <a:ext cx="2077750" cy="609223"/>
            <a:chOff x="0" y="0"/>
            <a:chExt cx="547226" cy="16045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3226" y="7113306"/>
            <a:ext cx="2077750" cy="609223"/>
            <a:chOff x="0" y="0"/>
            <a:chExt cx="547226" cy="16045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TooClose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220959" y="7789204"/>
            <a:ext cx="2077750" cy="609223"/>
            <a:chOff x="0" y="0"/>
            <a:chExt cx="547226" cy="16045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104775"/>
              <a:ext cx="547226" cy="16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736478" y="7789204"/>
            <a:ext cx="2077750" cy="609223"/>
            <a:chOff x="0" y="0"/>
            <a:chExt cx="547226" cy="1604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213226" y="7789204"/>
            <a:ext cx="2077750" cy="609223"/>
            <a:chOff x="0" y="0"/>
            <a:chExt cx="547226" cy="16045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Stamina Enough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220959" y="8465102"/>
            <a:ext cx="2077750" cy="609223"/>
            <a:chOff x="0" y="0"/>
            <a:chExt cx="547226" cy="1604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UseSkill_Buff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3736478" y="8465102"/>
            <a:ext cx="2077750" cy="609223"/>
            <a:chOff x="0" y="0"/>
            <a:chExt cx="547226" cy="16045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UseSkill_Atk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213226" y="8465102"/>
            <a:ext cx="2077750" cy="609223"/>
            <a:chOff x="0" y="0"/>
            <a:chExt cx="547226" cy="16045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MoveAway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38" name="AutoShape 138"/>
          <p:cNvSpPr/>
          <p:nvPr/>
        </p:nvSpPr>
        <p:spPr>
          <a:xfrm flipH="1">
            <a:off x="2259834" y="5143500"/>
            <a:ext cx="4718053" cy="1131337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9" name="AutoShape 139"/>
          <p:cNvSpPr/>
          <p:nvPr/>
        </p:nvSpPr>
        <p:spPr>
          <a:xfrm flipH="1">
            <a:off x="4775353" y="5143500"/>
            <a:ext cx="2202534" cy="1131337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0" name="AutoShape 140"/>
          <p:cNvSpPr/>
          <p:nvPr/>
        </p:nvSpPr>
        <p:spPr>
          <a:xfrm>
            <a:off x="6977887" y="5143500"/>
            <a:ext cx="277114" cy="115016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1" name="AutoShape 141"/>
          <p:cNvSpPr/>
          <p:nvPr/>
        </p:nvSpPr>
        <p:spPr>
          <a:xfrm flipH="1">
            <a:off x="11001830" y="6299412"/>
            <a:ext cx="1212102" cy="36034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2" name="AutoShape 142"/>
          <p:cNvSpPr/>
          <p:nvPr/>
        </p:nvSpPr>
        <p:spPr>
          <a:xfrm>
            <a:off x="12213932" y="6299412"/>
            <a:ext cx="1128837" cy="36034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43" name="Group 143"/>
          <p:cNvGrpSpPr/>
          <p:nvPr/>
        </p:nvGrpSpPr>
        <p:grpSpPr>
          <a:xfrm>
            <a:off x="13527606" y="5460424"/>
            <a:ext cx="1522526" cy="838988"/>
            <a:chOff x="0" y="0"/>
            <a:chExt cx="2030034" cy="1118651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97422" y="153177"/>
              <a:ext cx="1847102" cy="812297"/>
              <a:chOff x="0" y="0"/>
              <a:chExt cx="364860" cy="16045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104775"/>
                <a:ext cx="364860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50" name="Group 150"/>
          <p:cNvGrpSpPr/>
          <p:nvPr/>
        </p:nvGrpSpPr>
        <p:grpSpPr>
          <a:xfrm>
            <a:off x="15145831" y="5460424"/>
            <a:ext cx="1522526" cy="838988"/>
            <a:chOff x="0" y="0"/>
            <a:chExt cx="2030034" cy="1118651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104775"/>
                <a:ext cx="346733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Wait</a:t>
                </a:r>
              </a:p>
            </p:txBody>
          </p:sp>
        </p:grpSp>
      </p:grpSp>
      <p:sp>
        <p:nvSpPr>
          <p:cNvPr id="157" name="TextBox 156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17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159" name="AutoShape 10">
            <a:extLst>
              <a:ext uri="{FF2B5EF4-FFF2-40B4-BE49-F238E27FC236}">
                <a16:creationId xmlns:a16="http://schemas.microsoft.com/office/drawing/2014/main" id="{3B0BC49C-562F-D9F0-6882-62937CA56894}"/>
              </a:ext>
            </a:extLst>
          </p:cNvPr>
          <p:cNvSpPr/>
          <p:nvPr/>
        </p:nvSpPr>
        <p:spPr>
          <a:xfrm>
            <a:off x="8804489" y="2038460"/>
            <a:ext cx="0" cy="303007"/>
          </a:xfrm>
          <a:prstGeom prst="line">
            <a:avLst/>
          </a:prstGeom>
          <a:ln w="38100" cap="rnd">
            <a:solidFill>
              <a:schemeClr val="bg1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64" name="Group 4">
            <a:extLst>
              <a:ext uri="{FF2B5EF4-FFF2-40B4-BE49-F238E27FC236}">
                <a16:creationId xmlns:a16="http://schemas.microsoft.com/office/drawing/2014/main" id="{877B8183-A5FE-EA60-BAC2-14F5457C484C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65" name="Freeform 5">
              <a:extLst>
                <a:ext uri="{FF2B5EF4-FFF2-40B4-BE49-F238E27FC236}">
                  <a16:creationId xmlns:a16="http://schemas.microsoft.com/office/drawing/2014/main" id="{44DE9E5C-1316-4CDE-B854-B91C9BB370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87B10F3-1DF4-77E3-54C4-510B5F4D2A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32A9C8A4-A49B-F499-C89C-E3DBA035C5D5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3556" y="2347855"/>
            <a:ext cx="1882816" cy="982980"/>
            <a:chOff x="0" y="0"/>
            <a:chExt cx="495946" cy="25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946" cy="258923"/>
            </a:xfrm>
            <a:custGeom>
              <a:avLst/>
              <a:gdLst/>
              <a:ahLst/>
              <a:cxnLst/>
              <a:rect l="l" t="t" r="r" b="b"/>
              <a:pathLst>
                <a:path w="495946" h="258923">
                  <a:moveTo>
                    <a:pt x="61678" y="0"/>
                  </a:moveTo>
                  <a:lnTo>
                    <a:pt x="434268" y="0"/>
                  </a:lnTo>
                  <a:cubicBezTo>
                    <a:pt x="450626" y="0"/>
                    <a:pt x="466314" y="6498"/>
                    <a:pt x="477881" y="18065"/>
                  </a:cubicBezTo>
                  <a:cubicBezTo>
                    <a:pt x="489448" y="29632"/>
                    <a:pt x="495946" y="45320"/>
                    <a:pt x="495946" y="61678"/>
                  </a:cubicBezTo>
                  <a:lnTo>
                    <a:pt x="495946" y="197245"/>
                  </a:lnTo>
                  <a:cubicBezTo>
                    <a:pt x="495946" y="213603"/>
                    <a:pt x="489448" y="229291"/>
                    <a:pt x="477881" y="240858"/>
                  </a:cubicBezTo>
                  <a:cubicBezTo>
                    <a:pt x="466314" y="252425"/>
                    <a:pt x="450626" y="258923"/>
                    <a:pt x="434268" y="258923"/>
                  </a:cubicBezTo>
                  <a:lnTo>
                    <a:pt x="61678" y="258923"/>
                  </a:lnTo>
                  <a:cubicBezTo>
                    <a:pt x="45320" y="258923"/>
                    <a:pt x="29632" y="252425"/>
                    <a:pt x="18065" y="240858"/>
                  </a:cubicBezTo>
                  <a:cubicBezTo>
                    <a:pt x="6498" y="229291"/>
                    <a:pt x="0" y="213603"/>
                    <a:pt x="0" y="197245"/>
                  </a:cubicBezTo>
                  <a:lnTo>
                    <a:pt x="0" y="61678"/>
                  </a:lnTo>
                  <a:cubicBezTo>
                    <a:pt x="0" y="45320"/>
                    <a:pt x="6498" y="29632"/>
                    <a:pt x="18065" y="18065"/>
                  </a:cubicBezTo>
                  <a:cubicBezTo>
                    <a:pt x="29632" y="6498"/>
                    <a:pt x="45320" y="0"/>
                    <a:pt x="61678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95946" cy="28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[Combat]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034" y="3520888"/>
            <a:ext cx="1878337" cy="716280"/>
            <a:chOff x="0" y="0"/>
            <a:chExt cx="494766" cy="1886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8794964" y="3330835"/>
            <a:ext cx="2239" cy="19005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1572610" y="3172891"/>
            <a:ext cx="2052931" cy="1486753"/>
            <a:chOff x="0" y="-144643"/>
            <a:chExt cx="2737241" cy="198233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-144643"/>
              <a:ext cx="2737241" cy="1982338"/>
              <a:chOff x="0" y="-28575"/>
              <a:chExt cx="540755" cy="39162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40755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40755" h="363046">
                    <a:moveTo>
                      <a:pt x="56567" y="0"/>
                    </a:moveTo>
                    <a:lnTo>
                      <a:pt x="484188" y="0"/>
                    </a:lnTo>
                    <a:cubicBezTo>
                      <a:pt x="499191" y="0"/>
                      <a:pt x="513579" y="5960"/>
                      <a:pt x="524187" y="16568"/>
                    </a:cubicBezTo>
                    <a:cubicBezTo>
                      <a:pt x="534796" y="27177"/>
                      <a:pt x="540755" y="41565"/>
                      <a:pt x="540755" y="56567"/>
                    </a:cubicBezTo>
                    <a:lnTo>
                      <a:pt x="540755" y="306478"/>
                    </a:lnTo>
                    <a:cubicBezTo>
                      <a:pt x="540755" y="337720"/>
                      <a:pt x="515429" y="363046"/>
                      <a:pt x="484188" y="363046"/>
                    </a:cubicBezTo>
                    <a:lnTo>
                      <a:pt x="56567" y="363046"/>
                    </a:lnTo>
                    <a:cubicBezTo>
                      <a:pt x="41565" y="363046"/>
                      <a:pt x="27177" y="357086"/>
                      <a:pt x="16568" y="346477"/>
                    </a:cubicBezTo>
                    <a:cubicBezTo>
                      <a:pt x="5960" y="335869"/>
                      <a:pt x="0" y="321481"/>
                      <a:pt x="0" y="306478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40754" cy="349467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31361" y="213380"/>
              <a:ext cx="2547024" cy="812297"/>
              <a:chOff x="0" y="0"/>
              <a:chExt cx="503116" cy="1604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8794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488794" h="160454">
                    <a:moveTo>
                      <a:pt x="41715" y="0"/>
                    </a:moveTo>
                    <a:lnTo>
                      <a:pt x="447078" y="0"/>
                    </a:lnTo>
                    <a:cubicBezTo>
                      <a:pt x="458142" y="0"/>
                      <a:pt x="468752" y="4395"/>
                      <a:pt x="476576" y="12218"/>
                    </a:cubicBezTo>
                    <a:cubicBezTo>
                      <a:pt x="484399" y="20041"/>
                      <a:pt x="488794" y="30652"/>
                      <a:pt x="488794" y="41715"/>
                    </a:cubicBezTo>
                    <a:lnTo>
                      <a:pt x="488794" y="118738"/>
                    </a:lnTo>
                    <a:cubicBezTo>
                      <a:pt x="488794" y="141777"/>
                      <a:pt x="470117" y="160454"/>
                      <a:pt x="447078" y="160454"/>
                    </a:cubicBezTo>
                    <a:lnTo>
                      <a:pt x="41715" y="160454"/>
                    </a:lnTo>
                    <a:cubicBezTo>
                      <a:pt x="30652" y="160454"/>
                      <a:pt x="20041" y="156059"/>
                      <a:pt x="12218" y="148236"/>
                    </a:cubicBezTo>
                    <a:cubicBezTo>
                      <a:pt x="4395" y="140412"/>
                      <a:pt x="0" y="129802"/>
                      <a:pt x="0" y="118738"/>
                    </a:cubicBezTo>
                    <a:lnTo>
                      <a:pt x="0" y="41715"/>
                    </a:lnTo>
                    <a:cubicBezTo>
                      <a:pt x="0" y="30652"/>
                      <a:pt x="4395" y="20041"/>
                      <a:pt x="12218" y="12218"/>
                    </a:cubicBezTo>
                    <a:cubicBezTo>
                      <a:pt x="20041" y="4395"/>
                      <a:pt x="30652" y="0"/>
                      <a:pt x="41715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04775"/>
                <a:ext cx="503116" cy="1790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Ichor &lt; Thr(%)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038719" y="4427220"/>
            <a:ext cx="1878337" cy="716280"/>
            <a:chOff x="0" y="0"/>
            <a:chExt cx="494766" cy="1886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5088" y="4427220"/>
            <a:ext cx="1878337" cy="716280"/>
            <a:chOff x="0" y="0"/>
            <a:chExt cx="494766" cy="1886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58813" y="4427220"/>
            <a:ext cx="1878337" cy="716280"/>
            <a:chOff x="0" y="0"/>
            <a:chExt cx="494766" cy="1886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2994" y="6551274"/>
            <a:ext cx="2257673" cy="1486753"/>
            <a:chOff x="0" y="-144643"/>
            <a:chExt cx="3010231" cy="1982338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-144643"/>
              <a:ext cx="3010231" cy="1982338"/>
              <a:chOff x="0" y="-28575"/>
              <a:chExt cx="594686" cy="39162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4686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363046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311608"/>
                    </a:lnTo>
                    <a:cubicBezTo>
                      <a:pt x="594686" y="340016"/>
                      <a:pt x="571657" y="363046"/>
                      <a:pt x="543249" y="363046"/>
                    </a:cubicBezTo>
                    <a:lnTo>
                      <a:pt x="51437" y="363046"/>
                    </a:lnTo>
                    <a:cubicBezTo>
                      <a:pt x="37795" y="363046"/>
                      <a:pt x="24712" y="357626"/>
                      <a:pt x="15066" y="347980"/>
                    </a:cubicBezTo>
                    <a:cubicBezTo>
                      <a:pt x="5419" y="338334"/>
                      <a:pt x="0" y="325250"/>
                      <a:pt x="0" y="31160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94686" cy="3517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4462" y="213380"/>
              <a:ext cx="2744346" cy="812297"/>
              <a:chOff x="0" y="0"/>
              <a:chExt cx="542093" cy="1604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04775"/>
                <a:ext cx="542093" cy="1566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GuardChance</a:t>
                </a: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 flipH="1">
            <a:off x="6977887" y="4209986"/>
            <a:ext cx="939169" cy="21723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664096" y="4218535"/>
            <a:ext cx="970161" cy="2086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736372" y="3879028"/>
            <a:ext cx="4452878" cy="60290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 flipH="1">
            <a:off x="1789963" y="4659645"/>
            <a:ext cx="809112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2599075" y="4659645"/>
            <a:ext cx="809112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 flipH="1">
            <a:off x="9052239" y="5143500"/>
            <a:ext cx="1582017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634256" y="5143500"/>
            <a:ext cx="1579676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5097981" y="5143500"/>
            <a:ext cx="870466" cy="33737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4" name="AutoShape 44"/>
          <p:cNvSpPr/>
          <p:nvPr/>
        </p:nvSpPr>
        <p:spPr>
          <a:xfrm flipH="1">
            <a:off x="14288869" y="5143500"/>
            <a:ext cx="809112" cy="40887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5" name="AutoShape 45"/>
          <p:cNvSpPr/>
          <p:nvPr/>
        </p:nvSpPr>
        <p:spPr>
          <a:xfrm flipH="1">
            <a:off x="10634256" y="5143500"/>
            <a:ext cx="0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11001830" y="8038027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1028700" y="5040929"/>
            <a:ext cx="1522526" cy="838988"/>
            <a:chOff x="0" y="0"/>
            <a:chExt cx="2030034" cy="111865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104775"/>
                <a:ext cx="352035" cy="144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290977" y="5460424"/>
            <a:ext cx="1522526" cy="838988"/>
            <a:chOff x="0" y="0"/>
            <a:chExt cx="2030034" cy="1118651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4775"/>
                <a:ext cx="361436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46924" y="5040929"/>
            <a:ext cx="1522526" cy="838988"/>
            <a:chOff x="0" y="0"/>
            <a:chExt cx="2030034" cy="111865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422" y="153177"/>
              <a:ext cx="1857743" cy="812297"/>
              <a:chOff x="0" y="0"/>
              <a:chExt cx="366962" cy="1604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104775"/>
                <a:ext cx="366962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Strafe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72994" y="5460424"/>
            <a:ext cx="1522526" cy="838988"/>
            <a:chOff x="0" y="0"/>
            <a:chExt cx="2030034" cy="111865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104775"/>
                <a:ext cx="362507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1452669" y="5460424"/>
            <a:ext cx="1522526" cy="838988"/>
            <a:chOff x="0" y="0"/>
            <a:chExt cx="401043" cy="22099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01043" cy="220995"/>
            </a:xfrm>
            <a:custGeom>
              <a:avLst/>
              <a:gdLst/>
              <a:ahLst/>
              <a:cxnLst/>
              <a:rect l="l" t="t" r="r" b="b"/>
              <a:pathLst>
                <a:path w="401043" h="220995">
                  <a:moveTo>
                    <a:pt x="76274" y="0"/>
                  </a:moveTo>
                  <a:lnTo>
                    <a:pt x="324769" y="0"/>
                  </a:lnTo>
                  <a:cubicBezTo>
                    <a:pt x="344998" y="0"/>
                    <a:pt x="364399" y="8036"/>
                    <a:pt x="378703" y="22340"/>
                  </a:cubicBezTo>
                  <a:cubicBezTo>
                    <a:pt x="393007" y="36644"/>
                    <a:pt x="401043" y="56045"/>
                    <a:pt x="401043" y="76274"/>
                  </a:cubicBezTo>
                  <a:lnTo>
                    <a:pt x="401043" y="144721"/>
                  </a:lnTo>
                  <a:cubicBezTo>
                    <a:pt x="401043" y="164950"/>
                    <a:pt x="393007" y="184351"/>
                    <a:pt x="378703" y="198655"/>
                  </a:cubicBezTo>
                  <a:cubicBezTo>
                    <a:pt x="364399" y="212959"/>
                    <a:pt x="344998" y="220995"/>
                    <a:pt x="324769" y="220995"/>
                  </a:cubicBezTo>
                  <a:lnTo>
                    <a:pt x="76274" y="220995"/>
                  </a:lnTo>
                  <a:cubicBezTo>
                    <a:pt x="56045" y="220995"/>
                    <a:pt x="36644" y="212959"/>
                    <a:pt x="22340" y="198655"/>
                  </a:cubicBezTo>
                  <a:cubicBezTo>
                    <a:pt x="8036" y="184351"/>
                    <a:pt x="0" y="164950"/>
                    <a:pt x="0" y="144721"/>
                  </a:cubicBezTo>
                  <a:lnTo>
                    <a:pt x="0" y="76274"/>
                  </a:lnTo>
                  <a:cubicBezTo>
                    <a:pt x="0" y="56045"/>
                    <a:pt x="8036" y="36644"/>
                    <a:pt x="22340" y="22340"/>
                  </a:cubicBezTo>
                  <a:cubicBezTo>
                    <a:pt x="36644" y="8036"/>
                    <a:pt x="56045" y="0"/>
                    <a:pt x="7627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401043" cy="24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2994" y="8419312"/>
            <a:ext cx="2257673" cy="838988"/>
            <a:chOff x="0" y="0"/>
            <a:chExt cx="3010231" cy="1118651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104775"/>
                <a:ext cx="537540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2213932" y="6659756"/>
            <a:ext cx="2257673" cy="838988"/>
            <a:chOff x="0" y="0"/>
            <a:chExt cx="3010231" cy="111865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104775"/>
                <a:ext cx="527624" cy="1960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BasicAttack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92" name="AutoShape 92"/>
          <p:cNvSpPr/>
          <p:nvPr/>
        </p:nvSpPr>
        <p:spPr>
          <a:xfrm flipH="1">
            <a:off x="3625540" y="3879028"/>
            <a:ext cx="4232494" cy="91481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93" name="Group 93"/>
          <p:cNvGrpSpPr/>
          <p:nvPr/>
        </p:nvGrpSpPr>
        <p:grpSpPr>
          <a:xfrm>
            <a:off x="1110661" y="6274837"/>
            <a:ext cx="2298347" cy="2983463"/>
            <a:chOff x="0" y="0"/>
            <a:chExt cx="605400" cy="7858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26180" y="6274837"/>
            <a:ext cx="2298347" cy="2983463"/>
            <a:chOff x="0" y="0"/>
            <a:chExt cx="605400" cy="78586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102928" y="6274837"/>
            <a:ext cx="2298347" cy="2983463"/>
            <a:chOff x="0" y="0"/>
            <a:chExt cx="605400" cy="7858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0959" y="6434872"/>
            <a:ext cx="2077750" cy="609223"/>
            <a:chOff x="0" y="0"/>
            <a:chExt cx="547226" cy="16045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Cooldown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736478" y="6434872"/>
            <a:ext cx="2077750" cy="609223"/>
            <a:chOff x="0" y="0"/>
            <a:chExt cx="547226" cy="16045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· CD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213226" y="6434872"/>
            <a:ext cx="2077750" cy="609223"/>
            <a:chOff x="0" y="0"/>
            <a:chExt cx="547226" cy="16045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(Kite)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20959" y="7113306"/>
            <a:ext cx="2077750" cy="609223"/>
            <a:chOff x="0" y="0"/>
            <a:chExt cx="547226" cy="16045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BuffExpired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736478" y="7113306"/>
            <a:ext cx="2077750" cy="609223"/>
            <a:chOff x="0" y="0"/>
            <a:chExt cx="547226" cy="16045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3226" y="7113306"/>
            <a:ext cx="2077750" cy="609223"/>
            <a:chOff x="0" y="0"/>
            <a:chExt cx="547226" cy="16045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TooClose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220959" y="7789204"/>
            <a:ext cx="2077750" cy="609223"/>
            <a:chOff x="0" y="0"/>
            <a:chExt cx="547226" cy="16045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736478" y="7789204"/>
            <a:ext cx="2077750" cy="609223"/>
            <a:chOff x="0" y="0"/>
            <a:chExt cx="547226" cy="1604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213226" y="7789204"/>
            <a:ext cx="2077750" cy="609223"/>
            <a:chOff x="0" y="0"/>
            <a:chExt cx="547226" cy="16045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Stamina Enough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220959" y="8465102"/>
            <a:ext cx="2077750" cy="609223"/>
            <a:chOff x="0" y="0"/>
            <a:chExt cx="547226" cy="1604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UseSkill_Buff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3736478" y="8465102"/>
            <a:ext cx="2077750" cy="609223"/>
            <a:chOff x="0" y="0"/>
            <a:chExt cx="547226" cy="16045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UseSkill_Atk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213226" y="8465102"/>
            <a:ext cx="2077750" cy="609223"/>
            <a:chOff x="0" y="0"/>
            <a:chExt cx="547226" cy="16045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MoveAway</a:t>
              </a:r>
            </a:p>
          </p:txBody>
        </p:sp>
      </p:grpSp>
      <p:sp>
        <p:nvSpPr>
          <p:cNvPr id="138" name="AutoShape 138"/>
          <p:cNvSpPr/>
          <p:nvPr/>
        </p:nvSpPr>
        <p:spPr>
          <a:xfrm flipH="1">
            <a:off x="2259834" y="5143500"/>
            <a:ext cx="4718053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9" name="AutoShape 139"/>
          <p:cNvSpPr/>
          <p:nvPr/>
        </p:nvSpPr>
        <p:spPr>
          <a:xfrm flipH="1">
            <a:off x="4775353" y="5143500"/>
            <a:ext cx="2202534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0" name="AutoShape 140"/>
          <p:cNvSpPr/>
          <p:nvPr/>
        </p:nvSpPr>
        <p:spPr>
          <a:xfrm>
            <a:off x="6977887" y="5143500"/>
            <a:ext cx="277114" cy="115016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1" name="AutoShape 141"/>
          <p:cNvSpPr/>
          <p:nvPr/>
        </p:nvSpPr>
        <p:spPr>
          <a:xfrm flipH="1">
            <a:off x="11001830" y="6299412"/>
            <a:ext cx="1212102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AutoShape 142"/>
          <p:cNvSpPr/>
          <p:nvPr/>
        </p:nvSpPr>
        <p:spPr>
          <a:xfrm>
            <a:off x="12213932" y="6299412"/>
            <a:ext cx="1128837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3" name="Group 143"/>
          <p:cNvGrpSpPr/>
          <p:nvPr/>
        </p:nvGrpSpPr>
        <p:grpSpPr>
          <a:xfrm>
            <a:off x="13527606" y="5460424"/>
            <a:ext cx="1522526" cy="838988"/>
            <a:chOff x="0" y="0"/>
            <a:chExt cx="2030034" cy="1118651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97422" y="153177"/>
              <a:ext cx="1847102" cy="812297"/>
              <a:chOff x="0" y="0"/>
              <a:chExt cx="364860" cy="16045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104775"/>
                <a:ext cx="364860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50" name="Group 150"/>
          <p:cNvGrpSpPr/>
          <p:nvPr/>
        </p:nvGrpSpPr>
        <p:grpSpPr>
          <a:xfrm>
            <a:off x="15145831" y="5460424"/>
            <a:ext cx="1522526" cy="838988"/>
            <a:chOff x="0" y="0"/>
            <a:chExt cx="2030034" cy="1118651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97422" y="153177"/>
              <a:ext cx="1856933" cy="812297"/>
              <a:chOff x="0" y="0"/>
              <a:chExt cx="366802" cy="160454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104775"/>
                <a:ext cx="366802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Wait</a:t>
                </a:r>
              </a:p>
            </p:txBody>
          </p:sp>
        </p:grpSp>
      </p:grpSp>
      <p:sp>
        <p:nvSpPr>
          <p:cNvPr id="161" name="Rectangle 160"/>
          <p:cNvSpPr/>
          <p:nvPr/>
        </p:nvSpPr>
        <p:spPr>
          <a:xfrm>
            <a:off x="3934259" y="2964868"/>
            <a:ext cx="11368906" cy="15544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7" name="Group 157"/>
          <p:cNvGrpSpPr/>
          <p:nvPr/>
        </p:nvGrpSpPr>
        <p:grpSpPr>
          <a:xfrm>
            <a:off x="3934259" y="2856372"/>
            <a:ext cx="11486564" cy="1662976"/>
            <a:chOff x="0" y="-28575"/>
            <a:chExt cx="3025268" cy="437985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2994280" cy="409410"/>
            </a:xfrm>
            <a:custGeom>
              <a:avLst/>
              <a:gdLst/>
              <a:ahLst/>
              <a:cxnLst/>
              <a:rect l="l" t="t" r="r" b="b"/>
              <a:pathLst>
                <a:path w="2994280" h="409410">
                  <a:moveTo>
                    <a:pt x="0" y="0"/>
                  </a:moveTo>
                  <a:lnTo>
                    <a:pt x="2994280" y="0"/>
                  </a:lnTo>
                  <a:lnTo>
                    <a:pt x="2994280" y="409410"/>
                  </a:lnTo>
                  <a:lnTo>
                    <a:pt x="0" y="409410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30988" y="-28575"/>
              <a:ext cx="2994280" cy="43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 명혈 관리 (자원 사이클)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로직 : 명혈이 임계값(MaxIchor × Thr%) 미만이면 모든 연혈 시도를 중단한다.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 : UpdateSpeed로 속도를 낮추고 Strafe로 돌며 평타로 명혈을 다시 모은다.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의도 : 명혈은 평타로만 수급하므로 난사하면 자원이 말라 평타 구간이 강제된다.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18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163" name="AutoShape 10">
            <a:extLst>
              <a:ext uri="{FF2B5EF4-FFF2-40B4-BE49-F238E27FC236}">
                <a16:creationId xmlns:a16="http://schemas.microsoft.com/office/drawing/2014/main" id="{E2978B97-DA46-906F-F8C6-31B801C6E614}"/>
              </a:ext>
            </a:extLst>
          </p:cNvPr>
          <p:cNvSpPr/>
          <p:nvPr/>
        </p:nvSpPr>
        <p:spPr>
          <a:xfrm>
            <a:off x="8686800" y="1968672"/>
            <a:ext cx="0" cy="372795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64" name="Group 4">
            <a:extLst>
              <a:ext uri="{FF2B5EF4-FFF2-40B4-BE49-F238E27FC236}">
                <a16:creationId xmlns:a16="http://schemas.microsoft.com/office/drawing/2014/main" id="{EEABE95A-A227-7411-2BF6-2DE31F19513C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65" name="Freeform 5">
              <a:extLst>
                <a:ext uri="{FF2B5EF4-FFF2-40B4-BE49-F238E27FC236}">
                  <a16:creationId xmlns:a16="http://schemas.microsoft.com/office/drawing/2014/main" id="{00ACE39C-7F65-3DDD-EFB9-0392508A1C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4F1D618-1A67-2D53-1C0D-E7A8E99BBCF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07C1AF80-761B-B630-8299-BAA5A2A77927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3556" y="2347855"/>
            <a:ext cx="1882816" cy="982980"/>
            <a:chOff x="0" y="0"/>
            <a:chExt cx="495946" cy="25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946" cy="258923"/>
            </a:xfrm>
            <a:custGeom>
              <a:avLst/>
              <a:gdLst/>
              <a:ahLst/>
              <a:cxnLst/>
              <a:rect l="l" t="t" r="r" b="b"/>
              <a:pathLst>
                <a:path w="495946" h="258923">
                  <a:moveTo>
                    <a:pt x="61678" y="0"/>
                  </a:moveTo>
                  <a:lnTo>
                    <a:pt x="434268" y="0"/>
                  </a:lnTo>
                  <a:cubicBezTo>
                    <a:pt x="450626" y="0"/>
                    <a:pt x="466314" y="6498"/>
                    <a:pt x="477881" y="18065"/>
                  </a:cubicBezTo>
                  <a:cubicBezTo>
                    <a:pt x="489448" y="29632"/>
                    <a:pt x="495946" y="45320"/>
                    <a:pt x="495946" y="61678"/>
                  </a:cubicBezTo>
                  <a:lnTo>
                    <a:pt x="495946" y="197245"/>
                  </a:lnTo>
                  <a:cubicBezTo>
                    <a:pt x="495946" y="213603"/>
                    <a:pt x="489448" y="229291"/>
                    <a:pt x="477881" y="240858"/>
                  </a:cubicBezTo>
                  <a:cubicBezTo>
                    <a:pt x="466314" y="252425"/>
                    <a:pt x="450626" y="258923"/>
                    <a:pt x="434268" y="258923"/>
                  </a:cubicBezTo>
                  <a:lnTo>
                    <a:pt x="61678" y="258923"/>
                  </a:lnTo>
                  <a:cubicBezTo>
                    <a:pt x="45320" y="258923"/>
                    <a:pt x="29632" y="252425"/>
                    <a:pt x="18065" y="240858"/>
                  </a:cubicBezTo>
                  <a:cubicBezTo>
                    <a:pt x="6498" y="229291"/>
                    <a:pt x="0" y="213603"/>
                    <a:pt x="0" y="197245"/>
                  </a:cubicBezTo>
                  <a:lnTo>
                    <a:pt x="0" y="61678"/>
                  </a:lnTo>
                  <a:cubicBezTo>
                    <a:pt x="0" y="45320"/>
                    <a:pt x="6498" y="29632"/>
                    <a:pt x="18065" y="18065"/>
                  </a:cubicBezTo>
                  <a:cubicBezTo>
                    <a:pt x="29632" y="6498"/>
                    <a:pt x="45320" y="0"/>
                    <a:pt x="61678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95946" cy="28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[Combat]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034" y="3520888"/>
            <a:ext cx="1878337" cy="716280"/>
            <a:chOff x="0" y="0"/>
            <a:chExt cx="494766" cy="1886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2610" y="3281373"/>
            <a:ext cx="2052931" cy="1378271"/>
            <a:chOff x="0" y="0"/>
            <a:chExt cx="2737241" cy="183769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737241" cy="1837695"/>
              <a:chOff x="0" y="0"/>
              <a:chExt cx="540755" cy="363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40755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40755" h="363046">
                    <a:moveTo>
                      <a:pt x="56567" y="0"/>
                    </a:moveTo>
                    <a:lnTo>
                      <a:pt x="484188" y="0"/>
                    </a:lnTo>
                    <a:cubicBezTo>
                      <a:pt x="499191" y="0"/>
                      <a:pt x="513579" y="5960"/>
                      <a:pt x="524187" y="16568"/>
                    </a:cubicBezTo>
                    <a:cubicBezTo>
                      <a:pt x="534796" y="27177"/>
                      <a:pt x="540755" y="41565"/>
                      <a:pt x="540755" y="56567"/>
                    </a:cubicBezTo>
                    <a:lnTo>
                      <a:pt x="540755" y="306478"/>
                    </a:lnTo>
                    <a:cubicBezTo>
                      <a:pt x="540755" y="337720"/>
                      <a:pt x="515429" y="363046"/>
                      <a:pt x="484188" y="363046"/>
                    </a:cubicBezTo>
                    <a:lnTo>
                      <a:pt x="56567" y="363046"/>
                    </a:lnTo>
                    <a:cubicBezTo>
                      <a:pt x="41565" y="363046"/>
                      <a:pt x="27177" y="357086"/>
                      <a:pt x="16568" y="346477"/>
                    </a:cubicBezTo>
                    <a:cubicBezTo>
                      <a:pt x="5960" y="335869"/>
                      <a:pt x="0" y="321481"/>
                      <a:pt x="0" y="306478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40755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31361" y="213380"/>
              <a:ext cx="2474519" cy="812297"/>
              <a:chOff x="0" y="0"/>
              <a:chExt cx="488794" cy="1604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8794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488794" h="160454">
                    <a:moveTo>
                      <a:pt x="41715" y="0"/>
                    </a:moveTo>
                    <a:lnTo>
                      <a:pt x="447078" y="0"/>
                    </a:lnTo>
                    <a:cubicBezTo>
                      <a:pt x="458142" y="0"/>
                      <a:pt x="468752" y="4395"/>
                      <a:pt x="476576" y="12218"/>
                    </a:cubicBezTo>
                    <a:cubicBezTo>
                      <a:pt x="484399" y="20041"/>
                      <a:pt x="488794" y="30652"/>
                      <a:pt x="488794" y="41715"/>
                    </a:cubicBezTo>
                    <a:lnTo>
                      <a:pt x="488794" y="118738"/>
                    </a:lnTo>
                    <a:cubicBezTo>
                      <a:pt x="488794" y="141777"/>
                      <a:pt x="470117" y="160454"/>
                      <a:pt x="447078" y="160454"/>
                    </a:cubicBezTo>
                    <a:lnTo>
                      <a:pt x="41715" y="160454"/>
                    </a:lnTo>
                    <a:cubicBezTo>
                      <a:pt x="30652" y="160454"/>
                      <a:pt x="20041" y="156059"/>
                      <a:pt x="12218" y="148236"/>
                    </a:cubicBezTo>
                    <a:cubicBezTo>
                      <a:pt x="4395" y="140412"/>
                      <a:pt x="0" y="129802"/>
                      <a:pt x="0" y="118738"/>
                    </a:cubicBezTo>
                    <a:lnTo>
                      <a:pt x="0" y="41715"/>
                    </a:lnTo>
                    <a:cubicBezTo>
                      <a:pt x="0" y="30652"/>
                      <a:pt x="4395" y="20041"/>
                      <a:pt x="12218" y="12218"/>
                    </a:cubicBezTo>
                    <a:cubicBezTo>
                      <a:pt x="20041" y="4395"/>
                      <a:pt x="30652" y="0"/>
                      <a:pt x="41715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04775"/>
                <a:ext cx="488794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Ichor &lt; Thr(%)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038719" y="4318738"/>
            <a:ext cx="1878337" cy="824762"/>
            <a:chOff x="0" y="-28575"/>
            <a:chExt cx="494766" cy="2172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87237" cy="177701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5088" y="4318738"/>
            <a:ext cx="1878337" cy="824762"/>
            <a:chOff x="0" y="-28575"/>
            <a:chExt cx="494766" cy="217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94766" cy="177701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58813" y="4318738"/>
            <a:ext cx="1878337" cy="824762"/>
            <a:chOff x="0" y="-28575"/>
            <a:chExt cx="494766" cy="217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94766" cy="177701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2994" y="6659756"/>
            <a:ext cx="2257673" cy="1378271"/>
            <a:chOff x="0" y="0"/>
            <a:chExt cx="3010231" cy="183769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010231" cy="1837695"/>
              <a:chOff x="0" y="0"/>
              <a:chExt cx="594686" cy="36304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4686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363046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311608"/>
                    </a:lnTo>
                    <a:cubicBezTo>
                      <a:pt x="594686" y="340016"/>
                      <a:pt x="571657" y="363046"/>
                      <a:pt x="543249" y="363046"/>
                    </a:cubicBezTo>
                    <a:lnTo>
                      <a:pt x="51437" y="363046"/>
                    </a:lnTo>
                    <a:cubicBezTo>
                      <a:pt x="37795" y="363046"/>
                      <a:pt x="24712" y="357626"/>
                      <a:pt x="15066" y="347980"/>
                    </a:cubicBezTo>
                    <a:cubicBezTo>
                      <a:pt x="5419" y="338334"/>
                      <a:pt x="0" y="325250"/>
                      <a:pt x="0" y="31160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94686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4462" y="213380"/>
              <a:ext cx="2721307" cy="812297"/>
              <a:chOff x="0" y="0"/>
              <a:chExt cx="537542" cy="1604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04775"/>
                <a:ext cx="537542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GuardChance</a:t>
                </a: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 flipH="1">
            <a:off x="6977887" y="4209986"/>
            <a:ext cx="939169" cy="21723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664096" y="4218535"/>
            <a:ext cx="970161" cy="2086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736372" y="3879028"/>
            <a:ext cx="4452878" cy="60290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 flipH="1">
            <a:off x="1789963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2599075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AutoShape 41"/>
          <p:cNvSpPr/>
          <p:nvPr/>
        </p:nvSpPr>
        <p:spPr>
          <a:xfrm flipH="1">
            <a:off x="9052239" y="5143500"/>
            <a:ext cx="1582017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10634256" y="5143500"/>
            <a:ext cx="1579676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15097981" y="5143500"/>
            <a:ext cx="870466" cy="33737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AutoShape 44"/>
          <p:cNvSpPr/>
          <p:nvPr/>
        </p:nvSpPr>
        <p:spPr>
          <a:xfrm flipH="1">
            <a:off x="14288869" y="5143500"/>
            <a:ext cx="809112" cy="40887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AutoShape 45"/>
          <p:cNvSpPr/>
          <p:nvPr/>
        </p:nvSpPr>
        <p:spPr>
          <a:xfrm flipH="1">
            <a:off x="10634256" y="5143500"/>
            <a:ext cx="0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11001830" y="8038027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47" name="Group 47"/>
          <p:cNvGrpSpPr/>
          <p:nvPr/>
        </p:nvGrpSpPr>
        <p:grpSpPr>
          <a:xfrm>
            <a:off x="1028700" y="5040929"/>
            <a:ext cx="1522526" cy="838988"/>
            <a:chOff x="0" y="0"/>
            <a:chExt cx="2030034" cy="111865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290977" y="5460424"/>
            <a:ext cx="1522526" cy="838988"/>
            <a:chOff x="0" y="0"/>
            <a:chExt cx="2030034" cy="1118651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46924" y="5040929"/>
            <a:ext cx="1522526" cy="838988"/>
            <a:chOff x="0" y="0"/>
            <a:chExt cx="2030034" cy="111865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Strafe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72994" y="5460424"/>
            <a:ext cx="1522526" cy="838988"/>
            <a:chOff x="0" y="0"/>
            <a:chExt cx="2030034" cy="111865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1452669" y="5460424"/>
            <a:ext cx="1522526" cy="838988"/>
            <a:chOff x="0" y="0"/>
            <a:chExt cx="401043" cy="22099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01043" cy="220995"/>
            </a:xfrm>
            <a:custGeom>
              <a:avLst/>
              <a:gdLst/>
              <a:ahLst/>
              <a:cxnLst/>
              <a:rect l="l" t="t" r="r" b="b"/>
              <a:pathLst>
                <a:path w="401043" h="220995">
                  <a:moveTo>
                    <a:pt x="76274" y="0"/>
                  </a:moveTo>
                  <a:lnTo>
                    <a:pt x="324769" y="0"/>
                  </a:lnTo>
                  <a:cubicBezTo>
                    <a:pt x="344998" y="0"/>
                    <a:pt x="364399" y="8036"/>
                    <a:pt x="378703" y="22340"/>
                  </a:cubicBezTo>
                  <a:cubicBezTo>
                    <a:pt x="393007" y="36644"/>
                    <a:pt x="401043" y="56045"/>
                    <a:pt x="401043" y="76274"/>
                  </a:cubicBezTo>
                  <a:lnTo>
                    <a:pt x="401043" y="144721"/>
                  </a:lnTo>
                  <a:cubicBezTo>
                    <a:pt x="401043" y="164950"/>
                    <a:pt x="393007" y="184351"/>
                    <a:pt x="378703" y="198655"/>
                  </a:cubicBezTo>
                  <a:cubicBezTo>
                    <a:pt x="364399" y="212959"/>
                    <a:pt x="344998" y="220995"/>
                    <a:pt x="324769" y="220995"/>
                  </a:cubicBezTo>
                  <a:lnTo>
                    <a:pt x="76274" y="220995"/>
                  </a:lnTo>
                  <a:cubicBezTo>
                    <a:pt x="56045" y="220995"/>
                    <a:pt x="36644" y="212959"/>
                    <a:pt x="22340" y="198655"/>
                  </a:cubicBezTo>
                  <a:cubicBezTo>
                    <a:pt x="8036" y="184351"/>
                    <a:pt x="0" y="164950"/>
                    <a:pt x="0" y="144721"/>
                  </a:cubicBezTo>
                  <a:lnTo>
                    <a:pt x="0" y="76274"/>
                  </a:lnTo>
                  <a:cubicBezTo>
                    <a:pt x="0" y="56045"/>
                    <a:pt x="8036" y="36644"/>
                    <a:pt x="22340" y="22340"/>
                  </a:cubicBezTo>
                  <a:cubicBezTo>
                    <a:pt x="36644" y="8036"/>
                    <a:pt x="56045" y="0"/>
                    <a:pt x="7627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401043" cy="24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2994" y="8419312"/>
            <a:ext cx="2257673" cy="838988"/>
            <a:chOff x="0" y="0"/>
            <a:chExt cx="3010231" cy="1118651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104775"/>
                <a:ext cx="537542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2213932" y="6659756"/>
            <a:ext cx="2257673" cy="838988"/>
            <a:chOff x="0" y="0"/>
            <a:chExt cx="3010231" cy="111865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104775"/>
                <a:ext cx="537542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BasicAttack</a:t>
                </a:r>
              </a:p>
            </p:txBody>
          </p:sp>
        </p:grpSp>
      </p:grpSp>
      <p:sp>
        <p:nvSpPr>
          <p:cNvPr id="92" name="AutoShape 92"/>
          <p:cNvSpPr/>
          <p:nvPr/>
        </p:nvSpPr>
        <p:spPr>
          <a:xfrm flipH="1">
            <a:off x="3625540" y="3879028"/>
            <a:ext cx="4232494" cy="91481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93" name="Group 93"/>
          <p:cNvGrpSpPr/>
          <p:nvPr/>
        </p:nvGrpSpPr>
        <p:grpSpPr>
          <a:xfrm>
            <a:off x="1110661" y="6274837"/>
            <a:ext cx="2298347" cy="2983463"/>
            <a:chOff x="0" y="0"/>
            <a:chExt cx="605400" cy="7858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26180" y="6274837"/>
            <a:ext cx="2298347" cy="2983463"/>
            <a:chOff x="0" y="0"/>
            <a:chExt cx="605400" cy="78586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102928" y="6274837"/>
            <a:ext cx="2298347" cy="2983463"/>
            <a:chOff x="0" y="0"/>
            <a:chExt cx="605400" cy="7858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0959" y="6434872"/>
            <a:ext cx="2077750" cy="609223"/>
            <a:chOff x="0" y="0"/>
            <a:chExt cx="547226" cy="16045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104775"/>
              <a:ext cx="547226" cy="254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Cooldown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736478" y="6434872"/>
            <a:ext cx="2077750" cy="609223"/>
            <a:chOff x="0" y="0"/>
            <a:chExt cx="547226" cy="16045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· CD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213226" y="6434872"/>
            <a:ext cx="2077750" cy="609223"/>
            <a:chOff x="0" y="0"/>
            <a:chExt cx="547226" cy="16045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(Kite)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20959" y="7113306"/>
            <a:ext cx="2077750" cy="609223"/>
            <a:chOff x="0" y="0"/>
            <a:chExt cx="547226" cy="16045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BuffExpired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736478" y="7113306"/>
            <a:ext cx="2077750" cy="609223"/>
            <a:chOff x="0" y="0"/>
            <a:chExt cx="547226" cy="16045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3226" y="7113306"/>
            <a:ext cx="2077750" cy="609223"/>
            <a:chOff x="0" y="0"/>
            <a:chExt cx="547226" cy="16045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TooClose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220959" y="7789204"/>
            <a:ext cx="2077750" cy="609223"/>
            <a:chOff x="0" y="0"/>
            <a:chExt cx="547226" cy="16045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104775"/>
              <a:ext cx="547226" cy="16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736478" y="7789204"/>
            <a:ext cx="2077750" cy="609223"/>
            <a:chOff x="0" y="0"/>
            <a:chExt cx="547226" cy="1604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104775"/>
              <a:ext cx="547226" cy="16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213226" y="7789204"/>
            <a:ext cx="2077750" cy="609223"/>
            <a:chOff x="0" y="0"/>
            <a:chExt cx="547226" cy="16045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Stamina Enough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220959" y="8465102"/>
            <a:ext cx="2077750" cy="609223"/>
            <a:chOff x="0" y="0"/>
            <a:chExt cx="547226" cy="1604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UseSkill_Buff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3736478" y="8465102"/>
            <a:ext cx="2077750" cy="609223"/>
            <a:chOff x="0" y="0"/>
            <a:chExt cx="547226" cy="16045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UseSkill_Atk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213226" y="8465102"/>
            <a:ext cx="2077750" cy="609223"/>
            <a:chOff x="0" y="0"/>
            <a:chExt cx="547226" cy="16045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104775"/>
              <a:ext cx="547226" cy="1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MoveAway</a:t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38" name="AutoShape 138"/>
          <p:cNvSpPr/>
          <p:nvPr/>
        </p:nvSpPr>
        <p:spPr>
          <a:xfrm flipH="1">
            <a:off x="2259834" y="5143500"/>
            <a:ext cx="4718053" cy="1131337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9" name="AutoShape 139"/>
          <p:cNvSpPr/>
          <p:nvPr/>
        </p:nvSpPr>
        <p:spPr>
          <a:xfrm flipH="1">
            <a:off x="4775353" y="5143500"/>
            <a:ext cx="2202534" cy="1131337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0" name="AutoShape 140"/>
          <p:cNvSpPr/>
          <p:nvPr/>
        </p:nvSpPr>
        <p:spPr>
          <a:xfrm>
            <a:off x="6977887" y="5143500"/>
            <a:ext cx="277114" cy="115016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1" name="AutoShape 141"/>
          <p:cNvSpPr/>
          <p:nvPr/>
        </p:nvSpPr>
        <p:spPr>
          <a:xfrm flipH="1">
            <a:off x="11001830" y="6299412"/>
            <a:ext cx="1212102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2" name="AutoShape 142"/>
          <p:cNvSpPr/>
          <p:nvPr/>
        </p:nvSpPr>
        <p:spPr>
          <a:xfrm>
            <a:off x="12213932" y="6299412"/>
            <a:ext cx="1128837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43" name="Group 143"/>
          <p:cNvGrpSpPr/>
          <p:nvPr/>
        </p:nvGrpSpPr>
        <p:grpSpPr>
          <a:xfrm>
            <a:off x="13527606" y="5460424"/>
            <a:ext cx="1522526" cy="838988"/>
            <a:chOff x="0" y="0"/>
            <a:chExt cx="2030034" cy="1118651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</a:p>
            </p:txBody>
          </p:sp>
        </p:grpSp>
      </p:grpSp>
      <p:grpSp>
        <p:nvGrpSpPr>
          <p:cNvPr id="150" name="Group 150"/>
          <p:cNvGrpSpPr/>
          <p:nvPr/>
        </p:nvGrpSpPr>
        <p:grpSpPr>
          <a:xfrm>
            <a:off x="15145831" y="5460424"/>
            <a:ext cx="1522526" cy="838988"/>
            <a:chOff x="0" y="0"/>
            <a:chExt cx="2030034" cy="1118651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104775"/>
                <a:ext cx="362507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Wait</a:t>
                </a:r>
              </a:p>
            </p:txBody>
          </p:sp>
        </p:grpSp>
      </p:grpSp>
      <p:sp>
        <p:nvSpPr>
          <p:cNvPr id="161" name="Rectangle 160"/>
          <p:cNvSpPr/>
          <p:nvPr/>
        </p:nvSpPr>
        <p:spPr>
          <a:xfrm>
            <a:off x="8794964" y="6611914"/>
            <a:ext cx="8604036" cy="2558586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7" name="Group 157"/>
          <p:cNvGrpSpPr/>
          <p:nvPr/>
        </p:nvGrpSpPr>
        <p:grpSpPr>
          <a:xfrm>
            <a:off x="8794963" y="6503418"/>
            <a:ext cx="8724472" cy="2667082"/>
            <a:chOff x="0" y="-28575"/>
            <a:chExt cx="2260495" cy="648711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2229290" cy="620136"/>
            </a:xfrm>
            <a:custGeom>
              <a:avLst/>
              <a:gdLst/>
              <a:ahLst/>
              <a:cxnLst/>
              <a:rect l="l" t="t" r="r" b="b"/>
              <a:pathLst>
                <a:path w="2229290" h="620136">
                  <a:moveTo>
                    <a:pt x="0" y="0"/>
                  </a:moveTo>
                  <a:lnTo>
                    <a:pt x="2229290" y="0"/>
                  </a:lnTo>
                  <a:lnTo>
                    <a:pt x="2229290" y="620136"/>
                  </a:lnTo>
                  <a:lnTo>
                    <a:pt x="0" y="620136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31205" y="-28575"/>
              <a:ext cx="2229290" cy="648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 연혈 사용 (버프 우선 · 공격 후순위)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로직 : 본편 76p 우선순위대로 버프를 먼저, 그다음 공격 연혈을 시도한다.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분기 : 액티브 2종을 UseSkill_Buff / UseSkill_Atk 로 나눈다. 세 번째는 이탈(MoveAway).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데코레이터(조건)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AutoNum type="arabicPeriod"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: AtkSkillChance / BuffSkillChance 주입. 공격 사이클당 1번만 굴린다.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AutoNum type="arabicPeriod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 : SkillRange_Min~Max 안일 때 발동. 버프는 BuffExpired로 판정.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AutoNum type="arabicPeriod"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 / Cooldown : 소비 명혈과 쿨타임(5~60초)을 사전 체크한다.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19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165" name="AutoShape 12">
            <a:extLst>
              <a:ext uri="{FF2B5EF4-FFF2-40B4-BE49-F238E27FC236}">
                <a16:creationId xmlns:a16="http://schemas.microsoft.com/office/drawing/2014/main" id="{B9A367C5-BA4F-47EA-A36A-0267749FF95E}"/>
              </a:ext>
            </a:extLst>
          </p:cNvPr>
          <p:cNvSpPr/>
          <p:nvPr/>
        </p:nvSpPr>
        <p:spPr>
          <a:xfrm>
            <a:off x="8794964" y="3330835"/>
            <a:ext cx="2239" cy="19005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Group 4">
            <a:extLst>
              <a:ext uri="{FF2B5EF4-FFF2-40B4-BE49-F238E27FC236}">
                <a16:creationId xmlns:a16="http://schemas.microsoft.com/office/drawing/2014/main" id="{3D49E4A0-3341-0AFA-EEC1-F12989A06378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43097BFB-0344-341C-EB04-2C25DA78F8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7977E6B-B794-703D-DC8B-6A89603E025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7E7324D3-1795-B6F1-FC21-434FCDA9884E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40A0DED0-A6C4-11BC-1D38-03AEAEA70344}"/>
              </a:ext>
            </a:extLst>
          </p:cNvPr>
          <p:cNvSpPr/>
          <p:nvPr/>
        </p:nvSpPr>
        <p:spPr>
          <a:xfrm>
            <a:off x="8686800" y="1968672"/>
            <a:ext cx="0" cy="372795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3556" y="2347855"/>
            <a:ext cx="1882816" cy="982980"/>
            <a:chOff x="0" y="0"/>
            <a:chExt cx="495946" cy="25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946" cy="258923"/>
            </a:xfrm>
            <a:custGeom>
              <a:avLst/>
              <a:gdLst/>
              <a:ahLst/>
              <a:cxnLst/>
              <a:rect l="l" t="t" r="r" b="b"/>
              <a:pathLst>
                <a:path w="495946" h="258923">
                  <a:moveTo>
                    <a:pt x="61678" y="0"/>
                  </a:moveTo>
                  <a:lnTo>
                    <a:pt x="434268" y="0"/>
                  </a:lnTo>
                  <a:cubicBezTo>
                    <a:pt x="450626" y="0"/>
                    <a:pt x="466314" y="6498"/>
                    <a:pt x="477881" y="18065"/>
                  </a:cubicBezTo>
                  <a:cubicBezTo>
                    <a:pt x="489448" y="29632"/>
                    <a:pt x="495946" y="45320"/>
                    <a:pt x="495946" y="61678"/>
                  </a:cubicBezTo>
                  <a:lnTo>
                    <a:pt x="495946" y="197245"/>
                  </a:lnTo>
                  <a:cubicBezTo>
                    <a:pt x="495946" y="213603"/>
                    <a:pt x="489448" y="229291"/>
                    <a:pt x="477881" y="240858"/>
                  </a:cubicBezTo>
                  <a:cubicBezTo>
                    <a:pt x="466314" y="252425"/>
                    <a:pt x="450626" y="258923"/>
                    <a:pt x="434268" y="258923"/>
                  </a:cubicBezTo>
                  <a:lnTo>
                    <a:pt x="61678" y="258923"/>
                  </a:lnTo>
                  <a:cubicBezTo>
                    <a:pt x="45320" y="258923"/>
                    <a:pt x="29632" y="252425"/>
                    <a:pt x="18065" y="240858"/>
                  </a:cubicBezTo>
                  <a:cubicBezTo>
                    <a:pt x="6498" y="229291"/>
                    <a:pt x="0" y="213603"/>
                    <a:pt x="0" y="197245"/>
                  </a:cubicBezTo>
                  <a:lnTo>
                    <a:pt x="0" y="61678"/>
                  </a:lnTo>
                  <a:cubicBezTo>
                    <a:pt x="0" y="45320"/>
                    <a:pt x="6498" y="29632"/>
                    <a:pt x="18065" y="18065"/>
                  </a:cubicBezTo>
                  <a:cubicBezTo>
                    <a:pt x="29632" y="6498"/>
                    <a:pt x="45320" y="0"/>
                    <a:pt x="61678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95946" cy="28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[Combat]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034" y="3520888"/>
            <a:ext cx="1878337" cy="716280"/>
            <a:chOff x="0" y="0"/>
            <a:chExt cx="494766" cy="1886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2610" y="3172891"/>
            <a:ext cx="2052931" cy="1486753"/>
            <a:chOff x="0" y="-144643"/>
            <a:chExt cx="2737241" cy="198233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-144643"/>
              <a:ext cx="2737241" cy="1982338"/>
              <a:chOff x="0" y="-28575"/>
              <a:chExt cx="540755" cy="39162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40755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40755" h="363046">
                    <a:moveTo>
                      <a:pt x="56567" y="0"/>
                    </a:moveTo>
                    <a:lnTo>
                      <a:pt x="484188" y="0"/>
                    </a:lnTo>
                    <a:cubicBezTo>
                      <a:pt x="499191" y="0"/>
                      <a:pt x="513579" y="5960"/>
                      <a:pt x="524187" y="16568"/>
                    </a:cubicBezTo>
                    <a:cubicBezTo>
                      <a:pt x="534796" y="27177"/>
                      <a:pt x="540755" y="41565"/>
                      <a:pt x="540755" y="56567"/>
                    </a:cubicBezTo>
                    <a:lnTo>
                      <a:pt x="540755" y="306478"/>
                    </a:lnTo>
                    <a:cubicBezTo>
                      <a:pt x="540755" y="337720"/>
                      <a:pt x="515429" y="363046"/>
                      <a:pt x="484188" y="363046"/>
                    </a:cubicBezTo>
                    <a:lnTo>
                      <a:pt x="56567" y="363046"/>
                    </a:lnTo>
                    <a:cubicBezTo>
                      <a:pt x="41565" y="363046"/>
                      <a:pt x="27177" y="357086"/>
                      <a:pt x="16568" y="346477"/>
                    </a:cubicBezTo>
                    <a:cubicBezTo>
                      <a:pt x="5960" y="335869"/>
                      <a:pt x="0" y="321481"/>
                      <a:pt x="0" y="306478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40754" cy="364604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31361" y="213380"/>
              <a:ext cx="2474519" cy="812297"/>
              <a:chOff x="0" y="0"/>
              <a:chExt cx="488794" cy="1604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8794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488794" h="160454">
                    <a:moveTo>
                      <a:pt x="41715" y="0"/>
                    </a:moveTo>
                    <a:lnTo>
                      <a:pt x="447078" y="0"/>
                    </a:lnTo>
                    <a:cubicBezTo>
                      <a:pt x="458142" y="0"/>
                      <a:pt x="468752" y="4395"/>
                      <a:pt x="476576" y="12218"/>
                    </a:cubicBezTo>
                    <a:cubicBezTo>
                      <a:pt x="484399" y="20041"/>
                      <a:pt x="488794" y="30652"/>
                      <a:pt x="488794" y="41715"/>
                    </a:cubicBezTo>
                    <a:lnTo>
                      <a:pt x="488794" y="118738"/>
                    </a:lnTo>
                    <a:cubicBezTo>
                      <a:pt x="488794" y="141777"/>
                      <a:pt x="470117" y="160454"/>
                      <a:pt x="447078" y="160454"/>
                    </a:cubicBezTo>
                    <a:lnTo>
                      <a:pt x="41715" y="160454"/>
                    </a:lnTo>
                    <a:cubicBezTo>
                      <a:pt x="30652" y="160454"/>
                      <a:pt x="20041" y="156059"/>
                      <a:pt x="12218" y="148236"/>
                    </a:cubicBezTo>
                    <a:cubicBezTo>
                      <a:pt x="4395" y="140412"/>
                      <a:pt x="0" y="129802"/>
                      <a:pt x="0" y="118738"/>
                    </a:cubicBezTo>
                    <a:lnTo>
                      <a:pt x="0" y="41715"/>
                    </a:lnTo>
                    <a:cubicBezTo>
                      <a:pt x="0" y="30652"/>
                      <a:pt x="4395" y="20041"/>
                      <a:pt x="12218" y="12218"/>
                    </a:cubicBezTo>
                    <a:cubicBezTo>
                      <a:pt x="20041" y="4395"/>
                      <a:pt x="30652" y="0"/>
                      <a:pt x="41715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04775"/>
                <a:ext cx="457496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Ichor &lt; Thr(%)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038719" y="4318738"/>
            <a:ext cx="1878337" cy="824762"/>
            <a:chOff x="0" y="-28575"/>
            <a:chExt cx="494766" cy="2172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78040" cy="17509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5088" y="4318738"/>
            <a:ext cx="1878337" cy="824762"/>
            <a:chOff x="0" y="-28575"/>
            <a:chExt cx="494766" cy="217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94766" cy="1729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58813" y="4318738"/>
            <a:ext cx="1878337" cy="824762"/>
            <a:chOff x="0" y="-28575"/>
            <a:chExt cx="494766" cy="217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94766" cy="190230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2994" y="6551274"/>
            <a:ext cx="2340936" cy="1486753"/>
            <a:chOff x="0" y="-144643"/>
            <a:chExt cx="3121248" cy="1982338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-144643"/>
              <a:ext cx="3121248" cy="1982338"/>
              <a:chOff x="0" y="-28575"/>
              <a:chExt cx="616618" cy="39162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4686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363046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311608"/>
                    </a:lnTo>
                    <a:cubicBezTo>
                      <a:pt x="594686" y="340016"/>
                      <a:pt x="571657" y="363046"/>
                      <a:pt x="543249" y="363046"/>
                    </a:cubicBezTo>
                    <a:lnTo>
                      <a:pt x="51437" y="363046"/>
                    </a:lnTo>
                    <a:cubicBezTo>
                      <a:pt x="37795" y="363046"/>
                      <a:pt x="24712" y="357626"/>
                      <a:pt x="15066" y="347980"/>
                    </a:cubicBezTo>
                    <a:cubicBezTo>
                      <a:pt x="5419" y="338334"/>
                      <a:pt x="0" y="325250"/>
                      <a:pt x="0" y="31160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616618" cy="3517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4462" y="213380"/>
              <a:ext cx="2744341" cy="812297"/>
              <a:chOff x="0" y="0"/>
              <a:chExt cx="542092" cy="1604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04775"/>
                <a:ext cx="542092" cy="1481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GuardChance</a:t>
                </a: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 flipH="1">
            <a:off x="6977887" y="4209986"/>
            <a:ext cx="939169" cy="21723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664096" y="4218535"/>
            <a:ext cx="970161" cy="2086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736372" y="3879028"/>
            <a:ext cx="4452878" cy="60290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 flipH="1">
            <a:off x="1789963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2599075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AutoShape 41"/>
          <p:cNvSpPr/>
          <p:nvPr/>
        </p:nvSpPr>
        <p:spPr>
          <a:xfrm flipH="1">
            <a:off x="9052239" y="5143500"/>
            <a:ext cx="1582017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634256" y="5143500"/>
            <a:ext cx="1579676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5097981" y="5143500"/>
            <a:ext cx="870466" cy="33737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AutoShape 44"/>
          <p:cNvSpPr/>
          <p:nvPr/>
        </p:nvSpPr>
        <p:spPr>
          <a:xfrm flipH="1">
            <a:off x="14288869" y="5143500"/>
            <a:ext cx="809112" cy="40887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AutoShape 45"/>
          <p:cNvSpPr/>
          <p:nvPr/>
        </p:nvSpPr>
        <p:spPr>
          <a:xfrm flipH="1">
            <a:off x="10634256" y="5143500"/>
            <a:ext cx="0" cy="31692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11001830" y="8038027"/>
            <a:ext cx="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47" name="Group 47"/>
          <p:cNvGrpSpPr/>
          <p:nvPr/>
        </p:nvGrpSpPr>
        <p:grpSpPr>
          <a:xfrm>
            <a:off x="1028700" y="5040929"/>
            <a:ext cx="1522526" cy="838988"/>
            <a:chOff x="0" y="0"/>
            <a:chExt cx="2030034" cy="111865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104775"/>
                <a:ext cx="352035" cy="1475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290977" y="5460424"/>
            <a:ext cx="1522526" cy="838988"/>
            <a:chOff x="0" y="0"/>
            <a:chExt cx="2030034" cy="1118651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4775"/>
                <a:ext cx="361436" cy="2020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46924" y="5040929"/>
            <a:ext cx="1522526" cy="838988"/>
            <a:chOff x="0" y="0"/>
            <a:chExt cx="2030034" cy="111865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422" y="153177"/>
              <a:ext cx="1857743" cy="812297"/>
              <a:chOff x="0" y="0"/>
              <a:chExt cx="366962" cy="1604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104775"/>
                <a:ext cx="366962" cy="1475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Strafe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72994" y="5460424"/>
            <a:ext cx="1522526" cy="838988"/>
            <a:chOff x="0" y="0"/>
            <a:chExt cx="2030034" cy="111865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104775"/>
                <a:ext cx="362507" cy="2020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1452669" y="5351942"/>
            <a:ext cx="1579670" cy="1082930"/>
            <a:chOff x="0" y="-28575"/>
            <a:chExt cx="416095" cy="285251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01043" cy="220995"/>
            </a:xfrm>
            <a:custGeom>
              <a:avLst/>
              <a:gdLst/>
              <a:ahLst/>
              <a:cxnLst/>
              <a:rect l="l" t="t" r="r" b="b"/>
              <a:pathLst>
                <a:path w="401043" h="220995">
                  <a:moveTo>
                    <a:pt x="76274" y="0"/>
                  </a:moveTo>
                  <a:lnTo>
                    <a:pt x="324769" y="0"/>
                  </a:lnTo>
                  <a:cubicBezTo>
                    <a:pt x="344998" y="0"/>
                    <a:pt x="364399" y="8036"/>
                    <a:pt x="378703" y="22340"/>
                  </a:cubicBezTo>
                  <a:cubicBezTo>
                    <a:pt x="393007" y="36644"/>
                    <a:pt x="401043" y="56045"/>
                    <a:pt x="401043" y="76274"/>
                  </a:cubicBezTo>
                  <a:lnTo>
                    <a:pt x="401043" y="144721"/>
                  </a:lnTo>
                  <a:cubicBezTo>
                    <a:pt x="401043" y="164950"/>
                    <a:pt x="393007" y="184351"/>
                    <a:pt x="378703" y="198655"/>
                  </a:cubicBezTo>
                  <a:cubicBezTo>
                    <a:pt x="364399" y="212959"/>
                    <a:pt x="344998" y="220995"/>
                    <a:pt x="324769" y="220995"/>
                  </a:cubicBezTo>
                  <a:lnTo>
                    <a:pt x="76274" y="220995"/>
                  </a:lnTo>
                  <a:cubicBezTo>
                    <a:pt x="56045" y="220995"/>
                    <a:pt x="36644" y="212959"/>
                    <a:pt x="22340" y="198655"/>
                  </a:cubicBezTo>
                  <a:cubicBezTo>
                    <a:pt x="8036" y="184351"/>
                    <a:pt x="0" y="164950"/>
                    <a:pt x="0" y="144721"/>
                  </a:cubicBezTo>
                  <a:lnTo>
                    <a:pt x="0" y="76274"/>
                  </a:lnTo>
                  <a:cubicBezTo>
                    <a:pt x="0" y="56045"/>
                    <a:pt x="8036" y="36644"/>
                    <a:pt x="22340" y="22340"/>
                  </a:cubicBezTo>
                  <a:cubicBezTo>
                    <a:pt x="36644" y="8036"/>
                    <a:pt x="56045" y="0"/>
                    <a:pt x="7627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416095" cy="285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2994" y="8419312"/>
            <a:ext cx="2257673" cy="838988"/>
            <a:chOff x="0" y="0"/>
            <a:chExt cx="3010231" cy="1118651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104775"/>
                <a:ext cx="537541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2213932" y="6659756"/>
            <a:ext cx="2257673" cy="838988"/>
            <a:chOff x="0" y="0"/>
            <a:chExt cx="3010231" cy="111865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104775"/>
                <a:ext cx="517950" cy="1960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BasicAttack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92" name="AutoShape 92"/>
          <p:cNvSpPr/>
          <p:nvPr/>
        </p:nvSpPr>
        <p:spPr>
          <a:xfrm flipH="1">
            <a:off x="3625540" y="3879028"/>
            <a:ext cx="4232494" cy="91481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93" name="Group 93"/>
          <p:cNvGrpSpPr/>
          <p:nvPr/>
        </p:nvGrpSpPr>
        <p:grpSpPr>
          <a:xfrm>
            <a:off x="1110661" y="6274837"/>
            <a:ext cx="2298347" cy="2983463"/>
            <a:chOff x="0" y="0"/>
            <a:chExt cx="605400" cy="7858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26180" y="6274837"/>
            <a:ext cx="2298347" cy="2983463"/>
            <a:chOff x="0" y="0"/>
            <a:chExt cx="605400" cy="78586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102928" y="6274837"/>
            <a:ext cx="2298347" cy="2983463"/>
            <a:chOff x="0" y="0"/>
            <a:chExt cx="605400" cy="7858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0959" y="6434872"/>
            <a:ext cx="2077750" cy="609223"/>
            <a:chOff x="0" y="0"/>
            <a:chExt cx="547226" cy="16045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Cooldown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736478" y="6434872"/>
            <a:ext cx="2077750" cy="609223"/>
            <a:chOff x="0" y="0"/>
            <a:chExt cx="547226" cy="16045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· CD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213226" y="6434872"/>
            <a:ext cx="2077750" cy="609223"/>
            <a:chOff x="0" y="0"/>
            <a:chExt cx="547226" cy="16045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(Kite)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20959" y="7113306"/>
            <a:ext cx="2077750" cy="609223"/>
            <a:chOff x="0" y="0"/>
            <a:chExt cx="547226" cy="16045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BuffExpired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736478" y="7113306"/>
            <a:ext cx="2077750" cy="609223"/>
            <a:chOff x="0" y="0"/>
            <a:chExt cx="547226" cy="16045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3226" y="7113306"/>
            <a:ext cx="2077750" cy="609223"/>
            <a:chOff x="0" y="0"/>
            <a:chExt cx="547226" cy="16045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TooClose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220959" y="7789204"/>
            <a:ext cx="2077750" cy="609223"/>
            <a:chOff x="0" y="0"/>
            <a:chExt cx="547226" cy="16045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736478" y="7789204"/>
            <a:ext cx="2077750" cy="609223"/>
            <a:chOff x="0" y="0"/>
            <a:chExt cx="547226" cy="1604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213226" y="7789204"/>
            <a:ext cx="2077750" cy="609223"/>
            <a:chOff x="0" y="0"/>
            <a:chExt cx="547226" cy="16045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Stamina Enough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220959" y="8465102"/>
            <a:ext cx="2077750" cy="609223"/>
            <a:chOff x="0" y="0"/>
            <a:chExt cx="547226" cy="1604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UseSkill_Buff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3736478" y="8465102"/>
            <a:ext cx="2077750" cy="609223"/>
            <a:chOff x="0" y="0"/>
            <a:chExt cx="547226" cy="16045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UseSkill_Atk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213226" y="8465102"/>
            <a:ext cx="2077750" cy="609223"/>
            <a:chOff x="0" y="0"/>
            <a:chExt cx="547226" cy="16045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MoveAway</a:t>
              </a:r>
            </a:p>
          </p:txBody>
        </p:sp>
      </p:grpSp>
      <p:sp>
        <p:nvSpPr>
          <p:cNvPr id="138" name="AutoShape 138"/>
          <p:cNvSpPr/>
          <p:nvPr/>
        </p:nvSpPr>
        <p:spPr>
          <a:xfrm flipH="1">
            <a:off x="2259834" y="5143500"/>
            <a:ext cx="4718053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9" name="AutoShape 139"/>
          <p:cNvSpPr/>
          <p:nvPr/>
        </p:nvSpPr>
        <p:spPr>
          <a:xfrm flipH="1">
            <a:off x="4775353" y="5143500"/>
            <a:ext cx="2202534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0" name="AutoShape 140"/>
          <p:cNvSpPr/>
          <p:nvPr/>
        </p:nvSpPr>
        <p:spPr>
          <a:xfrm>
            <a:off x="6977887" y="5143500"/>
            <a:ext cx="277114" cy="115016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1" name="AutoShape 141"/>
          <p:cNvSpPr/>
          <p:nvPr/>
        </p:nvSpPr>
        <p:spPr>
          <a:xfrm flipH="1">
            <a:off x="11001830" y="6299412"/>
            <a:ext cx="1212102" cy="36034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2" name="AutoShape 142"/>
          <p:cNvSpPr/>
          <p:nvPr/>
        </p:nvSpPr>
        <p:spPr>
          <a:xfrm>
            <a:off x="12213932" y="6299412"/>
            <a:ext cx="1128837" cy="360344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43" name="Group 143"/>
          <p:cNvGrpSpPr/>
          <p:nvPr/>
        </p:nvGrpSpPr>
        <p:grpSpPr>
          <a:xfrm>
            <a:off x="13527606" y="5460424"/>
            <a:ext cx="1522526" cy="838988"/>
            <a:chOff x="0" y="0"/>
            <a:chExt cx="2030034" cy="1118651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97422" y="153177"/>
              <a:ext cx="1847102" cy="812297"/>
              <a:chOff x="0" y="0"/>
              <a:chExt cx="364860" cy="16045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104775"/>
                <a:ext cx="364860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50" name="Group 150"/>
          <p:cNvGrpSpPr/>
          <p:nvPr/>
        </p:nvGrpSpPr>
        <p:grpSpPr>
          <a:xfrm>
            <a:off x="15145831" y="5460424"/>
            <a:ext cx="1522526" cy="838988"/>
            <a:chOff x="0" y="0"/>
            <a:chExt cx="2030034" cy="1118651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97422" y="153177"/>
              <a:ext cx="1856933" cy="812297"/>
              <a:chOff x="0" y="0"/>
              <a:chExt cx="366802" cy="160454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104775"/>
                <a:ext cx="366802" cy="2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Wait</a:t>
                </a:r>
              </a:p>
            </p:txBody>
          </p:sp>
        </p:grpSp>
      </p:grpSp>
      <p:sp>
        <p:nvSpPr>
          <p:cNvPr id="161" name="Rectangle 160"/>
          <p:cNvSpPr/>
          <p:nvPr/>
        </p:nvSpPr>
        <p:spPr>
          <a:xfrm>
            <a:off x="1028700" y="6611914"/>
            <a:ext cx="7939988" cy="18211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7" name="Group 157"/>
          <p:cNvGrpSpPr/>
          <p:nvPr/>
        </p:nvGrpSpPr>
        <p:grpSpPr>
          <a:xfrm>
            <a:off x="1028700" y="6503418"/>
            <a:ext cx="8021947" cy="1929676"/>
            <a:chOff x="0" y="-28575"/>
            <a:chExt cx="2112776" cy="508227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2091190" cy="479652"/>
            </a:xfrm>
            <a:custGeom>
              <a:avLst/>
              <a:gdLst/>
              <a:ahLst/>
              <a:cxnLst/>
              <a:rect l="l" t="t" r="r" b="b"/>
              <a:pathLst>
                <a:path w="2091190" h="479652">
                  <a:moveTo>
                    <a:pt x="0" y="0"/>
                  </a:moveTo>
                  <a:lnTo>
                    <a:pt x="2091190" y="0"/>
                  </a:lnTo>
                  <a:lnTo>
                    <a:pt x="2091190" y="479652"/>
                  </a:lnTo>
                  <a:lnTo>
                    <a:pt x="0" y="479652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1586" y="-28575"/>
              <a:ext cx="2091190" cy="50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3.  접근 · 가드 · 일반 공격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로직 : 연혈을 못 쓰는 거리이거나 쿨타임일 때 실행한다.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 : ApproachSpeed로 접근(MoveTo)해 사거리 안쪽으로 들어간다.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가드 / 확정 공격 : 선행 갈래가 GuardChance로 가드를 시도하고, 실패하면 후행 갈래가 반드시 BasicAttack을 수행한다.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20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165" name="AutoShape 12">
            <a:extLst>
              <a:ext uri="{FF2B5EF4-FFF2-40B4-BE49-F238E27FC236}">
                <a16:creationId xmlns:a16="http://schemas.microsoft.com/office/drawing/2014/main" id="{756B46DA-D610-F75B-4FE5-F1D9AB3AD2F9}"/>
              </a:ext>
            </a:extLst>
          </p:cNvPr>
          <p:cNvSpPr/>
          <p:nvPr/>
        </p:nvSpPr>
        <p:spPr>
          <a:xfrm>
            <a:off x="8794964" y="3330835"/>
            <a:ext cx="2239" cy="19005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Group 4">
            <a:extLst>
              <a:ext uri="{FF2B5EF4-FFF2-40B4-BE49-F238E27FC236}">
                <a16:creationId xmlns:a16="http://schemas.microsoft.com/office/drawing/2014/main" id="{E93B4C1D-2364-9853-FB3E-3596B9209931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83484773-7599-BFAC-6AF3-F70872BE88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7AB3267-FAC1-E33F-05FC-308EBB97CE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020E1536-076B-BF80-3393-1796949260C5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41FFE7F5-F685-30F6-36C3-31C8645DECB3}"/>
              </a:ext>
            </a:extLst>
          </p:cNvPr>
          <p:cNvSpPr/>
          <p:nvPr/>
        </p:nvSpPr>
        <p:spPr>
          <a:xfrm>
            <a:off x="8686800" y="1968672"/>
            <a:ext cx="0" cy="372795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전투 로직 설계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3556" y="2347855"/>
            <a:ext cx="1882816" cy="982980"/>
            <a:chOff x="0" y="0"/>
            <a:chExt cx="495946" cy="25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946" cy="258923"/>
            </a:xfrm>
            <a:custGeom>
              <a:avLst/>
              <a:gdLst/>
              <a:ahLst/>
              <a:cxnLst/>
              <a:rect l="l" t="t" r="r" b="b"/>
              <a:pathLst>
                <a:path w="495946" h="258923">
                  <a:moveTo>
                    <a:pt x="61678" y="0"/>
                  </a:moveTo>
                  <a:lnTo>
                    <a:pt x="434268" y="0"/>
                  </a:lnTo>
                  <a:cubicBezTo>
                    <a:pt x="450626" y="0"/>
                    <a:pt x="466314" y="6498"/>
                    <a:pt x="477881" y="18065"/>
                  </a:cubicBezTo>
                  <a:cubicBezTo>
                    <a:pt x="489448" y="29632"/>
                    <a:pt x="495946" y="45320"/>
                    <a:pt x="495946" y="61678"/>
                  </a:cubicBezTo>
                  <a:lnTo>
                    <a:pt x="495946" y="197245"/>
                  </a:lnTo>
                  <a:cubicBezTo>
                    <a:pt x="495946" y="213603"/>
                    <a:pt x="489448" y="229291"/>
                    <a:pt x="477881" y="240858"/>
                  </a:cubicBezTo>
                  <a:cubicBezTo>
                    <a:pt x="466314" y="252425"/>
                    <a:pt x="450626" y="258923"/>
                    <a:pt x="434268" y="258923"/>
                  </a:cubicBezTo>
                  <a:lnTo>
                    <a:pt x="61678" y="258923"/>
                  </a:lnTo>
                  <a:cubicBezTo>
                    <a:pt x="45320" y="258923"/>
                    <a:pt x="29632" y="252425"/>
                    <a:pt x="18065" y="240858"/>
                  </a:cubicBezTo>
                  <a:cubicBezTo>
                    <a:pt x="6498" y="229291"/>
                    <a:pt x="0" y="213603"/>
                    <a:pt x="0" y="197245"/>
                  </a:cubicBezTo>
                  <a:lnTo>
                    <a:pt x="0" y="61678"/>
                  </a:lnTo>
                  <a:cubicBezTo>
                    <a:pt x="0" y="45320"/>
                    <a:pt x="6498" y="29632"/>
                    <a:pt x="18065" y="18065"/>
                  </a:cubicBezTo>
                  <a:cubicBezTo>
                    <a:pt x="29632" y="6498"/>
                    <a:pt x="45320" y="0"/>
                    <a:pt x="61678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95946" cy="28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[Combat]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034" y="3520888"/>
            <a:ext cx="1878337" cy="716280"/>
            <a:chOff x="0" y="0"/>
            <a:chExt cx="494766" cy="1886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8794964" y="3330835"/>
            <a:ext cx="2239" cy="190052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572610" y="3172891"/>
            <a:ext cx="2052931" cy="1486753"/>
            <a:chOff x="0" y="-144643"/>
            <a:chExt cx="2737241" cy="198233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-144643"/>
              <a:ext cx="2737241" cy="1982338"/>
              <a:chOff x="0" y="-28575"/>
              <a:chExt cx="540755" cy="39162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40755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40755" h="363046">
                    <a:moveTo>
                      <a:pt x="56567" y="0"/>
                    </a:moveTo>
                    <a:lnTo>
                      <a:pt x="484188" y="0"/>
                    </a:lnTo>
                    <a:cubicBezTo>
                      <a:pt x="499191" y="0"/>
                      <a:pt x="513579" y="5960"/>
                      <a:pt x="524187" y="16568"/>
                    </a:cubicBezTo>
                    <a:cubicBezTo>
                      <a:pt x="534796" y="27177"/>
                      <a:pt x="540755" y="41565"/>
                      <a:pt x="540755" y="56567"/>
                    </a:cubicBezTo>
                    <a:lnTo>
                      <a:pt x="540755" y="306478"/>
                    </a:lnTo>
                    <a:cubicBezTo>
                      <a:pt x="540755" y="337720"/>
                      <a:pt x="515429" y="363046"/>
                      <a:pt x="484188" y="363046"/>
                    </a:cubicBezTo>
                    <a:lnTo>
                      <a:pt x="56567" y="363046"/>
                    </a:lnTo>
                    <a:cubicBezTo>
                      <a:pt x="41565" y="363046"/>
                      <a:pt x="27177" y="357086"/>
                      <a:pt x="16568" y="346477"/>
                    </a:cubicBezTo>
                    <a:cubicBezTo>
                      <a:pt x="5960" y="335869"/>
                      <a:pt x="0" y="321481"/>
                      <a:pt x="0" y="306478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539576" cy="349467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31361" y="213380"/>
              <a:ext cx="2504448" cy="812297"/>
              <a:chOff x="0" y="0"/>
              <a:chExt cx="494706" cy="1604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8794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488794" h="160454">
                    <a:moveTo>
                      <a:pt x="41715" y="0"/>
                    </a:moveTo>
                    <a:lnTo>
                      <a:pt x="447078" y="0"/>
                    </a:lnTo>
                    <a:cubicBezTo>
                      <a:pt x="458142" y="0"/>
                      <a:pt x="468752" y="4395"/>
                      <a:pt x="476576" y="12218"/>
                    </a:cubicBezTo>
                    <a:cubicBezTo>
                      <a:pt x="484399" y="20041"/>
                      <a:pt x="488794" y="30652"/>
                      <a:pt x="488794" y="41715"/>
                    </a:cubicBezTo>
                    <a:lnTo>
                      <a:pt x="488794" y="118738"/>
                    </a:lnTo>
                    <a:cubicBezTo>
                      <a:pt x="488794" y="141777"/>
                      <a:pt x="470117" y="160454"/>
                      <a:pt x="447078" y="160454"/>
                    </a:cubicBezTo>
                    <a:lnTo>
                      <a:pt x="41715" y="160454"/>
                    </a:lnTo>
                    <a:cubicBezTo>
                      <a:pt x="30652" y="160454"/>
                      <a:pt x="20041" y="156059"/>
                      <a:pt x="12218" y="148236"/>
                    </a:cubicBezTo>
                    <a:cubicBezTo>
                      <a:pt x="4395" y="140412"/>
                      <a:pt x="0" y="129802"/>
                      <a:pt x="0" y="118738"/>
                    </a:cubicBezTo>
                    <a:lnTo>
                      <a:pt x="0" y="41715"/>
                    </a:lnTo>
                    <a:cubicBezTo>
                      <a:pt x="0" y="30652"/>
                      <a:pt x="4395" y="20041"/>
                      <a:pt x="12218" y="12218"/>
                    </a:cubicBezTo>
                    <a:cubicBezTo>
                      <a:pt x="20041" y="4395"/>
                      <a:pt x="30652" y="0"/>
                      <a:pt x="41715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04775"/>
                <a:ext cx="494706" cy="2409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Ichor &lt; Thr(%)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038719" y="4427220"/>
            <a:ext cx="1878337" cy="716280"/>
            <a:chOff x="0" y="0"/>
            <a:chExt cx="494766" cy="1886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5088" y="4427220"/>
            <a:ext cx="1878337" cy="716280"/>
            <a:chOff x="0" y="0"/>
            <a:chExt cx="494766" cy="1886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94766" cy="217248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58813" y="4318738"/>
            <a:ext cx="1878337" cy="824762"/>
            <a:chOff x="0" y="-28575"/>
            <a:chExt cx="494766" cy="217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4766" cy="188673"/>
            </a:xfrm>
            <a:custGeom>
              <a:avLst/>
              <a:gdLst/>
              <a:ahLst/>
              <a:cxnLst/>
              <a:rect l="l" t="t" r="r" b="b"/>
              <a:pathLst>
                <a:path w="494766" h="188673">
                  <a:moveTo>
                    <a:pt x="61825" y="0"/>
                  </a:moveTo>
                  <a:lnTo>
                    <a:pt x="432941" y="0"/>
                  </a:lnTo>
                  <a:cubicBezTo>
                    <a:pt x="467086" y="0"/>
                    <a:pt x="494766" y="27680"/>
                    <a:pt x="494766" y="61825"/>
                  </a:cubicBezTo>
                  <a:lnTo>
                    <a:pt x="494766" y="126847"/>
                  </a:lnTo>
                  <a:cubicBezTo>
                    <a:pt x="494766" y="143245"/>
                    <a:pt x="488253" y="158970"/>
                    <a:pt x="476658" y="170565"/>
                  </a:cubicBezTo>
                  <a:cubicBezTo>
                    <a:pt x="465064" y="182159"/>
                    <a:pt x="449338" y="188673"/>
                    <a:pt x="432941" y="188673"/>
                  </a:cubicBezTo>
                  <a:lnTo>
                    <a:pt x="61825" y="188673"/>
                  </a:lnTo>
                  <a:cubicBezTo>
                    <a:pt x="45428" y="188673"/>
                    <a:pt x="29703" y="182159"/>
                    <a:pt x="18108" y="170565"/>
                  </a:cubicBezTo>
                  <a:cubicBezTo>
                    <a:pt x="6514" y="158970"/>
                    <a:pt x="0" y="143245"/>
                    <a:pt x="0" y="126847"/>
                  </a:cubicBezTo>
                  <a:lnTo>
                    <a:pt x="0" y="61825"/>
                  </a:lnTo>
                  <a:cubicBezTo>
                    <a:pt x="0" y="45428"/>
                    <a:pt x="6514" y="29703"/>
                    <a:pt x="18108" y="18108"/>
                  </a:cubicBezTo>
                  <a:cubicBezTo>
                    <a:pt x="29703" y="6514"/>
                    <a:pt x="45428" y="0"/>
                    <a:pt x="61825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94766" cy="18738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72994" y="6659756"/>
            <a:ext cx="2257673" cy="1378271"/>
            <a:chOff x="0" y="0"/>
            <a:chExt cx="3010231" cy="183769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010231" cy="1837695"/>
              <a:chOff x="0" y="0"/>
              <a:chExt cx="594686" cy="36304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4686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363046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311608"/>
                    </a:lnTo>
                    <a:cubicBezTo>
                      <a:pt x="594686" y="340016"/>
                      <a:pt x="571657" y="363046"/>
                      <a:pt x="543249" y="363046"/>
                    </a:cubicBezTo>
                    <a:lnTo>
                      <a:pt x="51437" y="363046"/>
                    </a:lnTo>
                    <a:cubicBezTo>
                      <a:pt x="37795" y="363046"/>
                      <a:pt x="24712" y="357626"/>
                      <a:pt x="15066" y="347980"/>
                    </a:cubicBezTo>
                    <a:cubicBezTo>
                      <a:pt x="5419" y="338334"/>
                      <a:pt x="0" y="325250"/>
                      <a:pt x="0" y="31160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594686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4462" y="213380"/>
              <a:ext cx="2721307" cy="812297"/>
              <a:chOff x="0" y="0"/>
              <a:chExt cx="537542" cy="1604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04775"/>
                <a:ext cx="537542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GuardChance</a:t>
                </a: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 flipH="1">
            <a:off x="6977887" y="4209986"/>
            <a:ext cx="939169" cy="21723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9664096" y="4218535"/>
            <a:ext cx="970161" cy="2086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9736372" y="3879028"/>
            <a:ext cx="4452878" cy="60290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AutoShape 39"/>
          <p:cNvSpPr/>
          <p:nvPr/>
        </p:nvSpPr>
        <p:spPr>
          <a:xfrm flipH="1">
            <a:off x="1789963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2599075" y="4659645"/>
            <a:ext cx="809112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AutoShape 41"/>
          <p:cNvSpPr/>
          <p:nvPr/>
        </p:nvSpPr>
        <p:spPr>
          <a:xfrm flipH="1">
            <a:off x="9052239" y="5143500"/>
            <a:ext cx="1582017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10634256" y="5143500"/>
            <a:ext cx="1579676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5097981" y="5143500"/>
            <a:ext cx="870466" cy="33737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4" name="AutoShape 44"/>
          <p:cNvSpPr/>
          <p:nvPr/>
        </p:nvSpPr>
        <p:spPr>
          <a:xfrm flipH="1">
            <a:off x="14288869" y="5143500"/>
            <a:ext cx="809112" cy="408878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5" name="AutoShape 45"/>
          <p:cNvSpPr/>
          <p:nvPr/>
        </p:nvSpPr>
        <p:spPr>
          <a:xfrm flipH="1">
            <a:off x="10634256" y="5143500"/>
            <a:ext cx="0" cy="31692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11001830" y="8038027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1028700" y="5040929"/>
            <a:ext cx="1522526" cy="838988"/>
            <a:chOff x="0" y="0"/>
            <a:chExt cx="2030034" cy="111865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104775"/>
                <a:ext cx="352035" cy="144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290977" y="5460424"/>
            <a:ext cx="1522526" cy="838988"/>
            <a:chOff x="0" y="0"/>
            <a:chExt cx="2030034" cy="1118651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4775"/>
                <a:ext cx="350563" cy="1445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46924" y="5040929"/>
            <a:ext cx="1522526" cy="838988"/>
            <a:chOff x="0" y="0"/>
            <a:chExt cx="2030034" cy="111865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104775"/>
                <a:ext cx="347288" cy="144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Strafe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72994" y="5460424"/>
            <a:ext cx="1522526" cy="838988"/>
            <a:chOff x="0" y="0"/>
            <a:chExt cx="2030034" cy="111865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422" y="153177"/>
              <a:ext cx="1835190" cy="812297"/>
              <a:chOff x="0" y="0"/>
              <a:chExt cx="362507" cy="16045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104775"/>
                <a:ext cx="362507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1452669" y="5460424"/>
            <a:ext cx="1522526" cy="838988"/>
            <a:chOff x="0" y="0"/>
            <a:chExt cx="401043" cy="22099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01043" cy="220995"/>
            </a:xfrm>
            <a:custGeom>
              <a:avLst/>
              <a:gdLst/>
              <a:ahLst/>
              <a:cxnLst/>
              <a:rect l="l" t="t" r="r" b="b"/>
              <a:pathLst>
                <a:path w="401043" h="220995">
                  <a:moveTo>
                    <a:pt x="76274" y="0"/>
                  </a:moveTo>
                  <a:lnTo>
                    <a:pt x="324769" y="0"/>
                  </a:lnTo>
                  <a:cubicBezTo>
                    <a:pt x="344998" y="0"/>
                    <a:pt x="364399" y="8036"/>
                    <a:pt x="378703" y="22340"/>
                  </a:cubicBezTo>
                  <a:cubicBezTo>
                    <a:pt x="393007" y="36644"/>
                    <a:pt x="401043" y="56045"/>
                    <a:pt x="401043" y="76274"/>
                  </a:cubicBezTo>
                  <a:lnTo>
                    <a:pt x="401043" y="144721"/>
                  </a:lnTo>
                  <a:cubicBezTo>
                    <a:pt x="401043" y="164950"/>
                    <a:pt x="393007" y="184351"/>
                    <a:pt x="378703" y="198655"/>
                  </a:cubicBezTo>
                  <a:cubicBezTo>
                    <a:pt x="364399" y="212959"/>
                    <a:pt x="344998" y="220995"/>
                    <a:pt x="324769" y="220995"/>
                  </a:cubicBezTo>
                  <a:lnTo>
                    <a:pt x="76274" y="220995"/>
                  </a:lnTo>
                  <a:cubicBezTo>
                    <a:pt x="56045" y="220995"/>
                    <a:pt x="36644" y="212959"/>
                    <a:pt x="22340" y="198655"/>
                  </a:cubicBezTo>
                  <a:cubicBezTo>
                    <a:pt x="8036" y="184351"/>
                    <a:pt x="0" y="164950"/>
                    <a:pt x="0" y="144721"/>
                  </a:cubicBezTo>
                  <a:lnTo>
                    <a:pt x="0" y="76274"/>
                  </a:lnTo>
                  <a:cubicBezTo>
                    <a:pt x="0" y="56045"/>
                    <a:pt x="8036" y="36644"/>
                    <a:pt x="22340" y="22340"/>
                  </a:cubicBezTo>
                  <a:cubicBezTo>
                    <a:pt x="36644" y="8036"/>
                    <a:pt x="56045" y="0"/>
                    <a:pt x="7627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401043" cy="24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72994" y="8419312"/>
            <a:ext cx="2257673" cy="838988"/>
            <a:chOff x="0" y="0"/>
            <a:chExt cx="3010231" cy="1118651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104775"/>
                <a:ext cx="537541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Guard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2213932" y="6659756"/>
            <a:ext cx="2257673" cy="838988"/>
            <a:chOff x="0" y="0"/>
            <a:chExt cx="3010231" cy="111865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3010231" cy="1118651"/>
              <a:chOff x="0" y="0"/>
              <a:chExt cx="594686" cy="22099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594686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594686" h="220995">
                    <a:moveTo>
                      <a:pt x="51437" y="0"/>
                    </a:moveTo>
                    <a:lnTo>
                      <a:pt x="543249" y="0"/>
                    </a:lnTo>
                    <a:cubicBezTo>
                      <a:pt x="556891" y="0"/>
                      <a:pt x="569974" y="5419"/>
                      <a:pt x="579620" y="15066"/>
                    </a:cubicBezTo>
                    <a:cubicBezTo>
                      <a:pt x="589267" y="24712"/>
                      <a:pt x="594686" y="37795"/>
                      <a:pt x="594686" y="51437"/>
                    </a:cubicBezTo>
                    <a:lnTo>
                      <a:pt x="594686" y="169558"/>
                    </a:lnTo>
                    <a:cubicBezTo>
                      <a:pt x="594686" y="197966"/>
                      <a:pt x="571657" y="220995"/>
                      <a:pt x="543249" y="220995"/>
                    </a:cubicBezTo>
                    <a:lnTo>
                      <a:pt x="51437" y="220995"/>
                    </a:lnTo>
                    <a:cubicBezTo>
                      <a:pt x="23029" y="220995"/>
                      <a:pt x="0" y="197966"/>
                      <a:pt x="0" y="169558"/>
                    </a:cubicBezTo>
                    <a:lnTo>
                      <a:pt x="0" y="51437"/>
                    </a:lnTo>
                    <a:cubicBezTo>
                      <a:pt x="0" y="23029"/>
                      <a:pt x="23029" y="0"/>
                      <a:pt x="51437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28575"/>
                <a:ext cx="594686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44462" y="153177"/>
              <a:ext cx="2721307" cy="812297"/>
              <a:chOff x="0" y="0"/>
              <a:chExt cx="537542" cy="16045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537542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537542" h="160454">
                    <a:moveTo>
                      <a:pt x="37932" y="0"/>
                    </a:moveTo>
                    <a:lnTo>
                      <a:pt x="499610" y="0"/>
                    </a:lnTo>
                    <a:cubicBezTo>
                      <a:pt x="509670" y="0"/>
                      <a:pt x="519318" y="3996"/>
                      <a:pt x="526432" y="11110"/>
                    </a:cubicBezTo>
                    <a:cubicBezTo>
                      <a:pt x="533546" y="18224"/>
                      <a:pt x="537542" y="27872"/>
                      <a:pt x="537542" y="37932"/>
                    </a:cubicBezTo>
                    <a:lnTo>
                      <a:pt x="537542" y="122521"/>
                    </a:lnTo>
                    <a:cubicBezTo>
                      <a:pt x="537542" y="132582"/>
                      <a:pt x="533546" y="142230"/>
                      <a:pt x="526432" y="149344"/>
                    </a:cubicBezTo>
                    <a:cubicBezTo>
                      <a:pt x="519318" y="156457"/>
                      <a:pt x="509670" y="160454"/>
                      <a:pt x="499610" y="160454"/>
                    </a:cubicBezTo>
                    <a:lnTo>
                      <a:pt x="37932" y="160454"/>
                    </a:lnTo>
                    <a:cubicBezTo>
                      <a:pt x="27872" y="160454"/>
                      <a:pt x="18224" y="156457"/>
                      <a:pt x="11110" y="149344"/>
                    </a:cubicBezTo>
                    <a:cubicBezTo>
                      <a:pt x="3996" y="142230"/>
                      <a:pt x="0" y="132582"/>
                      <a:pt x="0" y="122521"/>
                    </a:cubicBezTo>
                    <a:lnTo>
                      <a:pt x="0" y="37932"/>
                    </a:lnTo>
                    <a:cubicBezTo>
                      <a:pt x="0" y="27872"/>
                      <a:pt x="3996" y="18224"/>
                      <a:pt x="11110" y="11110"/>
                    </a:cubicBezTo>
                    <a:cubicBezTo>
                      <a:pt x="18224" y="3996"/>
                      <a:pt x="27872" y="0"/>
                      <a:pt x="37932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104775"/>
                <a:ext cx="537542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BasicAttack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92" name="AutoShape 92"/>
          <p:cNvSpPr/>
          <p:nvPr/>
        </p:nvSpPr>
        <p:spPr>
          <a:xfrm flipH="1">
            <a:off x="3625540" y="3879028"/>
            <a:ext cx="4232494" cy="91481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3" name="Group 93"/>
          <p:cNvGrpSpPr/>
          <p:nvPr/>
        </p:nvGrpSpPr>
        <p:grpSpPr>
          <a:xfrm>
            <a:off x="1110661" y="6274837"/>
            <a:ext cx="2298347" cy="2983463"/>
            <a:chOff x="0" y="0"/>
            <a:chExt cx="605400" cy="7858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26180" y="6274837"/>
            <a:ext cx="2298347" cy="2983463"/>
            <a:chOff x="0" y="0"/>
            <a:chExt cx="605400" cy="78586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102928" y="6274837"/>
            <a:ext cx="2298347" cy="2983463"/>
            <a:chOff x="0" y="0"/>
            <a:chExt cx="605400" cy="7858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5400" cy="785864"/>
            </a:xfrm>
            <a:custGeom>
              <a:avLst/>
              <a:gdLst/>
              <a:ahLst/>
              <a:cxnLst/>
              <a:rect l="l" t="t" r="r" b="b"/>
              <a:pathLst>
                <a:path w="605400" h="785864">
                  <a:moveTo>
                    <a:pt x="50527" y="0"/>
                  </a:moveTo>
                  <a:lnTo>
                    <a:pt x="554872" y="0"/>
                  </a:lnTo>
                  <a:cubicBezTo>
                    <a:pt x="568273" y="0"/>
                    <a:pt x="581125" y="5323"/>
                    <a:pt x="590601" y="14799"/>
                  </a:cubicBezTo>
                  <a:cubicBezTo>
                    <a:pt x="600076" y="24275"/>
                    <a:pt x="605400" y="37126"/>
                    <a:pt x="605400" y="50527"/>
                  </a:cubicBezTo>
                  <a:lnTo>
                    <a:pt x="605400" y="735337"/>
                  </a:lnTo>
                  <a:cubicBezTo>
                    <a:pt x="605400" y="748737"/>
                    <a:pt x="600076" y="761589"/>
                    <a:pt x="590601" y="771065"/>
                  </a:cubicBezTo>
                  <a:cubicBezTo>
                    <a:pt x="581125" y="780540"/>
                    <a:pt x="568273" y="785864"/>
                    <a:pt x="554872" y="785864"/>
                  </a:cubicBezTo>
                  <a:lnTo>
                    <a:pt x="50527" y="785864"/>
                  </a:lnTo>
                  <a:cubicBezTo>
                    <a:pt x="22622" y="785864"/>
                    <a:pt x="0" y="763242"/>
                    <a:pt x="0" y="735337"/>
                  </a:cubicBezTo>
                  <a:lnTo>
                    <a:pt x="0" y="50527"/>
                  </a:lnTo>
                  <a:cubicBezTo>
                    <a:pt x="0" y="22622"/>
                    <a:pt x="22622" y="0"/>
                    <a:pt x="50527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605400" cy="814439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20959" y="6434872"/>
            <a:ext cx="2077750" cy="609223"/>
            <a:chOff x="0" y="0"/>
            <a:chExt cx="547226" cy="16045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Cooldown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736478" y="6434872"/>
            <a:ext cx="2077750" cy="609223"/>
            <a:chOff x="0" y="0"/>
            <a:chExt cx="547226" cy="16045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· CD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213226" y="6434872"/>
            <a:ext cx="2077750" cy="609223"/>
            <a:chOff x="0" y="0"/>
            <a:chExt cx="547226" cy="16045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Chance (Kite)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20959" y="7113306"/>
            <a:ext cx="2077750" cy="609223"/>
            <a:chOff x="0" y="0"/>
            <a:chExt cx="547226" cy="16045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BuffExpired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736478" y="7113306"/>
            <a:ext cx="2077750" cy="609223"/>
            <a:chOff x="0" y="0"/>
            <a:chExt cx="547226" cy="16045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InRangeCheck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3226" y="7113306"/>
            <a:ext cx="2077750" cy="609223"/>
            <a:chOff x="0" y="0"/>
            <a:chExt cx="547226" cy="16045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TooClose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220959" y="7789204"/>
            <a:ext cx="2077750" cy="609223"/>
            <a:chOff x="0" y="0"/>
            <a:chExt cx="547226" cy="16045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736478" y="7789204"/>
            <a:ext cx="2077750" cy="609223"/>
            <a:chOff x="0" y="0"/>
            <a:chExt cx="547226" cy="1604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Ichor Enough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213226" y="7789204"/>
            <a:ext cx="2077750" cy="609223"/>
            <a:chOff x="0" y="0"/>
            <a:chExt cx="547226" cy="16045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004AAD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  <a:spcBef>
                  <a:spcPct val="0"/>
                </a:spcBef>
              </a:pPr>
              <a:r>
                <a:rPr lang="en-US" sz="1500" b="1" u="none" strike="noStrike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Stamina Enough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220959" y="8465102"/>
            <a:ext cx="2077750" cy="609223"/>
            <a:chOff x="0" y="0"/>
            <a:chExt cx="547226" cy="1604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UseSkill_Buff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3736478" y="8465102"/>
            <a:ext cx="2077750" cy="609223"/>
            <a:chOff x="0" y="0"/>
            <a:chExt cx="547226" cy="16045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UseSkill_Atk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213226" y="8465102"/>
            <a:ext cx="2077750" cy="609223"/>
            <a:chOff x="0" y="0"/>
            <a:chExt cx="547226" cy="16045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7226" cy="160454"/>
            </a:xfrm>
            <a:custGeom>
              <a:avLst/>
              <a:gdLst/>
              <a:ahLst/>
              <a:cxnLst/>
              <a:rect l="l" t="t" r="r" b="b"/>
              <a:pathLst>
                <a:path w="547226" h="160454">
                  <a:moveTo>
                    <a:pt x="37261" y="0"/>
                  </a:moveTo>
                  <a:lnTo>
                    <a:pt x="509965" y="0"/>
                  </a:lnTo>
                  <a:cubicBezTo>
                    <a:pt x="519848" y="0"/>
                    <a:pt x="529325" y="3926"/>
                    <a:pt x="536313" y="10914"/>
                  </a:cubicBezTo>
                  <a:cubicBezTo>
                    <a:pt x="543301" y="17901"/>
                    <a:pt x="547226" y="27379"/>
                    <a:pt x="547226" y="37261"/>
                  </a:cubicBezTo>
                  <a:lnTo>
                    <a:pt x="547226" y="123193"/>
                  </a:lnTo>
                  <a:cubicBezTo>
                    <a:pt x="547226" y="143771"/>
                    <a:pt x="530544" y="160454"/>
                    <a:pt x="509965" y="160454"/>
                  </a:cubicBezTo>
                  <a:lnTo>
                    <a:pt x="37261" y="160454"/>
                  </a:lnTo>
                  <a:cubicBezTo>
                    <a:pt x="27379" y="160454"/>
                    <a:pt x="17901" y="156528"/>
                    <a:pt x="10914" y="149540"/>
                  </a:cubicBezTo>
                  <a:cubicBezTo>
                    <a:pt x="3926" y="142552"/>
                    <a:pt x="0" y="133075"/>
                    <a:pt x="0" y="123193"/>
                  </a:cubicBezTo>
                  <a:lnTo>
                    <a:pt x="0" y="37261"/>
                  </a:lnTo>
                  <a:cubicBezTo>
                    <a:pt x="0" y="16682"/>
                    <a:pt x="16682" y="0"/>
                    <a:pt x="37261" y="0"/>
                  </a:cubicBezTo>
                  <a:close/>
                </a:path>
              </a:pathLst>
            </a:custGeom>
            <a:solidFill>
              <a:srgbClr val="8C52FF">
                <a:alpha val="9804"/>
              </a:srgbClr>
            </a:solidFill>
            <a:ln w="952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104775"/>
              <a:ext cx="547226" cy="55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MoveAway</a:t>
              </a:r>
            </a:p>
          </p:txBody>
        </p:sp>
      </p:grpSp>
      <p:sp>
        <p:nvSpPr>
          <p:cNvPr id="138" name="AutoShape 138"/>
          <p:cNvSpPr/>
          <p:nvPr/>
        </p:nvSpPr>
        <p:spPr>
          <a:xfrm flipH="1">
            <a:off x="2259834" y="5143500"/>
            <a:ext cx="4718053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AutoShape 139"/>
          <p:cNvSpPr/>
          <p:nvPr/>
        </p:nvSpPr>
        <p:spPr>
          <a:xfrm flipH="1">
            <a:off x="4775353" y="5143500"/>
            <a:ext cx="2202534" cy="113133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AutoShape 140"/>
          <p:cNvSpPr/>
          <p:nvPr/>
        </p:nvSpPr>
        <p:spPr>
          <a:xfrm>
            <a:off x="6977887" y="5143500"/>
            <a:ext cx="277114" cy="115016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AutoShape 141"/>
          <p:cNvSpPr/>
          <p:nvPr/>
        </p:nvSpPr>
        <p:spPr>
          <a:xfrm flipH="1">
            <a:off x="11001830" y="6299412"/>
            <a:ext cx="1212102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42" name="AutoShape 142"/>
          <p:cNvSpPr/>
          <p:nvPr/>
        </p:nvSpPr>
        <p:spPr>
          <a:xfrm>
            <a:off x="12213932" y="6299412"/>
            <a:ext cx="1128837" cy="36034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43" name="Group 143"/>
          <p:cNvGrpSpPr/>
          <p:nvPr/>
        </p:nvGrpSpPr>
        <p:grpSpPr>
          <a:xfrm>
            <a:off x="13527606" y="5460424"/>
            <a:ext cx="1522526" cy="838988"/>
            <a:chOff x="0" y="0"/>
            <a:chExt cx="2030034" cy="1118651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97422" y="153177"/>
              <a:ext cx="1847102" cy="812297"/>
              <a:chOff x="0" y="0"/>
              <a:chExt cx="364860" cy="16045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104775"/>
                <a:ext cx="364860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50" name="Group 150"/>
          <p:cNvGrpSpPr/>
          <p:nvPr/>
        </p:nvGrpSpPr>
        <p:grpSpPr>
          <a:xfrm>
            <a:off x="15145831" y="5460424"/>
            <a:ext cx="1522526" cy="838988"/>
            <a:chOff x="0" y="0"/>
            <a:chExt cx="2030034" cy="1118651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2030034" cy="1118651"/>
              <a:chOff x="0" y="0"/>
              <a:chExt cx="401043" cy="220995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401043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401043" h="220995">
                    <a:moveTo>
                      <a:pt x="76274" y="0"/>
                    </a:moveTo>
                    <a:lnTo>
                      <a:pt x="324769" y="0"/>
                    </a:lnTo>
                    <a:cubicBezTo>
                      <a:pt x="344998" y="0"/>
                      <a:pt x="364399" y="8036"/>
                      <a:pt x="378703" y="22340"/>
                    </a:cubicBezTo>
                    <a:cubicBezTo>
                      <a:pt x="393007" y="36644"/>
                      <a:pt x="401043" y="56045"/>
                      <a:pt x="401043" y="76274"/>
                    </a:cubicBezTo>
                    <a:lnTo>
                      <a:pt x="401043" y="144721"/>
                    </a:lnTo>
                    <a:cubicBezTo>
                      <a:pt x="401043" y="164950"/>
                      <a:pt x="393007" y="184351"/>
                      <a:pt x="378703" y="198655"/>
                    </a:cubicBezTo>
                    <a:cubicBezTo>
                      <a:pt x="364399" y="212959"/>
                      <a:pt x="344998" y="220995"/>
                      <a:pt x="324769" y="220995"/>
                    </a:cubicBezTo>
                    <a:lnTo>
                      <a:pt x="76274" y="220995"/>
                    </a:lnTo>
                    <a:cubicBezTo>
                      <a:pt x="56045" y="220995"/>
                      <a:pt x="36644" y="212959"/>
                      <a:pt x="22340" y="198655"/>
                    </a:cubicBezTo>
                    <a:cubicBezTo>
                      <a:pt x="8036" y="184351"/>
                      <a:pt x="0" y="164950"/>
                      <a:pt x="0" y="144721"/>
                    </a:cubicBezTo>
                    <a:lnTo>
                      <a:pt x="0" y="76274"/>
                    </a:lnTo>
                    <a:cubicBezTo>
                      <a:pt x="0" y="56045"/>
                      <a:pt x="8036" y="36644"/>
                      <a:pt x="22340" y="22340"/>
                    </a:cubicBezTo>
                    <a:cubicBezTo>
                      <a:pt x="36644" y="8036"/>
                      <a:pt x="56045" y="0"/>
                      <a:pt x="7627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28575"/>
                <a:ext cx="401043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97422" y="153177"/>
              <a:ext cx="1856933" cy="812297"/>
              <a:chOff x="0" y="0"/>
              <a:chExt cx="366802" cy="160454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362507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362507" h="160454">
                    <a:moveTo>
                      <a:pt x="56248" y="0"/>
                    </a:moveTo>
                    <a:lnTo>
                      <a:pt x="306259" y="0"/>
                    </a:lnTo>
                    <a:cubicBezTo>
                      <a:pt x="337324" y="0"/>
                      <a:pt x="362507" y="25183"/>
                      <a:pt x="362507" y="56248"/>
                    </a:cubicBezTo>
                    <a:lnTo>
                      <a:pt x="362507" y="104206"/>
                    </a:lnTo>
                    <a:cubicBezTo>
                      <a:pt x="362507" y="135271"/>
                      <a:pt x="337324" y="160454"/>
                      <a:pt x="306259" y="160454"/>
                    </a:cubicBezTo>
                    <a:lnTo>
                      <a:pt x="56248" y="160454"/>
                    </a:lnTo>
                    <a:cubicBezTo>
                      <a:pt x="25183" y="160454"/>
                      <a:pt x="0" y="135271"/>
                      <a:pt x="0" y="104206"/>
                    </a:cubicBezTo>
                    <a:lnTo>
                      <a:pt x="0" y="56248"/>
                    </a:lnTo>
                    <a:cubicBezTo>
                      <a:pt x="0" y="25183"/>
                      <a:pt x="25183" y="0"/>
                      <a:pt x="56248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104775"/>
                <a:ext cx="366802" cy="2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Wait</a:t>
                </a:r>
              </a:p>
            </p:txBody>
          </p:sp>
        </p:grpSp>
      </p:grpSp>
      <p:grpSp>
        <p:nvGrpSpPr>
          <p:cNvPr id="157" name="Group 157"/>
          <p:cNvGrpSpPr/>
          <p:nvPr/>
        </p:nvGrpSpPr>
        <p:grpSpPr>
          <a:xfrm>
            <a:off x="9906000" y="2705099"/>
            <a:ext cx="8076178" cy="1396276"/>
            <a:chOff x="310158" y="-1028954"/>
            <a:chExt cx="2127059" cy="367743"/>
          </a:xfrm>
        </p:grpSpPr>
        <p:sp>
          <p:nvSpPr>
            <p:cNvPr id="158" name="Freeform 158"/>
            <p:cNvSpPr/>
            <p:nvPr/>
          </p:nvSpPr>
          <p:spPr>
            <a:xfrm>
              <a:off x="310158" y="-1003120"/>
              <a:ext cx="2091190" cy="339168"/>
            </a:xfrm>
            <a:custGeom>
              <a:avLst/>
              <a:gdLst/>
              <a:ahLst/>
              <a:cxnLst/>
              <a:rect l="l" t="t" r="r" b="b"/>
              <a:pathLst>
                <a:path w="2091190" h="339168">
                  <a:moveTo>
                    <a:pt x="0" y="0"/>
                  </a:moveTo>
                  <a:lnTo>
                    <a:pt x="2091190" y="0"/>
                  </a:lnTo>
                  <a:lnTo>
                    <a:pt x="2091190" y="339168"/>
                  </a:lnTo>
                  <a:lnTo>
                    <a:pt x="0" y="33916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346027" y="-1028954"/>
              <a:ext cx="2091190" cy="36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  기본 대기 (전투 안정성)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로직 : 위 모든 조건이 맞지 않는 짧은 순간에 실행된다.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 : Wait 0.15초로 부하를 줄인다. 이 대기가 공격 사이클의 경계가 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21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163" name="Group 4">
            <a:extLst>
              <a:ext uri="{FF2B5EF4-FFF2-40B4-BE49-F238E27FC236}">
                <a16:creationId xmlns:a16="http://schemas.microsoft.com/office/drawing/2014/main" id="{C3002BF6-459E-3E9C-DB50-E38770DC8226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64" name="Freeform 5">
              <a:extLst>
                <a:ext uri="{FF2B5EF4-FFF2-40B4-BE49-F238E27FC236}">
                  <a16:creationId xmlns:a16="http://schemas.microsoft.com/office/drawing/2014/main" id="{237E40BC-166D-E816-775E-4F00C48AB0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A48CF8D-FF04-D839-B79C-F259D1402B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1381D0DF-35ED-6568-DF6C-BBCD5C834415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6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2D75F6AB-C0FC-C617-E261-0C98185678D0}"/>
              </a:ext>
            </a:extLst>
          </p:cNvPr>
          <p:cNvSpPr/>
          <p:nvPr/>
        </p:nvSpPr>
        <p:spPr>
          <a:xfrm>
            <a:off x="8686800" y="1968672"/>
            <a:ext cx="0" cy="372795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1860754" y="4827532"/>
            <a:ext cx="4313182" cy="4149571"/>
            <a:chOff x="0" y="0"/>
            <a:chExt cx="1135982" cy="10928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5982" cy="1092891"/>
            </a:xfrm>
            <a:custGeom>
              <a:avLst/>
              <a:gdLst/>
              <a:ahLst/>
              <a:cxnLst/>
              <a:rect l="l" t="t" r="r" b="b"/>
              <a:pathLst>
                <a:path w="1135982" h="1092891">
                  <a:moveTo>
                    <a:pt x="0" y="0"/>
                  </a:moveTo>
                  <a:lnTo>
                    <a:pt x="1135982" y="0"/>
                  </a:lnTo>
                  <a:lnTo>
                    <a:pt x="1135982" y="1092891"/>
                  </a:lnTo>
                  <a:lnTo>
                    <a:pt x="0" y="1092891"/>
                  </a:ln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35982" cy="1121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flipH="1">
            <a:off x="5574156" y="4514409"/>
            <a:ext cx="2068641" cy="1203703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54572" y="4504083"/>
            <a:ext cx="1797068" cy="1222075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00950" y="3310779"/>
            <a:ext cx="3086100" cy="1245477"/>
            <a:chOff x="0" y="0"/>
            <a:chExt cx="812800" cy="3280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12800" cy="35660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49222" y="3870493"/>
            <a:ext cx="2789555" cy="609223"/>
            <a:chOff x="0" y="0"/>
            <a:chExt cx="734698" cy="1604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4698" cy="160454"/>
            </a:xfrm>
            <a:custGeom>
              <a:avLst/>
              <a:gdLst/>
              <a:ahLst/>
              <a:cxnLst/>
              <a:rect l="l" t="t" r="r" b="b"/>
              <a:pathLst>
                <a:path w="734698" h="160454">
                  <a:moveTo>
                    <a:pt x="27753" y="0"/>
                  </a:moveTo>
                  <a:lnTo>
                    <a:pt x="706944" y="0"/>
                  </a:lnTo>
                  <a:cubicBezTo>
                    <a:pt x="722272" y="0"/>
                    <a:pt x="734698" y="12426"/>
                    <a:pt x="734698" y="27753"/>
                  </a:cubicBezTo>
                  <a:lnTo>
                    <a:pt x="734698" y="132700"/>
                  </a:lnTo>
                  <a:cubicBezTo>
                    <a:pt x="734698" y="140061"/>
                    <a:pt x="731774" y="147120"/>
                    <a:pt x="726569" y="152325"/>
                  </a:cubicBezTo>
                  <a:cubicBezTo>
                    <a:pt x="721364" y="157530"/>
                    <a:pt x="714305" y="160454"/>
                    <a:pt x="706944" y="160454"/>
                  </a:cubicBezTo>
                  <a:lnTo>
                    <a:pt x="27753" y="160454"/>
                  </a:lnTo>
                  <a:cubicBezTo>
                    <a:pt x="20393" y="160454"/>
                    <a:pt x="13333" y="157530"/>
                    <a:pt x="8129" y="152325"/>
                  </a:cubicBezTo>
                  <a:cubicBezTo>
                    <a:pt x="2924" y="147120"/>
                    <a:pt x="0" y="140061"/>
                    <a:pt x="0" y="132700"/>
                  </a:cubicBezTo>
                  <a:lnTo>
                    <a:pt x="0" y="27753"/>
                  </a:lnTo>
                  <a:cubicBezTo>
                    <a:pt x="0" y="20393"/>
                    <a:pt x="2924" y="13333"/>
                    <a:pt x="8129" y="8129"/>
                  </a:cubicBezTo>
                  <a:cubicBezTo>
                    <a:pt x="13333" y="2924"/>
                    <a:pt x="20393" y="0"/>
                    <a:pt x="27753" y="0"/>
                  </a:cubicBezTo>
                  <a:close/>
                </a:path>
              </a:pathLst>
            </a:custGeom>
            <a:solidFill>
              <a:srgbClr val="00BF63">
                <a:alpha val="49804"/>
              </a:srgbClr>
            </a:solidFill>
            <a:ln w="952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54310"/>
              <a:ext cx="734698" cy="106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750"/>
                </a:lnSpc>
              </a:pP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동행자</a:t>
              </a: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행동</a:t>
              </a: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00" b="1" dirty="0" err="1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선택</a:t>
              </a: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38343" y="2169291"/>
            <a:ext cx="1011314" cy="716280"/>
            <a:chOff x="0" y="0"/>
            <a:chExt cx="266354" cy="1886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6354" cy="188650"/>
            </a:xfrm>
            <a:custGeom>
              <a:avLst/>
              <a:gdLst/>
              <a:ahLst/>
              <a:cxnLst/>
              <a:rect l="l" t="t" r="r" b="b"/>
              <a:pathLst>
                <a:path w="266354" h="188650">
                  <a:moveTo>
                    <a:pt x="94325" y="0"/>
                  </a:moveTo>
                  <a:lnTo>
                    <a:pt x="172029" y="0"/>
                  </a:lnTo>
                  <a:cubicBezTo>
                    <a:pt x="197046" y="0"/>
                    <a:pt x="221038" y="9938"/>
                    <a:pt x="238727" y="27627"/>
                  </a:cubicBezTo>
                  <a:cubicBezTo>
                    <a:pt x="256417" y="45316"/>
                    <a:pt x="266354" y="69308"/>
                    <a:pt x="266354" y="94325"/>
                  </a:cubicBezTo>
                  <a:lnTo>
                    <a:pt x="266354" y="94325"/>
                  </a:lnTo>
                  <a:cubicBezTo>
                    <a:pt x="266354" y="119341"/>
                    <a:pt x="256417" y="143333"/>
                    <a:pt x="238727" y="161023"/>
                  </a:cubicBezTo>
                  <a:cubicBezTo>
                    <a:pt x="221038" y="178712"/>
                    <a:pt x="197046" y="188650"/>
                    <a:pt x="172029" y="188650"/>
                  </a:cubicBezTo>
                  <a:lnTo>
                    <a:pt x="94325" y="188650"/>
                  </a:lnTo>
                  <a:cubicBezTo>
                    <a:pt x="69308" y="188650"/>
                    <a:pt x="45316" y="178712"/>
                    <a:pt x="27627" y="161023"/>
                  </a:cubicBezTo>
                  <a:cubicBezTo>
                    <a:pt x="9938" y="143333"/>
                    <a:pt x="0" y="119341"/>
                    <a:pt x="0" y="94325"/>
                  </a:cubicBezTo>
                  <a:lnTo>
                    <a:pt x="0" y="94325"/>
                  </a:lnTo>
                  <a:cubicBezTo>
                    <a:pt x="0" y="69308"/>
                    <a:pt x="9938" y="45316"/>
                    <a:pt x="27627" y="27627"/>
                  </a:cubicBezTo>
                  <a:cubicBezTo>
                    <a:pt x="45316" y="9938"/>
                    <a:pt x="69308" y="0"/>
                    <a:pt x="94325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66354" cy="21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>
                      <a:alpha val="4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Root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9174481" y="2885571"/>
            <a:ext cx="45719" cy="425208"/>
          </a:xfrm>
          <a:custGeom>
            <a:avLst/>
            <a:gdLst/>
            <a:ahLst/>
            <a:cxnLst/>
            <a:rect l="l" t="t" r="r" b="b"/>
            <a:pathLst>
              <a:path h="212604">
                <a:moveTo>
                  <a:pt x="0" y="0"/>
                </a:moveTo>
                <a:lnTo>
                  <a:pt x="0" y="212604"/>
                </a:lnTo>
              </a:path>
            </a:pathLst>
          </a:cu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22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952FD9D2-E437-177B-6491-4485EEBAEDF4}"/>
              </a:ext>
            </a:extLst>
          </p:cNvPr>
          <p:cNvSpPr/>
          <p:nvPr/>
        </p:nvSpPr>
        <p:spPr>
          <a:xfrm>
            <a:off x="9143999" y="4610737"/>
            <a:ext cx="1" cy="1065528"/>
          </a:xfrm>
          <a:prstGeom prst="line">
            <a:avLst/>
          </a:prstGeom>
          <a:ln w="38100" cap="rnd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9" name="TextBox 16">
            <a:extLst>
              <a:ext uri="{FF2B5EF4-FFF2-40B4-BE49-F238E27FC236}">
                <a16:creationId xmlns:a16="http://schemas.microsoft.com/office/drawing/2014/main" id="{E988656D-6F90-17B1-FDDD-67BC5F59F725}"/>
              </a:ext>
            </a:extLst>
          </p:cNvPr>
          <p:cNvSpPr txBox="1"/>
          <p:nvPr/>
        </p:nvSpPr>
        <p:spPr>
          <a:xfrm>
            <a:off x="2529903" y="5567768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[생명 지원]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Urgent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5D818398-8DB0-B688-481A-4D7D4CEF6539}"/>
              </a:ext>
            </a:extLst>
          </p:cNvPr>
          <p:cNvSpPr txBox="1"/>
          <p:nvPr/>
        </p:nvSpPr>
        <p:spPr>
          <a:xfrm>
            <a:off x="7564300" y="5606706"/>
            <a:ext cx="3086100" cy="12517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전투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dirty="0" err="1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수행</a:t>
            </a: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Combat</a:t>
            </a:r>
          </a:p>
        </p:txBody>
      </p:sp>
      <p:grpSp>
        <p:nvGrpSpPr>
          <p:cNvPr id="43" name="Group 20">
            <a:extLst>
              <a:ext uri="{FF2B5EF4-FFF2-40B4-BE49-F238E27FC236}">
                <a16:creationId xmlns:a16="http://schemas.microsoft.com/office/drawing/2014/main" id="{8EC8AE24-ED90-709B-F016-95427B6C2FD1}"/>
              </a:ext>
            </a:extLst>
          </p:cNvPr>
          <p:cNvGrpSpPr/>
          <p:nvPr/>
        </p:nvGrpSpPr>
        <p:grpSpPr>
          <a:xfrm>
            <a:off x="12443814" y="5650525"/>
            <a:ext cx="3086100" cy="1143220"/>
            <a:chOff x="0" y="0"/>
            <a:chExt cx="812800" cy="301095"/>
          </a:xfrm>
        </p:grpSpPr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851CA27D-D035-5B20-5022-840BD44E279F}"/>
                </a:ext>
              </a:extLst>
            </p:cNvPr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63465"/>
                  </a:lnTo>
                  <a:cubicBezTo>
                    <a:pt x="812800" y="273445"/>
                    <a:pt x="808835" y="283017"/>
                    <a:pt x="801779" y="290073"/>
                  </a:cubicBezTo>
                  <a:cubicBezTo>
                    <a:pt x="794722" y="297130"/>
                    <a:pt x="785150" y="301095"/>
                    <a:pt x="775170" y="301095"/>
                  </a:cubicBezTo>
                  <a:lnTo>
                    <a:pt x="37630" y="301095"/>
                  </a:lnTo>
                  <a:cubicBezTo>
                    <a:pt x="27650" y="301095"/>
                    <a:pt x="18078" y="297130"/>
                    <a:pt x="11021" y="290073"/>
                  </a:cubicBezTo>
                  <a:cubicBezTo>
                    <a:pt x="3965" y="283017"/>
                    <a:pt x="0" y="273445"/>
                    <a:pt x="0" y="263465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573237F9-FA11-D043-1C11-DB0C6D1C1E43}"/>
                </a:ext>
              </a:extLst>
            </p:cNvPr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동행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탐험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Follow</a:t>
              </a:r>
            </a:p>
          </p:txBody>
        </p:sp>
      </p:grpSp>
      <p:sp>
        <p:nvSpPr>
          <p:cNvPr id="46" name="TextBox 30">
            <a:extLst>
              <a:ext uri="{FF2B5EF4-FFF2-40B4-BE49-F238E27FC236}">
                <a16:creationId xmlns:a16="http://schemas.microsoft.com/office/drawing/2014/main" id="{5A05C598-9AC2-D375-B0DE-C6F358E49446}"/>
              </a:ext>
            </a:extLst>
          </p:cNvPr>
          <p:cNvSpPr txBox="1"/>
          <p:nvPr/>
        </p:nvSpPr>
        <p:spPr>
          <a:xfrm>
            <a:off x="3489398" y="7372984"/>
            <a:ext cx="1167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부활 · 도발,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회복 · 가드</a:t>
            </a:r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E8EB014F-017B-D833-D513-31F597C74D1D}"/>
              </a:ext>
            </a:extLst>
          </p:cNvPr>
          <p:cNvSpPr txBox="1"/>
          <p:nvPr/>
        </p:nvSpPr>
        <p:spPr>
          <a:xfrm>
            <a:off x="3230883" y="8231942"/>
            <a:ext cx="168413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전투보다 생존이 우선</a:t>
            </a: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66A63EF0-E9A4-E204-E6FD-CB0F64F00E5B}"/>
              </a:ext>
            </a:extLst>
          </p:cNvPr>
          <p:cNvSpPr txBox="1"/>
          <p:nvPr/>
        </p:nvSpPr>
        <p:spPr>
          <a:xfrm>
            <a:off x="7583350" y="8125169"/>
            <a:ext cx="304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데코레이터 : TargetEnemy Is Set</a:t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66F8CCBC-CFEA-23F0-EF7B-46D128F7776B}"/>
              </a:ext>
            </a:extLst>
          </p:cNvPr>
          <p:cNvSpPr txBox="1"/>
          <p:nvPr/>
        </p:nvSpPr>
        <p:spPr>
          <a:xfrm>
            <a:off x="12716864" y="8206203"/>
            <a:ext cx="254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37E98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없음 · 최종 폴백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6FBFB595-0CB3-9BBF-53A3-9C2421086F0B}"/>
              </a:ext>
            </a:extLst>
          </p:cNvPr>
          <p:cNvSpPr txBox="1"/>
          <p:nvPr/>
        </p:nvSpPr>
        <p:spPr>
          <a:xfrm>
            <a:off x="8295195" y="7266211"/>
            <a:ext cx="16243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명혈·스태미나,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>
                    <a:alpha val="5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연혈 · 가드 · 평타</a:t>
            </a:r>
          </a:p>
        </p:txBody>
      </p:sp>
      <p:sp>
        <p:nvSpPr>
          <p:cNvPr id="51" name="TextBox 35">
            <a:extLst>
              <a:ext uri="{FF2B5EF4-FFF2-40B4-BE49-F238E27FC236}">
                <a16:creationId xmlns:a16="http://schemas.microsoft.com/office/drawing/2014/main" id="{402946D4-4B59-7BFE-B99A-0B4C479412DC}"/>
              </a:ext>
            </a:extLst>
          </p:cNvPr>
          <p:cNvSpPr txBox="1"/>
          <p:nvPr/>
        </p:nvSpPr>
        <p:spPr>
          <a:xfrm>
            <a:off x="12852050" y="7156745"/>
            <a:ext cx="226962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 추적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DE59"/>
                </a:solidFill>
                <a:latin typeface="Noto Sans KR"/>
                <a:ea typeface="Noto Sans KR"/>
                <a:cs typeface="Noto Sans KR"/>
                <a:sym typeface="Noto Sans KR"/>
              </a:rPr>
              <a:t>사선후방 2m, 7m 초과 워프</a:t>
            </a:r>
          </a:p>
        </p:txBody>
      </p:sp>
      <p:grpSp>
        <p:nvGrpSpPr>
          <p:cNvPr id="52" name="Group 26">
            <a:extLst>
              <a:ext uri="{FF2B5EF4-FFF2-40B4-BE49-F238E27FC236}">
                <a16:creationId xmlns:a16="http://schemas.microsoft.com/office/drawing/2014/main" id="{A9ECE4C4-DBD5-84B3-45E9-F13A69CB2358}"/>
              </a:ext>
            </a:extLst>
          </p:cNvPr>
          <p:cNvGrpSpPr/>
          <p:nvPr/>
        </p:nvGrpSpPr>
        <p:grpSpPr>
          <a:xfrm>
            <a:off x="2543422" y="5386150"/>
            <a:ext cx="3086100" cy="1450858"/>
            <a:chOff x="0" y="-54091"/>
            <a:chExt cx="812800" cy="382119"/>
          </a:xfrm>
        </p:grpSpPr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2D703606-7785-7023-A396-470FB7E43B54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extBox 28">
              <a:extLst>
                <a:ext uri="{FF2B5EF4-FFF2-40B4-BE49-F238E27FC236}">
                  <a16:creationId xmlns:a16="http://schemas.microsoft.com/office/drawing/2014/main" id="{4CC21904-F961-BB60-6EE6-D4030C17CB55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5" name="Group 26">
            <a:extLst>
              <a:ext uri="{FF2B5EF4-FFF2-40B4-BE49-F238E27FC236}">
                <a16:creationId xmlns:a16="http://schemas.microsoft.com/office/drawing/2014/main" id="{6AC37608-78C7-BEAB-FA53-A5F8C16E790E}"/>
              </a:ext>
            </a:extLst>
          </p:cNvPr>
          <p:cNvGrpSpPr/>
          <p:nvPr/>
        </p:nvGrpSpPr>
        <p:grpSpPr>
          <a:xfrm>
            <a:off x="7583350" y="5450827"/>
            <a:ext cx="3086100" cy="1450858"/>
            <a:chOff x="0" y="-54091"/>
            <a:chExt cx="812800" cy="382119"/>
          </a:xfrm>
        </p:grpSpPr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3DA4CC00-57DE-BDAA-C862-A362E4334C27}"/>
                </a:ext>
              </a:extLst>
            </p:cNvPr>
            <p:cNvSpPr/>
            <p:nvPr/>
          </p:nvSpPr>
          <p:spPr>
            <a:xfrm>
              <a:off x="0" y="0"/>
              <a:ext cx="812800" cy="328027"/>
            </a:xfrm>
            <a:custGeom>
              <a:avLst/>
              <a:gdLst/>
              <a:ahLst/>
              <a:cxnLst/>
              <a:rect l="l" t="t" r="r" b="b"/>
              <a:pathLst>
                <a:path w="812800" h="328027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290397"/>
                  </a:lnTo>
                  <a:cubicBezTo>
                    <a:pt x="812800" y="300377"/>
                    <a:pt x="808835" y="309948"/>
                    <a:pt x="801779" y="317005"/>
                  </a:cubicBezTo>
                  <a:cubicBezTo>
                    <a:pt x="794722" y="324062"/>
                    <a:pt x="785150" y="328027"/>
                    <a:pt x="775170" y="328027"/>
                  </a:cubicBezTo>
                  <a:lnTo>
                    <a:pt x="37630" y="328027"/>
                  </a:lnTo>
                  <a:cubicBezTo>
                    <a:pt x="27650" y="328027"/>
                    <a:pt x="18078" y="324062"/>
                    <a:pt x="11021" y="317005"/>
                  </a:cubicBezTo>
                  <a:cubicBezTo>
                    <a:pt x="3965" y="309948"/>
                    <a:pt x="0" y="300377"/>
                    <a:pt x="0" y="29039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6A6A6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TextBox 28">
              <a:extLst>
                <a:ext uri="{FF2B5EF4-FFF2-40B4-BE49-F238E27FC236}">
                  <a16:creationId xmlns:a16="http://schemas.microsoft.com/office/drawing/2014/main" id="{B6D5A69E-3755-9923-8FEA-9DD2D46AD4CE}"/>
                </a:ext>
              </a:extLst>
            </p:cNvPr>
            <p:cNvSpPr txBox="1"/>
            <p:nvPr/>
          </p:nvSpPr>
          <p:spPr>
            <a:xfrm>
              <a:off x="0" y="-54091"/>
              <a:ext cx="812800" cy="38211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endParaRPr lang="en-US" sz="1500" b="1" dirty="0">
                <a:solidFill>
                  <a:srgbClr val="FFFFFF">
                    <a:alpha val="49804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8" name="Group 4">
            <a:extLst>
              <a:ext uri="{FF2B5EF4-FFF2-40B4-BE49-F238E27FC236}">
                <a16:creationId xmlns:a16="http://schemas.microsoft.com/office/drawing/2014/main" id="{DB92A9E1-46A8-796D-B601-B24D6700C32A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6DAE3617-5223-BAC9-0278-1FC018EA6D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CFB166E-066E-23F6-D306-17A66514EB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F8A4E1E-9C16-9D3E-F92D-5148E0A2B022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[Follow]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52101" y="4129711"/>
            <a:ext cx="3085725" cy="716280"/>
            <a:chOff x="0" y="0"/>
            <a:chExt cx="812800" cy="188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8673"/>
            </a:xfrm>
            <a:custGeom>
              <a:avLst/>
              <a:gdLst/>
              <a:ahLst/>
              <a:cxnLst/>
              <a:rect l="l" t="t" r="r" b="b"/>
              <a:pathLst>
                <a:path w="812800" h="18867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151039"/>
                  </a:lnTo>
                  <a:cubicBezTo>
                    <a:pt x="812800" y="161020"/>
                    <a:pt x="808835" y="170592"/>
                    <a:pt x="801777" y="177650"/>
                  </a:cubicBezTo>
                  <a:cubicBezTo>
                    <a:pt x="794719" y="184708"/>
                    <a:pt x="785147" y="188673"/>
                    <a:pt x="775166" y="188673"/>
                  </a:cubicBezTo>
                  <a:lnTo>
                    <a:pt x="37634" y="188673"/>
                  </a:lnTo>
                  <a:cubicBezTo>
                    <a:pt x="16849" y="188673"/>
                    <a:pt x="0" y="171823"/>
                    <a:pt x="0" y="15103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94964" y="3800293"/>
            <a:ext cx="0" cy="329418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666445" y="5035018"/>
            <a:ext cx="3085725" cy="1486753"/>
            <a:chOff x="0" y="-144643"/>
            <a:chExt cx="4114300" cy="198233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363046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700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252101" y="5035018"/>
            <a:ext cx="3085725" cy="1486753"/>
            <a:chOff x="0" y="-144643"/>
            <a:chExt cx="4114300" cy="198233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812800" cy="363046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104775"/>
                <a:ext cx="734698" cy="2092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200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833376" y="5035018"/>
            <a:ext cx="3085725" cy="1486753"/>
            <a:chOff x="0" y="-144643"/>
            <a:chExt cx="4114300" cy="198233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2800" cy="3613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104775"/>
                <a:ext cx="734698" cy="2092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Else · 조건 없음</a:t>
                </a:r>
              </a:p>
            </p:txBody>
          </p:sp>
        </p:grpSp>
      </p:grpSp>
      <p:sp>
        <p:nvSpPr>
          <p:cNvPr id="33" name="AutoShape 33"/>
          <p:cNvSpPr/>
          <p:nvPr/>
        </p:nvSpPr>
        <p:spPr>
          <a:xfrm>
            <a:off x="8794964" y="4845991"/>
            <a:ext cx="0" cy="29750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 flipH="1">
            <a:off x="3301338" y="4487851"/>
            <a:ext cx="3950763" cy="695588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35"/>
          <p:cNvSpPr/>
          <p:nvPr/>
        </p:nvSpPr>
        <p:spPr>
          <a:xfrm flipH="1">
            <a:off x="3209307" y="6521771"/>
            <a:ext cx="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AutoShape 36"/>
          <p:cNvSpPr/>
          <p:nvPr/>
        </p:nvSpPr>
        <p:spPr>
          <a:xfrm flipH="1">
            <a:off x="14320986" y="6521771"/>
            <a:ext cx="55253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 flipH="1">
            <a:off x="6912148" y="6521771"/>
            <a:ext cx="183689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337826" y="4487851"/>
            <a:ext cx="4079315" cy="65564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1666445" y="6903056"/>
            <a:ext cx="3085725" cy="838988"/>
            <a:chOff x="0" y="0"/>
            <a:chExt cx="4114300" cy="11186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04775"/>
                <a:ext cx="72624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WarpToPlayer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69286" y="6903056"/>
            <a:ext cx="3085725" cy="838988"/>
            <a:chOff x="0" y="0"/>
            <a:chExt cx="4114300" cy="1118651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04775"/>
                <a:ext cx="734698" cy="2536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134917" y="6903056"/>
            <a:ext cx="3085725" cy="838988"/>
            <a:chOff x="0" y="0"/>
            <a:chExt cx="4114300" cy="111865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MoveToSlot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2833376" y="6903056"/>
            <a:ext cx="3085725" cy="838988"/>
            <a:chOff x="0" y="0"/>
            <a:chExt cx="4114300" cy="1118651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MatchPace</a:t>
                </a:r>
              </a:p>
            </p:txBody>
          </p:sp>
        </p:grpSp>
      </p:grpSp>
      <p:sp>
        <p:nvSpPr>
          <p:cNvPr id="67" name="AutoShape 67"/>
          <p:cNvSpPr/>
          <p:nvPr/>
        </p:nvSpPr>
        <p:spPr>
          <a:xfrm>
            <a:off x="8829859" y="6521771"/>
            <a:ext cx="1847921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23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71" name="AutoShape 10">
            <a:extLst>
              <a:ext uri="{FF2B5EF4-FFF2-40B4-BE49-F238E27FC236}">
                <a16:creationId xmlns:a16="http://schemas.microsoft.com/office/drawing/2014/main" id="{C7507F7C-23ED-D471-4AF6-9762208745CD}"/>
              </a:ext>
            </a:extLst>
          </p:cNvPr>
          <p:cNvSpPr/>
          <p:nvPr/>
        </p:nvSpPr>
        <p:spPr>
          <a:xfrm>
            <a:off x="7315201" y="2144512"/>
            <a:ext cx="1479761" cy="512701"/>
          </a:xfrm>
          <a:prstGeom prst="line">
            <a:avLst/>
          </a:prstGeom>
          <a:ln w="38100" cap="rnd">
            <a:solidFill>
              <a:schemeClr val="bg1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72" name="Group 4">
            <a:extLst>
              <a:ext uri="{FF2B5EF4-FFF2-40B4-BE49-F238E27FC236}">
                <a16:creationId xmlns:a16="http://schemas.microsoft.com/office/drawing/2014/main" id="{DCF7BAD3-6169-982C-63E1-0A427DDB926C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73" name="Freeform 5">
              <a:extLst>
                <a:ext uri="{FF2B5EF4-FFF2-40B4-BE49-F238E27FC236}">
                  <a16:creationId xmlns:a16="http://schemas.microsoft.com/office/drawing/2014/main" id="{7996410E-8973-1508-6615-4D1AB035A4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31130D9-A059-9D05-618B-CB71D5298AF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6A8814D-0A32-681C-7D7A-07354006E462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[Follow]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52101" y="4129711"/>
            <a:ext cx="3085725" cy="716280"/>
            <a:chOff x="0" y="0"/>
            <a:chExt cx="812800" cy="188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8673"/>
            </a:xfrm>
            <a:custGeom>
              <a:avLst/>
              <a:gdLst/>
              <a:ahLst/>
              <a:cxnLst/>
              <a:rect l="l" t="t" r="r" b="b"/>
              <a:pathLst>
                <a:path w="812800" h="18867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151039"/>
                  </a:lnTo>
                  <a:cubicBezTo>
                    <a:pt x="812800" y="161020"/>
                    <a:pt x="808835" y="170592"/>
                    <a:pt x="801777" y="177650"/>
                  </a:cubicBezTo>
                  <a:cubicBezTo>
                    <a:pt x="794719" y="184708"/>
                    <a:pt x="785147" y="188673"/>
                    <a:pt x="775166" y="188673"/>
                  </a:cubicBezTo>
                  <a:lnTo>
                    <a:pt x="37634" y="188673"/>
                  </a:lnTo>
                  <a:cubicBezTo>
                    <a:pt x="16849" y="188673"/>
                    <a:pt x="0" y="171823"/>
                    <a:pt x="0" y="15103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94964" y="3800293"/>
            <a:ext cx="0" cy="329418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666445" y="5035018"/>
            <a:ext cx="3085725" cy="1486753"/>
            <a:chOff x="0" y="-144643"/>
            <a:chExt cx="4114300" cy="198233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3497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700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252101" y="5035018"/>
            <a:ext cx="3085725" cy="1486753"/>
            <a:chOff x="0" y="-144643"/>
            <a:chExt cx="4114300" cy="198233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799412" cy="3613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200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833376" y="5035018"/>
            <a:ext cx="3085725" cy="1486753"/>
            <a:chOff x="0" y="-144643"/>
            <a:chExt cx="4114300" cy="198233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2800" cy="363046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Else · 조건 없음</a:t>
                </a:r>
              </a:p>
            </p:txBody>
          </p:sp>
        </p:grpSp>
      </p:grpSp>
      <p:sp>
        <p:nvSpPr>
          <p:cNvPr id="33" name="AutoShape 33"/>
          <p:cNvSpPr/>
          <p:nvPr/>
        </p:nvSpPr>
        <p:spPr>
          <a:xfrm>
            <a:off x="8794964" y="4845991"/>
            <a:ext cx="0" cy="29750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AutoShape 34"/>
          <p:cNvSpPr/>
          <p:nvPr/>
        </p:nvSpPr>
        <p:spPr>
          <a:xfrm flipH="1">
            <a:off x="3301338" y="4487851"/>
            <a:ext cx="3950763" cy="69558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AutoShape 35"/>
          <p:cNvSpPr/>
          <p:nvPr/>
        </p:nvSpPr>
        <p:spPr>
          <a:xfrm flipH="1">
            <a:off x="3209307" y="6521771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14376237" y="6521771"/>
            <a:ext cx="1" cy="397817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AutoShape 37"/>
          <p:cNvSpPr/>
          <p:nvPr/>
        </p:nvSpPr>
        <p:spPr>
          <a:xfrm flipH="1">
            <a:off x="6912148" y="6521771"/>
            <a:ext cx="183689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10337826" y="4487851"/>
            <a:ext cx="4079315" cy="65564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9" name="Group 39"/>
          <p:cNvGrpSpPr/>
          <p:nvPr/>
        </p:nvGrpSpPr>
        <p:grpSpPr>
          <a:xfrm>
            <a:off x="1666445" y="6903056"/>
            <a:ext cx="3085725" cy="838988"/>
            <a:chOff x="0" y="0"/>
            <a:chExt cx="4114300" cy="11186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WarpToPlayer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69286" y="6903056"/>
            <a:ext cx="3085725" cy="838988"/>
            <a:chOff x="0" y="0"/>
            <a:chExt cx="4114300" cy="1118651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134917" y="6903056"/>
            <a:ext cx="3085725" cy="838988"/>
            <a:chOff x="0" y="0"/>
            <a:chExt cx="4114300" cy="111865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MoveToSlot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2833376" y="6903056"/>
            <a:ext cx="3085725" cy="838988"/>
            <a:chOff x="0" y="0"/>
            <a:chExt cx="4114300" cy="1118651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MatchPace</a:t>
                </a:r>
              </a:p>
            </p:txBody>
          </p:sp>
        </p:grpSp>
      </p:grpSp>
      <p:sp>
        <p:nvSpPr>
          <p:cNvPr id="67" name="AutoShape 67"/>
          <p:cNvSpPr/>
          <p:nvPr/>
        </p:nvSpPr>
        <p:spPr>
          <a:xfrm>
            <a:off x="8829859" y="6521771"/>
            <a:ext cx="1847921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11237794" y="3398458"/>
            <a:ext cx="4916498" cy="1022744"/>
            <a:chOff x="0" y="0"/>
            <a:chExt cx="1294880" cy="26936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94880" cy="269365"/>
            </a:xfrm>
            <a:custGeom>
              <a:avLst/>
              <a:gdLst/>
              <a:ahLst/>
              <a:cxnLst/>
              <a:rect l="l" t="t" r="r" b="b"/>
              <a:pathLst>
                <a:path w="1294880" h="269365">
                  <a:moveTo>
                    <a:pt x="0" y="0"/>
                  </a:moveTo>
                  <a:lnTo>
                    <a:pt x="1294880" y="0"/>
                  </a:lnTo>
                  <a:lnTo>
                    <a:pt x="1294880" y="269365"/>
                  </a:lnTo>
                  <a:lnTo>
                    <a:pt x="0" y="269365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1294880" cy="29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DistanceToPlayer 값에 따라 세 상태 중 하나를 고른다. 마지막 갈래는 조건을 두지 않는다.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47802" y="2608884"/>
            <a:ext cx="5380209" cy="1131240"/>
            <a:chOff x="-22482" y="-28575"/>
            <a:chExt cx="1417010" cy="2979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394528" cy="269365"/>
            </a:xfrm>
            <a:custGeom>
              <a:avLst/>
              <a:gdLst/>
              <a:ahLst/>
              <a:cxnLst/>
              <a:rect l="l" t="t" r="r" b="b"/>
              <a:pathLst>
                <a:path w="1394528" h="269365">
                  <a:moveTo>
                    <a:pt x="0" y="0"/>
                  </a:moveTo>
                  <a:lnTo>
                    <a:pt x="1394528" y="0"/>
                  </a:lnTo>
                  <a:lnTo>
                    <a:pt x="1394528" y="269365"/>
                  </a:lnTo>
                  <a:lnTo>
                    <a:pt x="0" y="269365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-22482" y="-28575"/>
              <a:ext cx="1417010" cy="29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TargetEnemy가 비었을 때 도달하는 최종 폴백이다. Service 2가 타겟을 Clear해야 도달한다.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74" name="AutoShape 74"/>
          <p:cNvSpPr/>
          <p:nvPr/>
        </p:nvSpPr>
        <p:spPr>
          <a:xfrm flipV="1">
            <a:off x="6828011" y="3199238"/>
            <a:ext cx="499859" cy="29514"/>
          </a:xfrm>
          <a:prstGeom prst="line">
            <a:avLst/>
          </a:prstGeom>
          <a:ln w="38100" cap="flat">
            <a:solidFill>
              <a:schemeClr val="bg2">
                <a:lumMod val="75000"/>
              </a:schemeClr>
            </a:solidFill>
            <a:prstDash val="sysDot"/>
            <a:headEnd type="arrow" w="med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5" name="AutoShape 75"/>
          <p:cNvSpPr/>
          <p:nvPr/>
        </p:nvSpPr>
        <p:spPr>
          <a:xfrm flipV="1">
            <a:off x="10337826" y="3850985"/>
            <a:ext cx="848763" cy="636865"/>
          </a:xfrm>
          <a:prstGeom prst="line">
            <a:avLst/>
          </a:prstGeom>
          <a:ln w="38100" cap="flat">
            <a:solidFill>
              <a:schemeClr val="bg2">
                <a:lumMod val="75000"/>
              </a:schemeClr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24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97CF6010-1351-3B3D-F5F6-5D8A111422CF}"/>
              </a:ext>
            </a:extLst>
          </p:cNvPr>
          <p:cNvSpPr/>
          <p:nvPr/>
        </p:nvSpPr>
        <p:spPr>
          <a:xfrm>
            <a:off x="7327870" y="2090783"/>
            <a:ext cx="1467091" cy="566431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>
              <a:ln>
                <a:solidFill>
                  <a:srgbClr val="282828"/>
                </a:solidFill>
              </a:ln>
            </a:endParaRPr>
          </a:p>
        </p:txBody>
      </p:sp>
      <p:grpSp>
        <p:nvGrpSpPr>
          <p:cNvPr id="84" name="Group 4">
            <a:extLst>
              <a:ext uri="{FF2B5EF4-FFF2-40B4-BE49-F238E27FC236}">
                <a16:creationId xmlns:a16="http://schemas.microsoft.com/office/drawing/2014/main" id="{78D30FEC-6CB4-0402-1780-138C5C7A04CA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85" name="Freeform 5">
              <a:extLst>
                <a:ext uri="{FF2B5EF4-FFF2-40B4-BE49-F238E27FC236}">
                  <a16:creationId xmlns:a16="http://schemas.microsoft.com/office/drawing/2014/main" id="{DAE89848-53E7-F4A0-E456-5A5989221D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3F1CD14-BEBD-BB57-CE16-33AD8987F9D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0552F4CB-F7AD-641E-2D47-D55A4DEBBACA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[Follow]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52101" y="4129711"/>
            <a:ext cx="3085725" cy="716280"/>
            <a:chOff x="0" y="0"/>
            <a:chExt cx="812800" cy="188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8673"/>
            </a:xfrm>
            <a:custGeom>
              <a:avLst/>
              <a:gdLst/>
              <a:ahLst/>
              <a:cxnLst/>
              <a:rect l="l" t="t" r="r" b="b"/>
              <a:pathLst>
                <a:path w="812800" h="18867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151039"/>
                  </a:lnTo>
                  <a:cubicBezTo>
                    <a:pt x="812800" y="161020"/>
                    <a:pt x="808835" y="170592"/>
                    <a:pt x="801777" y="177650"/>
                  </a:cubicBezTo>
                  <a:cubicBezTo>
                    <a:pt x="794719" y="184708"/>
                    <a:pt x="785147" y="188673"/>
                    <a:pt x="775166" y="188673"/>
                  </a:cubicBezTo>
                  <a:lnTo>
                    <a:pt x="37634" y="188673"/>
                  </a:lnTo>
                  <a:cubicBezTo>
                    <a:pt x="16849" y="188673"/>
                    <a:pt x="0" y="171823"/>
                    <a:pt x="0" y="15103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94964" y="3800293"/>
            <a:ext cx="0" cy="32941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666445" y="5035018"/>
            <a:ext cx="3085725" cy="1486753"/>
            <a:chOff x="0" y="-144643"/>
            <a:chExt cx="4114300" cy="198233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347978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700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252101" y="5143500"/>
            <a:ext cx="3085725" cy="1378271"/>
            <a:chOff x="0" y="0"/>
            <a:chExt cx="4114300" cy="183769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114300" cy="1837695"/>
              <a:chOff x="0" y="0"/>
              <a:chExt cx="812800" cy="36304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812800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200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833376" y="5143500"/>
            <a:ext cx="3085725" cy="1378271"/>
            <a:chOff x="0" y="0"/>
            <a:chExt cx="4114300" cy="1837695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114300" cy="1837695"/>
              <a:chOff x="0" y="0"/>
              <a:chExt cx="812800" cy="36304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2800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Else · 조건 없음</a:t>
                </a:r>
              </a:p>
            </p:txBody>
          </p:sp>
        </p:grpSp>
      </p:grpSp>
      <p:sp>
        <p:nvSpPr>
          <p:cNvPr id="33" name="AutoShape 33"/>
          <p:cNvSpPr/>
          <p:nvPr/>
        </p:nvSpPr>
        <p:spPr>
          <a:xfrm>
            <a:off x="8794964" y="4845991"/>
            <a:ext cx="0" cy="29750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 flipH="1">
            <a:off x="3301338" y="4487851"/>
            <a:ext cx="3950763" cy="69558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35"/>
          <p:cNvSpPr/>
          <p:nvPr/>
        </p:nvSpPr>
        <p:spPr>
          <a:xfrm flipH="1">
            <a:off x="3209307" y="6521771"/>
            <a:ext cx="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AutoShape 36"/>
          <p:cNvSpPr/>
          <p:nvPr/>
        </p:nvSpPr>
        <p:spPr>
          <a:xfrm flipH="1">
            <a:off x="14320986" y="6521771"/>
            <a:ext cx="55253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 flipH="1">
            <a:off x="6912148" y="6521771"/>
            <a:ext cx="183689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337826" y="4487851"/>
            <a:ext cx="4079315" cy="65564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1666445" y="6903056"/>
            <a:ext cx="3085725" cy="838988"/>
            <a:chOff x="0" y="0"/>
            <a:chExt cx="4114300" cy="11186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WarpToPlayer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69286" y="6903056"/>
            <a:ext cx="3085725" cy="838988"/>
            <a:chOff x="0" y="0"/>
            <a:chExt cx="4114300" cy="1118651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134917" y="6903056"/>
            <a:ext cx="3085725" cy="838988"/>
            <a:chOff x="0" y="0"/>
            <a:chExt cx="4114300" cy="111865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MoveToSlot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2833376" y="6903056"/>
            <a:ext cx="3085725" cy="838988"/>
            <a:chOff x="0" y="0"/>
            <a:chExt cx="4114300" cy="1118651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104775"/>
                <a:ext cx="734698" cy="2536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MatchPace</a:t>
                </a:r>
              </a:p>
            </p:txBody>
          </p:sp>
        </p:grpSp>
      </p:grpSp>
      <p:sp>
        <p:nvSpPr>
          <p:cNvPr id="67" name="AutoShape 67"/>
          <p:cNvSpPr/>
          <p:nvPr/>
        </p:nvSpPr>
        <p:spPr>
          <a:xfrm>
            <a:off x="8829859" y="6521771"/>
            <a:ext cx="1847921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369286" y="5615276"/>
            <a:ext cx="9691893" cy="12877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5369286" y="5506780"/>
            <a:ext cx="9814487" cy="1396276"/>
            <a:chOff x="0" y="-28575"/>
            <a:chExt cx="2584885" cy="36774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52597" cy="339168"/>
            </a:xfrm>
            <a:custGeom>
              <a:avLst/>
              <a:gdLst/>
              <a:ahLst/>
              <a:cxnLst/>
              <a:rect l="l" t="t" r="r" b="b"/>
              <a:pathLst>
                <a:path w="2552597" h="339168">
                  <a:moveTo>
                    <a:pt x="0" y="0"/>
                  </a:moveTo>
                  <a:lnTo>
                    <a:pt x="2552597" y="0"/>
                  </a:lnTo>
                  <a:lnTo>
                    <a:pt x="2552597" y="339168"/>
                  </a:lnTo>
                  <a:lnTo>
                    <a:pt x="0" y="33916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2288" y="-28575"/>
              <a:ext cx="2552597" cy="36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[Sequence] (거리 &gt; 7m) → Task : WarpToPlayer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 : 플레이어가 너무 멀어졌을 때다. 지형 끼임(3초 초과)도 같은 태스크를 공유한다.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의도 : 맵 미아를 막는 강제 복귀 장치다. 워프는 유저 시야 밖에서 수행한다.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25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78" name="Group 4">
            <a:extLst>
              <a:ext uri="{FF2B5EF4-FFF2-40B4-BE49-F238E27FC236}">
                <a16:creationId xmlns:a16="http://schemas.microsoft.com/office/drawing/2014/main" id="{5892A922-EF42-3E24-4B4F-327E6FBF0B44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67352708-F03B-000B-F575-3D1C64E4F4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4EE6B53-A051-E774-041F-C2D20C401E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8397D22-F089-7A49-0025-880190F3C61D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AutoShape 10">
            <a:extLst>
              <a:ext uri="{FF2B5EF4-FFF2-40B4-BE49-F238E27FC236}">
                <a16:creationId xmlns:a16="http://schemas.microsoft.com/office/drawing/2014/main" id="{C3182CD6-39CC-9D89-061C-C315226388BE}"/>
              </a:ext>
            </a:extLst>
          </p:cNvPr>
          <p:cNvSpPr/>
          <p:nvPr/>
        </p:nvSpPr>
        <p:spPr>
          <a:xfrm>
            <a:off x="7327870" y="2090783"/>
            <a:ext cx="1467091" cy="566431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>
              <a:ln>
                <a:solidFill>
                  <a:srgbClr val="282828"/>
                </a:solidFill>
              </a:ln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[Follow]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52101" y="4129711"/>
            <a:ext cx="3085725" cy="716280"/>
            <a:chOff x="0" y="0"/>
            <a:chExt cx="812800" cy="188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8673"/>
            </a:xfrm>
            <a:custGeom>
              <a:avLst/>
              <a:gdLst/>
              <a:ahLst/>
              <a:cxnLst/>
              <a:rect l="l" t="t" r="r" b="b"/>
              <a:pathLst>
                <a:path w="812800" h="18867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151039"/>
                  </a:lnTo>
                  <a:cubicBezTo>
                    <a:pt x="812800" y="161020"/>
                    <a:pt x="808835" y="170592"/>
                    <a:pt x="801777" y="177650"/>
                  </a:cubicBezTo>
                  <a:cubicBezTo>
                    <a:pt x="794719" y="184708"/>
                    <a:pt x="785147" y="188673"/>
                    <a:pt x="775166" y="188673"/>
                  </a:cubicBezTo>
                  <a:lnTo>
                    <a:pt x="37634" y="188673"/>
                  </a:lnTo>
                  <a:cubicBezTo>
                    <a:pt x="16849" y="188673"/>
                    <a:pt x="0" y="171823"/>
                    <a:pt x="0" y="15103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94964" y="3800293"/>
            <a:ext cx="0" cy="32941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666445" y="5035018"/>
            <a:ext cx="3085725" cy="1486753"/>
            <a:chOff x="0" y="-144643"/>
            <a:chExt cx="4114300" cy="198233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33921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700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252101" y="5035018"/>
            <a:ext cx="3085725" cy="1486753"/>
            <a:chOff x="0" y="-144643"/>
            <a:chExt cx="4114300" cy="198233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812800" cy="3613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200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833376" y="5035018"/>
            <a:ext cx="3085725" cy="1486753"/>
            <a:chOff x="0" y="-144643"/>
            <a:chExt cx="4114300" cy="198233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2800" cy="3613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104775"/>
                <a:ext cx="734698" cy="1956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Else · 조건 없음</a:t>
                </a:r>
              </a:p>
            </p:txBody>
          </p:sp>
        </p:grpSp>
      </p:grpSp>
      <p:sp>
        <p:nvSpPr>
          <p:cNvPr id="33" name="AutoShape 33"/>
          <p:cNvSpPr/>
          <p:nvPr/>
        </p:nvSpPr>
        <p:spPr>
          <a:xfrm>
            <a:off x="8794964" y="4845991"/>
            <a:ext cx="0" cy="29750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 flipH="1">
            <a:off x="3301338" y="4487851"/>
            <a:ext cx="3950763" cy="69558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35"/>
          <p:cNvSpPr/>
          <p:nvPr/>
        </p:nvSpPr>
        <p:spPr>
          <a:xfrm flipH="1">
            <a:off x="3209307" y="6521771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14376237" y="6521771"/>
            <a:ext cx="1" cy="432284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AutoShape 37"/>
          <p:cNvSpPr/>
          <p:nvPr/>
        </p:nvSpPr>
        <p:spPr>
          <a:xfrm flipH="1">
            <a:off x="6912148" y="6521771"/>
            <a:ext cx="1836890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337826" y="4487851"/>
            <a:ext cx="4079315" cy="65564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1666445" y="6903056"/>
            <a:ext cx="3085725" cy="838988"/>
            <a:chOff x="0" y="0"/>
            <a:chExt cx="4114300" cy="11186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WarpToPlayer</a:t>
                </a:r>
                <a:endParaRPr lang="en-US" sz="1500" b="1" dirty="0">
                  <a:solidFill>
                    <a:schemeClr val="bg1">
                      <a:lumMod val="50000"/>
                    </a:schemeClr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69286" y="6903056"/>
            <a:ext cx="3085725" cy="838988"/>
            <a:chOff x="0" y="0"/>
            <a:chExt cx="4114300" cy="1118651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134917" y="6903056"/>
            <a:ext cx="3085725" cy="838988"/>
            <a:chOff x="0" y="0"/>
            <a:chExt cx="4114300" cy="111865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 err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MoveToSlot</a:t>
                </a:r>
                <a:endPara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2833376" y="6903056"/>
            <a:ext cx="3085725" cy="838988"/>
            <a:chOff x="0" y="0"/>
            <a:chExt cx="4114300" cy="1118651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MatchPace</a:t>
                </a:r>
              </a:p>
            </p:txBody>
          </p:sp>
        </p:grpSp>
      </p:grpSp>
      <p:sp>
        <p:nvSpPr>
          <p:cNvPr id="67" name="AutoShape 67"/>
          <p:cNvSpPr/>
          <p:nvPr/>
        </p:nvSpPr>
        <p:spPr>
          <a:xfrm>
            <a:off x="8829859" y="6521771"/>
            <a:ext cx="1847921" cy="381285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949017" y="3558211"/>
            <a:ext cx="9691893" cy="12877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3949017" y="3449715"/>
            <a:ext cx="9783922" cy="1396276"/>
            <a:chOff x="0" y="-28575"/>
            <a:chExt cx="2576835" cy="36774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52597" cy="339168"/>
            </a:xfrm>
            <a:custGeom>
              <a:avLst/>
              <a:gdLst/>
              <a:ahLst/>
              <a:cxnLst/>
              <a:rect l="l" t="t" r="r" b="b"/>
              <a:pathLst>
                <a:path w="2552597" h="339168">
                  <a:moveTo>
                    <a:pt x="0" y="0"/>
                  </a:moveTo>
                  <a:lnTo>
                    <a:pt x="2552597" y="0"/>
                  </a:lnTo>
                  <a:lnTo>
                    <a:pt x="2552597" y="339168"/>
                  </a:lnTo>
                  <a:lnTo>
                    <a:pt x="0" y="33916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4238" y="-28575"/>
              <a:ext cx="2552597" cy="36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[Sequence] (거리 &gt; 2m) → Task : UpdateSpeed &amp; MoveToSlot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endPara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 : 간격이 벌어져 따라붙는 상태다. 유저가 대시하면 함께 가속한다.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의도 : 정면이 아니라 사선 후방 슬롯으로 이동해 유저 동선을 막지 않는다.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26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78" name="Group 4">
            <a:extLst>
              <a:ext uri="{FF2B5EF4-FFF2-40B4-BE49-F238E27FC236}">
                <a16:creationId xmlns:a16="http://schemas.microsoft.com/office/drawing/2014/main" id="{F28A24A2-574D-DB3A-591D-8506DD9DED7A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FC4CD846-C1A4-D919-F250-5BDD629F2F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7C1C85-A201-770E-AF98-FCFBF599E4F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89343E8-73C6-0B4E-9B96-E81FE6BA437E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AutoShape 10">
            <a:extLst>
              <a:ext uri="{FF2B5EF4-FFF2-40B4-BE49-F238E27FC236}">
                <a16:creationId xmlns:a16="http://schemas.microsoft.com/office/drawing/2014/main" id="{0A190669-28BA-8543-937A-FF3FADE0A2CC}"/>
              </a:ext>
            </a:extLst>
          </p:cNvPr>
          <p:cNvSpPr/>
          <p:nvPr/>
        </p:nvSpPr>
        <p:spPr>
          <a:xfrm>
            <a:off x="7327870" y="2090783"/>
            <a:ext cx="1467091" cy="566431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>
              <a:ln>
                <a:solidFill>
                  <a:srgbClr val="282828"/>
                </a:solidFill>
              </a:ln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252101" y="2657212"/>
            <a:ext cx="3085725" cy="1143081"/>
            <a:chOff x="0" y="0"/>
            <a:chExt cx="812800" cy="3010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1095"/>
            </a:xfrm>
            <a:custGeom>
              <a:avLst/>
              <a:gdLst/>
              <a:ahLst/>
              <a:cxnLst/>
              <a:rect l="l" t="t" r="r" b="b"/>
              <a:pathLst>
                <a:path w="812800" h="301095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263461"/>
                  </a:lnTo>
                  <a:cubicBezTo>
                    <a:pt x="812800" y="284245"/>
                    <a:pt x="795951" y="301095"/>
                    <a:pt x="775166" y="301095"/>
                  </a:cubicBezTo>
                  <a:lnTo>
                    <a:pt x="37634" y="301095"/>
                  </a:lnTo>
                  <a:cubicBezTo>
                    <a:pt x="16849" y="301095"/>
                    <a:pt x="0" y="284245"/>
                    <a:pt x="0" y="263461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329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[Follow]</a:t>
              </a:r>
            </a:p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Sequence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52101" y="4129711"/>
            <a:ext cx="3085725" cy="716280"/>
            <a:chOff x="0" y="0"/>
            <a:chExt cx="812800" cy="188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8673"/>
            </a:xfrm>
            <a:custGeom>
              <a:avLst/>
              <a:gdLst/>
              <a:ahLst/>
              <a:cxnLst/>
              <a:rect l="l" t="t" r="r" b="b"/>
              <a:pathLst>
                <a:path w="812800" h="188673">
                  <a:moveTo>
                    <a:pt x="37634" y="0"/>
                  </a:moveTo>
                  <a:lnTo>
                    <a:pt x="775166" y="0"/>
                  </a:lnTo>
                  <a:cubicBezTo>
                    <a:pt x="795951" y="0"/>
                    <a:pt x="812800" y="16849"/>
                    <a:pt x="812800" y="37634"/>
                  </a:cubicBezTo>
                  <a:lnTo>
                    <a:pt x="812800" y="151039"/>
                  </a:lnTo>
                  <a:cubicBezTo>
                    <a:pt x="812800" y="161020"/>
                    <a:pt x="808835" y="170592"/>
                    <a:pt x="801777" y="177650"/>
                  </a:cubicBezTo>
                  <a:cubicBezTo>
                    <a:pt x="794719" y="184708"/>
                    <a:pt x="785147" y="188673"/>
                    <a:pt x="775166" y="188673"/>
                  </a:cubicBezTo>
                  <a:lnTo>
                    <a:pt x="37634" y="188673"/>
                  </a:lnTo>
                  <a:cubicBezTo>
                    <a:pt x="16849" y="188673"/>
                    <a:pt x="0" y="171823"/>
                    <a:pt x="0" y="151039"/>
                  </a:cubicBezTo>
                  <a:lnTo>
                    <a:pt x="0" y="37634"/>
                  </a:lnTo>
                  <a:cubicBezTo>
                    <a:pt x="0" y="16849"/>
                    <a:pt x="16849" y="0"/>
                    <a:pt x="37634" y="0"/>
                  </a:cubicBezTo>
                  <a:close/>
                </a:path>
              </a:pathLst>
            </a:custGeom>
            <a:solidFill>
              <a:srgbClr val="A6A6A6">
                <a:alpha val="9804"/>
              </a:srgbClr>
            </a:solidFill>
            <a:ln w="28575" cap="sq">
              <a:solidFill>
                <a:srgbClr val="000000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21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>
                      <a:alpha val="9804"/>
                    </a:srgbClr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Selector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94964" y="3800293"/>
            <a:ext cx="0" cy="32941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666445" y="5143500"/>
            <a:ext cx="3085725" cy="1378271"/>
            <a:chOff x="0" y="0"/>
            <a:chExt cx="4114300" cy="1837695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114300" cy="1837695"/>
              <a:chOff x="0" y="0"/>
              <a:chExt cx="812800" cy="36304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700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252101" y="5143500"/>
            <a:ext cx="3085725" cy="1378271"/>
            <a:chOff x="0" y="0"/>
            <a:chExt cx="4114300" cy="183769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114300" cy="1837695"/>
              <a:chOff x="0" y="0"/>
              <a:chExt cx="812800" cy="36304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812800" cy="391621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Distance &gt; 200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833376" y="5035018"/>
            <a:ext cx="3085725" cy="1486753"/>
            <a:chOff x="0" y="-144643"/>
            <a:chExt cx="4114300" cy="198233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-144643"/>
              <a:ext cx="4114300" cy="1982338"/>
              <a:chOff x="0" y="-28575"/>
              <a:chExt cx="812800" cy="39162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363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63046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325411"/>
                    </a:lnTo>
                    <a:cubicBezTo>
                      <a:pt x="812800" y="346196"/>
                      <a:pt x="795951" y="363046"/>
                      <a:pt x="775166" y="363046"/>
                    </a:cubicBezTo>
                    <a:lnTo>
                      <a:pt x="37634" y="363046"/>
                    </a:lnTo>
                    <a:cubicBezTo>
                      <a:pt x="16849" y="363046"/>
                      <a:pt x="0" y="346196"/>
                      <a:pt x="0" y="32541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1646" cy="361360"/>
              </a:xfrm>
              <a:prstGeom prst="rect">
                <a:avLst/>
              </a:prstGeom>
            </p:spPr>
            <p:txBody>
              <a:bodyPr lIns="50800" tIns="50800" rIns="50800" bIns="50800" rtlCol="0" anchor="b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Sequence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97446" y="213380"/>
              <a:ext cx="3719407" cy="812297"/>
              <a:chOff x="0" y="0"/>
              <a:chExt cx="734698" cy="16045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104775"/>
                <a:ext cx="731599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Else · 조건 없음</a:t>
                </a:r>
              </a:p>
            </p:txBody>
          </p:sp>
        </p:grpSp>
      </p:grpSp>
      <p:sp>
        <p:nvSpPr>
          <p:cNvPr id="33" name="AutoShape 33"/>
          <p:cNvSpPr/>
          <p:nvPr/>
        </p:nvSpPr>
        <p:spPr>
          <a:xfrm>
            <a:off x="8794964" y="4845991"/>
            <a:ext cx="0" cy="29750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 flipH="1">
            <a:off x="3301338" y="4487851"/>
            <a:ext cx="3950763" cy="695588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5" name="AutoShape 35"/>
          <p:cNvSpPr/>
          <p:nvPr/>
        </p:nvSpPr>
        <p:spPr>
          <a:xfrm flipH="1">
            <a:off x="3209307" y="6521771"/>
            <a:ext cx="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4376238" y="6521771"/>
            <a:ext cx="4381" cy="397817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7" name="AutoShape 37"/>
          <p:cNvSpPr/>
          <p:nvPr/>
        </p:nvSpPr>
        <p:spPr>
          <a:xfrm flipH="1">
            <a:off x="6912148" y="6521771"/>
            <a:ext cx="1836890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337826" y="4487851"/>
            <a:ext cx="4079315" cy="655649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1666445" y="6903056"/>
            <a:ext cx="3085725" cy="838988"/>
            <a:chOff x="0" y="0"/>
            <a:chExt cx="4114300" cy="11186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WarpToPlayer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69286" y="6903056"/>
            <a:ext cx="3085725" cy="838988"/>
            <a:chOff x="0" y="0"/>
            <a:chExt cx="4114300" cy="1118651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UpdateSpeed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134917" y="6903056"/>
            <a:ext cx="3085725" cy="838988"/>
            <a:chOff x="0" y="0"/>
            <a:chExt cx="4114300" cy="111865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>
                  <a:alpha val="9804"/>
                </a:srgbClr>
              </a:solidFill>
              <a:ln w="2857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>
                  <a:alpha val="9804"/>
                </a:srgbClr>
              </a:solidFill>
              <a:ln w="9525" cap="sq">
                <a:solidFill>
                  <a:srgbClr val="000000">
                    <a:alpha val="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104775"/>
                <a:ext cx="734698" cy="55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>
                    <a:solidFill>
                      <a:schemeClr val="bg1">
                        <a:lumMod val="50000"/>
                      </a:schemeClr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MoveToSlot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2833376" y="6903056"/>
            <a:ext cx="3085725" cy="838988"/>
            <a:chOff x="0" y="0"/>
            <a:chExt cx="4114300" cy="1118651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114300" cy="1118651"/>
              <a:chOff x="0" y="0"/>
              <a:chExt cx="812800" cy="2209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22099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0995">
                    <a:moveTo>
                      <a:pt x="37634" y="0"/>
                    </a:moveTo>
                    <a:lnTo>
                      <a:pt x="775166" y="0"/>
                    </a:lnTo>
                    <a:cubicBezTo>
                      <a:pt x="795951" y="0"/>
                      <a:pt x="812800" y="16849"/>
                      <a:pt x="812800" y="37634"/>
                    </a:cubicBezTo>
                    <a:lnTo>
                      <a:pt x="812800" y="183361"/>
                    </a:lnTo>
                    <a:cubicBezTo>
                      <a:pt x="812800" y="204146"/>
                      <a:pt x="795951" y="220995"/>
                      <a:pt x="775166" y="220995"/>
                    </a:cubicBezTo>
                    <a:lnTo>
                      <a:pt x="37634" y="220995"/>
                    </a:lnTo>
                    <a:cubicBezTo>
                      <a:pt x="16849" y="220995"/>
                      <a:pt x="0" y="204146"/>
                      <a:pt x="0" y="183361"/>
                    </a:cubicBezTo>
                    <a:lnTo>
                      <a:pt x="0" y="37634"/>
                    </a:lnTo>
                    <a:cubicBezTo>
                      <a:pt x="0" y="16849"/>
                      <a:pt x="16849" y="0"/>
                      <a:pt x="37634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28575"/>
                <a:ext cx="812800" cy="249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1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7446" y="153177"/>
              <a:ext cx="3719407" cy="812297"/>
              <a:chOff x="0" y="0"/>
              <a:chExt cx="734698" cy="16045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34698" cy="160454"/>
              </a:xfrm>
              <a:custGeom>
                <a:avLst/>
                <a:gdLst/>
                <a:ahLst/>
                <a:cxnLst/>
                <a:rect l="l" t="t" r="r" b="b"/>
                <a:pathLst>
                  <a:path w="734698" h="160454">
                    <a:moveTo>
                      <a:pt x="27753" y="0"/>
                    </a:moveTo>
                    <a:lnTo>
                      <a:pt x="706944" y="0"/>
                    </a:lnTo>
                    <a:cubicBezTo>
                      <a:pt x="722272" y="0"/>
                      <a:pt x="734698" y="12426"/>
                      <a:pt x="734698" y="27753"/>
                    </a:cubicBezTo>
                    <a:lnTo>
                      <a:pt x="734698" y="132700"/>
                    </a:lnTo>
                    <a:cubicBezTo>
                      <a:pt x="734698" y="140061"/>
                      <a:pt x="731774" y="147120"/>
                      <a:pt x="726569" y="152325"/>
                    </a:cubicBezTo>
                    <a:cubicBezTo>
                      <a:pt x="721364" y="157530"/>
                      <a:pt x="714305" y="160454"/>
                      <a:pt x="706944" y="160454"/>
                    </a:cubicBezTo>
                    <a:lnTo>
                      <a:pt x="27753" y="160454"/>
                    </a:lnTo>
                    <a:cubicBezTo>
                      <a:pt x="20393" y="160454"/>
                      <a:pt x="13333" y="157530"/>
                      <a:pt x="8129" y="152325"/>
                    </a:cubicBezTo>
                    <a:cubicBezTo>
                      <a:pt x="2924" y="147120"/>
                      <a:pt x="0" y="140061"/>
                      <a:pt x="0" y="132700"/>
                    </a:cubicBezTo>
                    <a:lnTo>
                      <a:pt x="0" y="27753"/>
                    </a:lnTo>
                    <a:cubicBezTo>
                      <a:pt x="0" y="20393"/>
                      <a:pt x="2924" y="13333"/>
                      <a:pt x="8129" y="8129"/>
                    </a:cubicBezTo>
                    <a:cubicBezTo>
                      <a:pt x="13333" y="2924"/>
                      <a:pt x="20393" y="0"/>
                      <a:pt x="27753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104775"/>
                <a:ext cx="734698" cy="120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50"/>
                  </a:lnSpc>
                </a:pPr>
                <a:r>
                  <a:rPr lang="en-US" sz="15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MatchPace</a:t>
                </a:r>
              </a:p>
            </p:txBody>
          </p:sp>
        </p:grpSp>
      </p:grpSp>
      <p:sp>
        <p:nvSpPr>
          <p:cNvPr id="67" name="AutoShape 67"/>
          <p:cNvSpPr/>
          <p:nvPr/>
        </p:nvSpPr>
        <p:spPr>
          <a:xfrm>
            <a:off x="8829859" y="6521771"/>
            <a:ext cx="1847921" cy="381285"/>
          </a:xfrm>
          <a:prstGeom prst="line">
            <a:avLst/>
          </a:prstGeom>
          <a:ln w="38100" cap="rnd">
            <a:solidFill>
              <a:srgbClr val="FFFFFF">
                <a:alpha val="9804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528749" y="5615276"/>
            <a:ext cx="9691893" cy="12877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2528749" y="5615276"/>
            <a:ext cx="9691893" cy="1287780"/>
            <a:chOff x="0" y="0"/>
            <a:chExt cx="2552597" cy="33916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52597" cy="339168"/>
            </a:xfrm>
            <a:custGeom>
              <a:avLst/>
              <a:gdLst/>
              <a:ahLst/>
              <a:cxnLst/>
              <a:rect l="l" t="t" r="r" b="b"/>
              <a:pathLst>
                <a:path w="2552597" h="339168">
                  <a:moveTo>
                    <a:pt x="0" y="0"/>
                  </a:moveTo>
                  <a:lnTo>
                    <a:pt x="2552597" y="0"/>
                  </a:lnTo>
                  <a:lnTo>
                    <a:pt x="2552597" y="339168"/>
                  </a:lnTo>
                  <a:lnTo>
                    <a:pt x="0" y="339168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2552597" cy="36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[Else] (거리 ≤ 2m) → Task : MatchPace</a:t>
              </a:r>
            </a:p>
            <a:p>
              <a:pPr marL="323850" lvl="1" indent="-161925" algn="l">
                <a:lnSpc>
                  <a:spcPts val="2100"/>
                </a:lnSpc>
                <a:buFont typeface="Arial"/>
                <a:buChar char="•"/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 : 적정 거리를 유지하는 기본 상태다. 조건 없는 최종 폴백이다.</a:t>
              </a:r>
            </a:p>
            <a:p>
              <a:pPr marL="323850" lvl="1" indent="-161925" algn="l">
                <a:lnSpc>
                  <a:spcPts val="2100"/>
                </a:lnSpc>
                <a:buFont typeface="Arial"/>
                <a:buChar char="•"/>
              </a:pPr>
              <a:r>
                <a:rPr lang="en-US" sz="15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의도 : 멈추지 않고 유저 이동 속도에 보폭을 맞춘다. Idle이면 스텝-스톱 진동이 생긴다.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 로직 설계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500" dirty="0">
                <a:solidFill>
                  <a:srgbClr val="999999"/>
                </a:solidFill>
                <a:latin typeface="Noto Sans KR"/>
              </a:rPr>
              <a:t>27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78" name="Group 4">
            <a:extLst>
              <a:ext uri="{FF2B5EF4-FFF2-40B4-BE49-F238E27FC236}">
                <a16:creationId xmlns:a16="http://schemas.microsoft.com/office/drawing/2014/main" id="{C7FB673C-01F3-5F52-156A-86184F50A852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AC3E1C36-37A7-45BB-AF4D-6C29DAB528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2E8E753-8ACA-DDE5-1725-6E4FA74433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DFAAC7D-376B-7E4B-6A8C-3191F82A2D64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7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AutoShape 10">
            <a:extLst>
              <a:ext uri="{FF2B5EF4-FFF2-40B4-BE49-F238E27FC236}">
                <a16:creationId xmlns:a16="http://schemas.microsoft.com/office/drawing/2014/main" id="{97439002-B794-2E9F-B172-B8297D6B4118}"/>
              </a:ext>
            </a:extLst>
          </p:cNvPr>
          <p:cNvSpPr/>
          <p:nvPr/>
        </p:nvSpPr>
        <p:spPr>
          <a:xfrm>
            <a:off x="7327870" y="2090783"/>
            <a:ext cx="1467091" cy="566431"/>
          </a:xfrm>
          <a:prstGeom prst="line">
            <a:avLst/>
          </a:prstGeom>
          <a:ln w="38100" cap="rnd">
            <a:solidFill>
              <a:srgbClr val="676767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>
              <a:ln>
                <a:solidFill>
                  <a:srgbClr val="282828"/>
                </a:solidFill>
              </a:ln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06_Command_브랜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28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E5710D-8655-BF7F-2A14-A95688299FC7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14A2084-5952-F126-63B0-59F1E64F1D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1670E2-79FD-D5FC-74BF-AE06CAB95D0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4AD649C-9CF4-E66C-912F-31C9B455747C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8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04_예외처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29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80FB5C-B244-6DAA-8458-F8FAAF3F5E7E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B509B5-78B4-35AF-F2DF-4E8B25B459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17763F-8B13-0585-27F9-6DF63B5087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849FAC-59DE-8F24-25E7-9070C5D7E042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8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2456925"/>
          <a:ext cx="16230599" cy="3817619"/>
        </p:xfrm>
        <a:graphic>
          <a:graphicData uri="http://schemas.openxmlformats.org/drawingml/2006/table">
            <a:tbl>
              <a:tblPr/>
              <a:tblGrid>
                <a:gridCol w="231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49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루이 (표준 딜러)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야쿠모 (메인 탱커)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미아 (전술 지원)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이오 (범용 서포터)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잭 (버스트 딜러)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에바 (마법 딜러)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8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Ichor / Stam 임계(%)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 / 35 (공격 중심)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 / 60 (가드용 비축)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 / 30 (표준)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 / 30 (연혈 상시)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 / 25 (극공격형)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 / 25 (캐스팅용)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9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Approach Speed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750 (신속)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500 (묵직)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600 (적당)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550 (후방)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850 (최고속)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550 (적당)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9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Strafe Speed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400 (회피 위주)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200 (방어적)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350 (거리 유지)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300 (후방 유지)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450 (고기동)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300 (위치 선정)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9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SkillRange (uu)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200 ~ 500 (밸런서)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 ~ 200 (인파이팅)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400 ~ 700 (최장)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300 ~ 600 (백라인)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200 ~ 500 (밸런서)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350 ~ 700 (백라인)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9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Skill % (공격/버프)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55 / 60 (콤보)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 / 70 (버프 우선)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 / 55 (사격)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 / 80 (힐 · 정화)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 / 65 (몰아치기)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65 / 60 (마법 난사)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10661" y="745524"/>
            <a:ext cx="76843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동행자별 설정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6274543"/>
            <a:ext cx="16230600" cy="3093363"/>
            <a:chOff x="0" y="-88855"/>
            <a:chExt cx="4274726" cy="8147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700413"/>
            </a:xfrm>
            <a:custGeom>
              <a:avLst/>
              <a:gdLst/>
              <a:ahLst/>
              <a:cxnLst/>
              <a:rect l="l" t="t" r="r" b="b"/>
              <a:pathLst>
                <a:path w="4274726" h="700413">
                  <a:moveTo>
                    <a:pt x="0" y="0"/>
                  </a:moveTo>
                  <a:lnTo>
                    <a:pt x="4274726" y="0"/>
                  </a:lnTo>
                  <a:lnTo>
                    <a:pt x="4274726" y="700413"/>
                  </a:lnTo>
                  <a:lnTo>
                    <a:pt x="0" y="700413"/>
                  </a:lnTo>
                  <a:close/>
                </a:path>
              </a:pathLst>
            </a:custGeom>
            <a:ln w="47625" cap="sq">
              <a:solidFill>
                <a:srgbClr val="B4B4B4"/>
              </a:solidFill>
              <a:prstDash val="dash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8855"/>
              <a:ext cx="4274726" cy="814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루이 (Louis) · 표준 딜러 : 명혈 임계값 20%로 최저. 밸런서 2~5m를 빠르게 오간다. Guard 30 / Taunt 50.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야쿠모 (Yakumo) · 메인 탱커 : 스태미나 60% 비축으로 연속 가드. 인파이팅 0~2m, Taunt 100으로 시선 확정 탈취.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미아 (Mia) · 전술 지원 : SkillRange 400~700으로 최장. 400uu 안쪽이면 TooClose → MoveAway로 이탈.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이오 (Io) · 범용 서포터 : 명혈 최대치 140으로 최상. 치유의 파문(힐 + 정화)을 상시 운용. 버프 확률 80%.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잭 (Jack) · 버스트 딜러 : 최고 호전적. Approach 850으로 최속 접근해 배후 일격(220%)을 노린다. Guard 15.</a:t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  <a:p>
              <a:pPr marL="323850" lvl="1" indent="-161925" algn="l">
                <a:lnSpc>
                  <a:spcPct val="150000"/>
                </a:lnSpc>
                <a:buFont typeface="Arial"/>
                <a:buChar char="•"/>
              </a:pP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에바 (Eva) · 마법 딜러 : 공격 연혈 확률 65%로 최고. 백라인 3.5~7m 유지, 강인도 C로 Guard 10 · Taunt 20.</a:t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 err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/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30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1D6676F9-705B-CC19-7BD8-663C89A49F67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94B4978-EAB4-C229-D145-032E528F69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3ACBA9-A448-3B23-6D6B-2416ECCA51B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9F0D72-570B-8B4D-0CB3-A6A455262DDB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8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07_파라미터_주입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22825" y="381000"/>
            <a:ext cx="77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dirty="0">
                <a:solidFill>
                  <a:srgbClr val="999999"/>
                </a:solidFill>
                <a:latin typeface="Noto Sans KR"/>
              </a:rPr>
              <a:t>31</a:t>
            </a:r>
            <a:r>
              <a:rPr lang="en-US" sz="1500" dirty="0">
                <a:solidFill>
                  <a:srgbClr val="999999"/>
                </a:solidFill>
                <a:latin typeface="Noto Sans KR"/>
              </a:rPr>
              <a:t/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EA98CD-73C8-7F2F-9280-9F3B27D94DAC}"/>
              </a:ext>
            </a:extLst>
          </p:cNvPr>
          <p:cNvGrpSpPr/>
          <p:nvPr/>
        </p:nvGrpSpPr>
        <p:grpSpPr>
          <a:xfrm>
            <a:off x="227960" y="127129"/>
            <a:ext cx="788682" cy="788682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051893A-91AB-8660-315C-3B881EA657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F31ED3-0D19-66FF-8092-32036B7564D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3F132A7-1DAA-BDDA-4AF4-A22F5843A371}"/>
              </a:ext>
            </a:extLst>
          </p:cNvPr>
          <p:cNvSpPr txBox="1"/>
          <p:nvPr/>
        </p:nvSpPr>
        <p:spPr>
          <a:xfrm>
            <a:off x="481235" y="234853"/>
            <a:ext cx="282129" cy="5732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725" b="1" dirty="0">
                <a:solidFill>
                  <a:srgbClr val="000000"/>
                </a:solidFill>
                <a:latin typeface="Noto Sans KR"/>
              </a:rPr>
              <a:t>8</a:t>
            </a:r>
            <a:endParaRPr sz="3725" b="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00" b="-150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353801" y="6577470"/>
            <a:ext cx="7198838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467668" y="6830237"/>
            <a:ext cx="6502862" cy="213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79"/>
              </a:lnSpc>
            </a:pPr>
            <a:r>
              <a:rPr lang="en-US" altLang="ko-KR" sz="2325" spc="116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김태윤</a:t>
            </a:r>
            <a:endParaRPr lang="en-US" sz="2325" spc="116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r">
              <a:lnSpc>
                <a:spcPts val="4279"/>
              </a:lnSpc>
            </a:pPr>
            <a:r>
              <a:rPr lang="en-US" sz="2325" spc="116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010-5750-7113</a:t>
            </a:r>
          </a:p>
          <a:p>
            <a:pPr algn="r">
              <a:lnSpc>
                <a:spcPts val="4279"/>
              </a:lnSpc>
            </a:pPr>
            <a:r>
              <a:rPr lang="en-US" sz="2325" spc="116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0518tune@gmail.com</a:t>
            </a:r>
          </a:p>
          <a:p>
            <a:pPr algn="r">
              <a:lnSpc>
                <a:spcPts val="4279"/>
              </a:lnSpc>
            </a:pPr>
            <a:endParaRPr lang="en-US" sz="2325" spc="116" dirty="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060398" y="2366777"/>
            <a:ext cx="5317403" cy="1026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26"/>
              </a:lnSpc>
            </a:pPr>
            <a:r>
              <a:rPr lang="en-US" sz="8283" spc="-57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22826" y="381000"/>
            <a:ext cx="7761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r>
              <a:rPr sz="1500" dirty="0">
                <a:solidFill>
                  <a:srgbClr val="999999"/>
                </a:solidFill>
                <a:latin typeface="Noto Sans KR"/>
              </a:rPr>
              <a:t> / </a:t>
            </a:r>
            <a:r>
              <a:rPr lang="en-US" altLang="ko-KR" sz="1500" dirty="0">
                <a:solidFill>
                  <a:srgbClr val="999999"/>
                </a:solidFill>
                <a:latin typeface="Noto Sans KR"/>
              </a:rPr>
              <a:t>32</a:t>
            </a:r>
            <a:endParaRPr sz="1500" dirty="0">
              <a:solidFill>
                <a:srgbClr val="999999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2328</Words>
  <Application>Microsoft Office PowerPoint</Application>
  <PresentationFormat>사용자 지정</PresentationFormat>
  <Paragraphs>584</Paragraphs>
  <Slides>31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Calibri</vt:lpstr>
      <vt:lpstr>NanumGothic</vt:lpstr>
      <vt:lpstr>맑은 고딕</vt:lpstr>
      <vt:lpstr>Arial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동행자 BT 설계</dc:title>
  <dc:creator>김태윤</dc:creator>
  <cp:lastModifiedBy>태윤 김</cp:lastModifiedBy>
  <cp:revision>5</cp:revision>
  <dcterms:created xsi:type="dcterms:W3CDTF">2006-08-16T00:00:00Z</dcterms:created>
  <dcterms:modified xsi:type="dcterms:W3CDTF">2026-08-26T07:25:59Z</dcterms:modified>
  <dc:identifier>DAHDt5tIXHk</dc:identifier>
</cp:coreProperties>
</file>