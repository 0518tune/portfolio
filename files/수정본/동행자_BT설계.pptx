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84" r:id="rId7"/>
    <p:sldId id="261" r:id="rId8"/>
    <p:sldId id="285" r:id="rId9"/>
    <p:sldId id="262" r:id="rId10"/>
    <p:sldId id="263" r:id="rId11"/>
    <p:sldId id="286" r:id="rId12"/>
    <p:sldId id="264" r:id="rId13"/>
    <p:sldId id="265" r:id="rId14"/>
    <p:sldId id="272" r:id="rId15"/>
    <p:sldId id="273" r:id="rId16"/>
    <p:sldId id="274" r:id="rId17"/>
    <p:sldId id="275" r:id="rId18"/>
    <p:sldId id="276" r:id="rId19"/>
    <p:sldId id="277" r:id="rId20"/>
    <p:sldId id="266" r:id="rId21"/>
    <p:sldId id="267" r:id="rId22"/>
    <p:sldId id="268" r:id="rId23"/>
    <p:sldId id="269" r:id="rId24"/>
    <p:sldId id="270" r:id="rId25"/>
    <p:sldId id="271" r:id="rId26"/>
    <p:sldId id="287" r:id="rId27"/>
    <p:sldId id="278" r:id="rId28"/>
    <p:sldId id="280" r:id="rId29"/>
    <p:sldId id="281" r:id="rId30"/>
    <p:sldId id="283" r:id="rId31"/>
    <p:sldId id="279" r:id="rId32"/>
  </p:sldIdLst>
  <p:sldSz cx="18288000" cy="10287000"/>
  <p:notesSz cx="6858000" cy="9144000"/>
  <p:embeddedFontLst>
    <p:embeddedFont>
      <p:font typeface="NanumGothic" panose="020D0604000000000000" pitchFamily="50" charset="-127"/>
      <p:regular r:id="rId34"/>
    </p:embeddedFont>
    <p:embeddedFont>
      <p:font typeface="Noto Sans Kr" panose="020B0200000000000000" pitchFamily="50" charset="-127"/>
      <p:regular r:id="rId35"/>
      <p:bold r:id="rId36"/>
    </p:embeddedFont>
    <p:embeddedFont>
      <p:font typeface="맑은 고딕" panose="020B0503020000020004" pitchFamily="50" charset="-127"/>
      <p:regular r:id="rId37"/>
      <p:bold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6767"/>
    <a:srgbClr val="2D2D2D"/>
    <a:srgbClr val="282828"/>
    <a:srgbClr val="3A3A3A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07" autoAdjust="0"/>
    <p:restoredTop sz="96709" autoAdjust="0"/>
  </p:normalViewPr>
  <p:slideViewPr>
    <p:cSldViewPr>
      <p:cViewPr varScale="1">
        <p:scale>
          <a:sx n="103" d="100"/>
          <a:sy n="103" d="100"/>
        </p:scale>
        <p:origin x="282" y="15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17C14E-F9CE-4A18-A040-FBA890D86BB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C4B864-8D89-42D5-98DD-B6453A33BD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415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C4B864-8D89-42D5-98DD-B6453A33BD7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9859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C4B864-8D89-42D5-98DD-B6453A33BD7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927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C4B864-8D89-42D5-98DD-B6453A33BD78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27474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 flipV="1">
            <a:off x="13662661" y="9087000"/>
            <a:ext cx="4610725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687835" y="1257300"/>
            <a:ext cx="8456165" cy="3689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304"/>
              </a:lnSpc>
            </a:pPr>
            <a:r>
              <a:rPr lang="en-US" sz="13172" spc="-922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동행자</a:t>
            </a:r>
          </a:p>
          <a:p>
            <a:pPr algn="l">
              <a:lnSpc>
                <a:spcPts val="13304"/>
              </a:lnSpc>
            </a:pPr>
            <a:r>
              <a:rPr lang="en-US" sz="13172" spc="-922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BT 설계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976494" y="8524389"/>
            <a:ext cx="2495976" cy="448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</a:pPr>
            <a:r>
              <a:rPr lang="en-US" sz="2599" spc="309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작성자 : 김태윤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976494" y="9206957"/>
            <a:ext cx="4193440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 spc="238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010-5750-7113</a:t>
            </a:r>
          </a:p>
          <a:p>
            <a:pPr algn="just">
              <a:lnSpc>
                <a:spcPts val="2800"/>
              </a:lnSpc>
            </a:pPr>
            <a:r>
              <a:rPr lang="en-US" sz="2000" spc="238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0518tune@gmail.com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584167" y="3884018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2086981" y="5427068"/>
            <a:ext cx="788682" cy="78868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086981" y="6337085"/>
            <a:ext cx="788682" cy="788682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086981" y="7247103"/>
            <a:ext cx="788682" cy="788682"/>
            <a:chOff x="0" y="0"/>
            <a:chExt cx="812800" cy="812800"/>
          </a:xfrm>
        </p:grpSpPr>
        <p:sp>
          <p:nvSpPr>
            <p:cNvPr id="25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36" name="Group 10"/>
          <p:cNvGrpSpPr/>
          <p:nvPr/>
        </p:nvGrpSpPr>
        <p:grpSpPr>
          <a:xfrm>
            <a:off x="2086981" y="8156575"/>
            <a:ext cx="788682" cy="788682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114478" y="5427068"/>
            <a:ext cx="788682" cy="788682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114478" y="6337085"/>
            <a:ext cx="788682" cy="788682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114478" y="7247103"/>
            <a:ext cx="788682" cy="788682"/>
            <a:chOff x="0" y="0"/>
            <a:chExt cx="812800" cy="812800"/>
          </a:xfrm>
        </p:grpSpPr>
        <p:sp>
          <p:nvSpPr>
            <p:cNvPr id="37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8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39" name="Group 19"/>
          <p:cNvGrpSpPr/>
          <p:nvPr/>
        </p:nvGrpSpPr>
        <p:grpSpPr>
          <a:xfrm>
            <a:off x="10114478" y="8156575"/>
            <a:ext cx="788682" cy="788682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814490" y="2591082"/>
            <a:ext cx="7684303" cy="1050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목차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00572" y="5211804"/>
            <a:ext cx="6515928" cy="360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269"/>
              </a:lnSpc>
            </a:pP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지원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로직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ko-KR" alt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로직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ko-KR" alt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로직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전술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명령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·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예외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처리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3226825" y="5211804"/>
            <a:ext cx="4875777" cy="27271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269"/>
              </a:lnSpc>
            </a:pP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개요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범위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·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확장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계획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BT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전체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구성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 ·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블랙보드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2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087621" y="5605509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 dirty="0">
                <a:solidFill>
                  <a:srgbClr val="000000"/>
                </a:solidFill>
                <a:latin typeface="Noto Sans KR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7621" y="6515526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7621" y="7425544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87621" y="8335016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15119" y="5605509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5119" y="6515526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5119" y="7425544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15119" y="8335016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416557" y="461972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849440" y="2089491"/>
            <a:ext cx="5380855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44341" y="1580270"/>
            <a:ext cx="6211481" cy="371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99"/>
              </a:lnSpc>
            </a:pPr>
            <a:r>
              <a:rPr lang="en-US" sz="2999" b="1" spc="-239" dirty="0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1.  </a:t>
            </a:r>
            <a:r>
              <a:rPr lang="en-US" sz="2999" b="1" spc="-239" dirty="0" err="1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설계</a:t>
            </a:r>
            <a:r>
              <a:rPr lang="en-US" sz="2999" b="1" spc="-239" dirty="0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 </a:t>
            </a:r>
            <a:r>
              <a:rPr lang="en-US" sz="2999" b="1" spc="-239" dirty="0" err="1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배경</a:t>
            </a:r>
            <a:endParaRPr lang="en-US" sz="2999" b="1" spc="-239" dirty="0">
              <a:solidFill>
                <a:srgbClr val="FFFFFF"/>
              </a:solidFill>
              <a:latin typeface="NanumGothic"/>
              <a:ea typeface="NanumGothic"/>
              <a:cs typeface="NanumGothic"/>
              <a:sym typeface="NanumGothic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844341" y="2166341"/>
            <a:ext cx="10414959" cy="1754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고난도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액션의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진입장벽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완화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플레이어가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실수해도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AI가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보완해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도전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의욕을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꺾지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않는다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동행자의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정체성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단순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파트너가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아니라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합을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맞추는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동료로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느끼게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해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내러티브와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시스템을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일치시킨다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44341" y="5127557"/>
            <a:ext cx="6759903" cy="371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99"/>
              </a:lnSpc>
            </a:pPr>
            <a:r>
              <a:rPr lang="en-US" sz="2999" b="1" spc="-239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2.  설계 목표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844341" y="5699056"/>
            <a:ext cx="10414959" cy="2369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just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신뢰할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수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있는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생존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지원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사망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시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즉각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부활을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1순위로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수행해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AI에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대한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신뢰도를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확보한다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  <a:p>
            <a:pPr marL="431801" lvl="1" indent="-215900" algn="just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캐릭터별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개성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극대화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공격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거리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·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가드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빈도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·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스킬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타이밍을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달리해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파트너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선택에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전략성을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만든다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  <a:p>
            <a:pPr marL="431801" lvl="1" indent="-215900" algn="just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최적화된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연산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구조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다수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전투에서도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프레임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드랍이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없도록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판단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주기를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분리한다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3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EA4475D8-F490-7E1B-25E9-39C2334A5B5B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60CA0E65-A37E-1DB3-D7BD-F32C7E81314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6">
              <a:extLst>
                <a:ext uri="{FF2B5EF4-FFF2-40B4-BE49-F238E27FC236}">
                  <a16:creationId xmlns:a16="http://schemas.microsoft.com/office/drawing/2014/main" id="{1586D475-39AB-C3E2-890D-371844B4221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375C939-B9CC-BDC3-A9F9-049961CF39BF}"/>
              </a:ext>
            </a:extLst>
          </p:cNvPr>
          <p:cNvSpPr txBox="1"/>
          <p:nvPr/>
        </p:nvSpPr>
        <p:spPr>
          <a:xfrm>
            <a:off x="228600" y="305570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 dirty="0">
                <a:solidFill>
                  <a:srgbClr val="000000"/>
                </a:solidFill>
                <a:latin typeface="Noto Sans KR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416557" y="461972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849440" y="2089491"/>
            <a:ext cx="5380855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44341" y="1580270"/>
            <a:ext cx="6211481" cy="371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9"/>
              </a:lnSpc>
            </a:pPr>
            <a:r>
              <a:rPr lang="en-US" sz="2999" b="1" spc="-239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3. 핵심 메커니즘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15766" y="2466954"/>
            <a:ext cx="10414959" cy="52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latin typeface="Noto Sans KR"/>
              </a:rPr>
              <a:t>상위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조건이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충족되면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하위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로직을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즉시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중단하고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전환한다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15766" y="5457825"/>
            <a:ext cx="10414959" cy="1138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latin typeface="Noto Sans KR"/>
              </a:rPr>
              <a:t>판단에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필요한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모든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값을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한곳에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모은다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플레이어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HP,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적과의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거리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자신의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명혈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등.</a:t>
            </a:r>
          </a:p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latin typeface="Noto Sans KR"/>
              </a:rPr>
              <a:t>변화값만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읽어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판단한다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매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프레임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전체를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계산하지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않아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CPU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부하가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낮다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815766" y="7966075"/>
            <a:ext cx="10414959" cy="1138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latin typeface="Noto Sans KR"/>
              </a:rPr>
              <a:t>평타로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명혈을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모으고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일정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수치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이상일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때만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연혈을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쓴다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자원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관리형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로직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latin typeface="Noto Sans KR"/>
              </a:rPr>
              <a:t>행동에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개연성이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생기고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전투에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리듬감이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만들어진다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44341" y="2155804"/>
            <a:ext cx="10414959" cy="330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①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우선순위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기반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행동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선택</a:t>
            </a:r>
            <a:endParaRPr lang="en-US" sz="2000" b="1" dirty="0">
              <a:solidFill>
                <a:srgbClr val="FFFFFF"/>
              </a:solidFill>
              <a:highlight>
                <a:srgbClr val="808080"/>
              </a:highlight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844341" y="5146675"/>
            <a:ext cx="10414959" cy="330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②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블랙보드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기반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데이터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공유</a:t>
            </a:r>
            <a:endParaRPr lang="en-US" sz="2000" b="1" dirty="0">
              <a:solidFill>
                <a:srgbClr val="FFFFFF"/>
              </a:solidFill>
              <a:highlight>
                <a:srgbClr val="808080"/>
              </a:highlight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844341" y="7654925"/>
            <a:ext cx="10414959" cy="33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③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자원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관리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기반의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전투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사이클</a:t>
            </a:r>
            <a:endParaRPr lang="en-US" sz="2000" b="1" dirty="0">
              <a:solidFill>
                <a:srgbClr val="FFFFFF"/>
              </a:solidFill>
              <a:highlight>
                <a:srgbClr val="808080"/>
              </a:highlight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012616" y="3178506"/>
            <a:ext cx="10414959" cy="1392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생명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지원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(Urgent)  — 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사망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시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부활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,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힐링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중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어그로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탈취</a:t>
            </a:r>
            <a:endParaRPr lang="en-US" sz="1500" dirty="0">
              <a:solidFill>
                <a:srgbClr val="FFFFFF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전술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명령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(Command)  — 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커맨드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휠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입력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시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해당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명령을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최우선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수행</a:t>
            </a:r>
            <a:endParaRPr lang="en-US" sz="1500" dirty="0">
              <a:solidFill>
                <a:srgbClr val="FFFFFF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전투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수행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(Combat)  — 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적이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있을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때만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활성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.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명혈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상태에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따라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평타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/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연혈</a:t>
            </a:r>
            <a:endParaRPr lang="en-US" sz="1500" dirty="0">
              <a:solidFill>
                <a:srgbClr val="FFFFFF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동행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·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탐험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(Follow)  — 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조건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없는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최종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폴백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.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추적과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위치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선정</a:t>
            </a:r>
            <a:endParaRPr lang="en-US" sz="1500" dirty="0">
              <a:solidFill>
                <a:srgbClr val="FFFFFF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4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FC376887-A423-770C-1A18-54954B073A23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2A332D23-5ACE-B6AE-607F-0524FE97BE9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E0267CCD-8945-F901-7EE7-D1B2D6C78E7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FF9C9CBA-0412-7BCF-6449-7170D8E98AA8}"/>
              </a:ext>
            </a:extLst>
          </p:cNvPr>
          <p:cNvSpPr txBox="1"/>
          <p:nvPr/>
        </p:nvSpPr>
        <p:spPr>
          <a:xfrm>
            <a:off x="228600" y="305570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 dirty="0">
                <a:solidFill>
                  <a:srgbClr val="000000"/>
                </a:solidFill>
                <a:latin typeface="Noto Sans KR"/>
              </a:rPr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416557" y="461972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849440" y="2089491"/>
            <a:ext cx="5380855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44341" y="1580270"/>
            <a:ext cx="6211481" cy="371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99"/>
              </a:lnSpc>
            </a:pPr>
            <a:r>
              <a:rPr lang="en-US" sz="2999" b="1" spc="-239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4.  구현 및 확장 전략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44341" y="2166341"/>
            <a:ext cx="10554659" cy="17540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모듈러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서브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트리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AI의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뇌는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하나로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유지하고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전투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방식만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캐릭터별로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교체한다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동행자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추가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비용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데이터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테이블에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행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하나를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더하는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것으로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끝난다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상황별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업데이트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빈도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전투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중에는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촘촘히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이동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중에는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느슨하게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확인해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퍼포먼스를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확보한다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5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2F4E1185-7543-8C0F-3C31-B4F40957F017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B355ECBD-04A7-AED8-8E7E-36ADDDA8A4E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F9D51698-096E-A6E4-8EEC-DC032EA647F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89DF75F-2F94-B9CF-1B89-642B09FBA621}"/>
              </a:ext>
            </a:extLst>
          </p:cNvPr>
          <p:cNvSpPr txBox="1"/>
          <p:nvPr/>
        </p:nvSpPr>
        <p:spPr>
          <a:xfrm>
            <a:off x="228600" y="305570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 dirty="0">
                <a:solidFill>
                  <a:srgbClr val="000000"/>
                </a:solidFill>
                <a:latin typeface="Noto Sans KR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n01_설계범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6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CD939C5-6406-2E42-71DD-4242F87C8341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5397D1D-BE95-2645-DA22-AA52AC6FDDE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38A0B8A-260C-70ED-AB20-B78669C51BF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DDC29A5-38E2-235C-383B-3D2EAECA9577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2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638343" y="2060795"/>
            <a:ext cx="1011314" cy="824776"/>
            <a:chOff x="0" y="-28575"/>
            <a:chExt cx="266354" cy="217225"/>
          </a:xfrm>
        </p:grpSpPr>
        <p:sp>
          <p:nvSpPr>
            <p:cNvPr id="4" name="Freeform 4"/>
            <p:cNvSpPr/>
            <p:nvPr/>
          </p:nvSpPr>
          <p:spPr>
            <a:xfrm>
              <a:off x="0" y="-9603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812800" cy="35660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694919" y="3732560"/>
            <a:ext cx="2843858" cy="1027589"/>
            <a:chOff x="-14302" y="-36328"/>
            <a:chExt cx="749000" cy="27064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-14302" y="-36328"/>
              <a:ext cx="749000" cy="2706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12" name="Freeform 12"/>
          <p:cNvSpPr/>
          <p:nvPr/>
        </p:nvSpPr>
        <p:spPr>
          <a:xfrm flipH="1">
            <a:off x="9098281" y="2867200"/>
            <a:ext cx="45719" cy="443579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2529903" y="5676264"/>
            <a:ext cx="3086100" cy="1143220"/>
            <a:chOff x="0" y="0"/>
            <a:chExt cx="812800" cy="30109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[생명 지원]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Urgent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647623" y="5650525"/>
            <a:ext cx="3086100" cy="1143220"/>
            <a:chOff x="0" y="0"/>
            <a:chExt cx="812800" cy="30109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전투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수행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Combat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451471" y="5650525"/>
            <a:ext cx="3086100" cy="1143220"/>
            <a:chOff x="0" y="0"/>
            <a:chExt cx="812800" cy="30109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/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탐험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Follow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 flipH="1">
            <a:off x="5574156" y="4519015"/>
            <a:ext cx="2073467" cy="1199096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4" name="AutoShape 24"/>
          <p:cNvSpPr/>
          <p:nvPr/>
        </p:nvSpPr>
        <p:spPr>
          <a:xfrm>
            <a:off x="10659097" y="4498286"/>
            <a:ext cx="1792544" cy="1297950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9144000" y="4556256"/>
            <a:ext cx="0" cy="1094270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26" name="Group 26"/>
          <p:cNvGrpSpPr/>
          <p:nvPr/>
        </p:nvGrpSpPr>
        <p:grpSpPr>
          <a:xfrm>
            <a:off x="12153900" y="1841500"/>
            <a:ext cx="5105400" cy="3454400"/>
            <a:chOff x="0" y="0"/>
            <a:chExt cx="1344632" cy="80507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344632" cy="805078"/>
            </a:xfrm>
            <a:custGeom>
              <a:avLst/>
              <a:gdLst/>
              <a:ahLst/>
              <a:cxnLst/>
              <a:rect l="l" t="t" r="r" b="b"/>
              <a:pathLst>
                <a:path w="1344632" h="805078">
                  <a:moveTo>
                    <a:pt x="0" y="0"/>
                  </a:moveTo>
                  <a:lnTo>
                    <a:pt x="1344632" y="0"/>
                  </a:lnTo>
                  <a:lnTo>
                    <a:pt x="1344632" y="805078"/>
                  </a:lnTo>
                  <a:lnTo>
                    <a:pt x="0" y="805078"/>
                  </a:lnTo>
                  <a:close/>
                </a:path>
              </a:pathLst>
            </a:custGeom>
            <a:ln w="38100" cap="sq">
              <a:solidFill>
                <a:srgbClr val="D9D9D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344632" cy="833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BT 전체 구성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489398" y="7372984"/>
            <a:ext cx="11671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부활,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본인 체력 회복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230883" y="8231942"/>
            <a:ext cx="168413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전투보다 생존이 우선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666673" y="8060492"/>
            <a:ext cx="3048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데코레이터 : TargetEnemy Is Set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724521" y="8206203"/>
            <a:ext cx="2540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조건 없음 · 최종 폴백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378518" y="7201534"/>
            <a:ext cx="16243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스태미너 관리,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스킬 사용, 기본 공격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859707" y="7156745"/>
            <a:ext cx="226962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추적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2m 유지, 7m 벗어나면 워프</a:t>
            </a:r>
          </a:p>
        </p:txBody>
      </p:sp>
      <p:sp>
        <p:nvSpPr>
          <p:cNvPr id="36" name="AutoShape 36"/>
          <p:cNvSpPr/>
          <p:nvPr/>
        </p:nvSpPr>
        <p:spPr>
          <a:xfrm>
            <a:off x="12451641" y="2179472"/>
            <a:ext cx="271410" cy="0"/>
          </a:xfrm>
          <a:prstGeom prst="line">
            <a:avLst/>
          </a:prstGeom>
          <a:ln w="66675" cap="rnd">
            <a:solidFill>
              <a:srgbClr val="38B6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55" name="AutoShape 36"/>
          <p:cNvSpPr/>
          <p:nvPr/>
        </p:nvSpPr>
        <p:spPr>
          <a:xfrm>
            <a:off x="12451641" y="5118100"/>
            <a:ext cx="271410" cy="0"/>
          </a:xfrm>
          <a:prstGeom prst="line">
            <a:avLst/>
          </a:prstGeom>
          <a:ln w="66675" cap="rnd">
            <a:solidFill>
              <a:srgbClr val="38B6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56" name="AutoShape 36"/>
          <p:cNvSpPr/>
          <p:nvPr/>
        </p:nvSpPr>
        <p:spPr>
          <a:xfrm>
            <a:off x="12451641" y="4851400"/>
            <a:ext cx="271410" cy="0"/>
          </a:xfrm>
          <a:prstGeom prst="line">
            <a:avLst/>
          </a:prstGeom>
          <a:ln w="66675" cap="rnd">
            <a:solidFill>
              <a:srgbClr val="38B6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57" name="AutoShape 36"/>
          <p:cNvSpPr/>
          <p:nvPr/>
        </p:nvSpPr>
        <p:spPr>
          <a:xfrm>
            <a:off x="12451641" y="4584700"/>
            <a:ext cx="271410" cy="0"/>
          </a:xfrm>
          <a:prstGeom prst="line">
            <a:avLst/>
          </a:prstGeom>
          <a:ln w="66675" cap="rnd">
            <a:solidFill>
              <a:srgbClr val="38B6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12451641" y="2451231"/>
            <a:ext cx="271410" cy="0"/>
          </a:xfrm>
          <a:prstGeom prst="line">
            <a:avLst/>
          </a:prstGeom>
          <a:ln w="66675" cap="rnd">
            <a:solidFill>
              <a:srgbClr val="38B6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12451641" y="2803656"/>
            <a:ext cx="271410" cy="0"/>
          </a:xfrm>
          <a:prstGeom prst="line">
            <a:avLst/>
          </a:prstGeom>
          <a:ln w="66675" cap="rnd">
            <a:solidFill>
              <a:srgbClr val="C1FF7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>
            <a:off x="12451641" y="3079881"/>
            <a:ext cx="271410" cy="0"/>
          </a:xfrm>
          <a:prstGeom prst="line">
            <a:avLst/>
          </a:prstGeom>
          <a:ln w="66675" cap="rnd">
            <a:solidFill>
              <a:srgbClr val="C1FF7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>
            <a:off x="12451641" y="3356106"/>
            <a:ext cx="271410" cy="0"/>
          </a:xfrm>
          <a:prstGeom prst="line">
            <a:avLst/>
          </a:prstGeom>
          <a:ln w="66675" cap="rnd">
            <a:solidFill>
              <a:srgbClr val="C1FF7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>
            <a:off x="12451641" y="3708531"/>
            <a:ext cx="271410" cy="0"/>
          </a:xfrm>
          <a:prstGeom prst="line">
            <a:avLst/>
          </a:prstGeom>
          <a:ln w="66675" cap="rnd">
            <a:solidFill>
              <a:srgbClr val="C1FF7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12451641" y="3984604"/>
            <a:ext cx="271410" cy="0"/>
          </a:xfrm>
          <a:prstGeom prst="line">
            <a:avLst/>
          </a:prstGeom>
          <a:ln w="66675" cap="rnd">
            <a:solidFill>
              <a:srgbClr val="C1FF7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>
            <a:off x="12451641" y="4339972"/>
            <a:ext cx="271410" cy="0"/>
          </a:xfrm>
          <a:prstGeom prst="line">
            <a:avLst/>
          </a:prstGeom>
          <a:ln w="66675" cap="rnd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4" name="TextBox 44"/>
          <p:cNvSpPr txBox="1"/>
          <p:nvPr/>
        </p:nvSpPr>
        <p:spPr>
          <a:xfrm>
            <a:off x="12825484" y="2036597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TargetEnemy (Object - Actor)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2825484" y="2308356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PlayerActor (Object - Actor)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2825484" y="2660781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CompanionHP (Float)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2825484" y="2937006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PlayerHP (Float)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2825484" y="3213231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Stamina (Float)</a:t>
            </a:r>
          </a:p>
        </p:txBody>
      </p:sp>
      <p:sp>
        <p:nvSpPr>
          <p:cNvPr id="58" name="TextBox 48"/>
          <p:cNvSpPr txBox="1"/>
          <p:nvPr/>
        </p:nvSpPr>
        <p:spPr>
          <a:xfrm>
            <a:off x="12825484" y="5003800"/>
            <a:ext cx="2903621" cy="25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AIParamRow (RowHandle)</a:t>
            </a:r>
          </a:p>
        </p:txBody>
      </p:sp>
      <p:sp>
        <p:nvSpPr>
          <p:cNvPr id="59" name="TextBox 48"/>
          <p:cNvSpPr txBox="1"/>
          <p:nvPr/>
        </p:nvSpPr>
        <p:spPr>
          <a:xfrm>
            <a:off x="12825484" y="4737100"/>
            <a:ext cx="2903621" cy="25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PotionCount (Int)</a:t>
            </a:r>
          </a:p>
        </p:txBody>
      </p:sp>
      <p:sp>
        <p:nvSpPr>
          <p:cNvPr id="60" name="TextBox 48"/>
          <p:cNvSpPr txBox="1"/>
          <p:nvPr/>
        </p:nvSpPr>
        <p:spPr>
          <a:xfrm>
            <a:off x="12825484" y="4470400"/>
            <a:ext cx="2903621" cy="25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ReviveUsed (Bool)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825484" y="3565656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DistanceToPlayer (Float)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2825484" y="3841729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DistanceToEnemy (Float)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2825484" y="4197097"/>
            <a:ext cx="3844385" cy="25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CommandState (Enum)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302023" y="3904942"/>
            <a:ext cx="110490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스태미나 확인</a:t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타겟 업데이트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3946978" y="1397000"/>
            <a:ext cx="171077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Blackboard 키 정의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7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69" name="Group 4">
            <a:extLst>
              <a:ext uri="{FF2B5EF4-FFF2-40B4-BE49-F238E27FC236}">
                <a16:creationId xmlns:a16="http://schemas.microsoft.com/office/drawing/2014/main" id="{E407BC1C-1670-FF15-5647-62B41F444854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70" name="Freeform 5">
              <a:extLst>
                <a:ext uri="{FF2B5EF4-FFF2-40B4-BE49-F238E27FC236}">
                  <a16:creationId xmlns:a16="http://schemas.microsoft.com/office/drawing/2014/main" id="{CEB2F163-446E-2B58-24AC-D31196D8001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1" name="TextBox 6">
              <a:extLst>
                <a:ext uri="{FF2B5EF4-FFF2-40B4-BE49-F238E27FC236}">
                  <a16:creationId xmlns:a16="http://schemas.microsoft.com/office/drawing/2014/main" id="{63A494AE-6AF7-DF9E-0C8A-D4E3EE4394D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5D9C23D4-C7ED-61EC-B5E3-5A3EA471F0FA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3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n02_블랙보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8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CA99013-5FBC-8062-9115-3A44C062FA87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2BDDDDB-DE37-B77B-901F-13C6F2C1CA5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5BB797A-DA63-E2E8-5245-D41C90F60D2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2678002-6E23-D974-52D2-4E7776A48B90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4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638343" y="2095500"/>
            <a:ext cx="1011314" cy="716280"/>
            <a:chOff x="0" y="0"/>
            <a:chExt cx="266354" cy="1886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812800" cy="35660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0" name="Freeform 10"/>
          <p:cNvSpPr/>
          <p:nvPr/>
        </p:nvSpPr>
        <p:spPr>
          <a:xfrm>
            <a:off x="7749222" y="3870493"/>
            <a:ext cx="2789555" cy="609223"/>
          </a:xfrm>
          <a:custGeom>
            <a:avLst/>
            <a:gdLst/>
            <a:ahLst/>
            <a:cxnLst/>
            <a:rect l="l" t="t" r="r" b="b"/>
            <a:pathLst>
              <a:path w="734698" h="160454">
                <a:moveTo>
                  <a:pt x="27753" y="0"/>
                </a:moveTo>
                <a:lnTo>
                  <a:pt x="706944" y="0"/>
                </a:lnTo>
                <a:cubicBezTo>
                  <a:pt x="722272" y="0"/>
                  <a:pt x="734698" y="12426"/>
                  <a:pt x="734698" y="27753"/>
                </a:cubicBezTo>
                <a:lnTo>
                  <a:pt x="734698" y="132700"/>
                </a:lnTo>
                <a:cubicBezTo>
                  <a:pt x="734698" y="140061"/>
                  <a:pt x="731774" y="147120"/>
                  <a:pt x="726569" y="152325"/>
                </a:cubicBezTo>
                <a:cubicBezTo>
                  <a:pt x="721364" y="157530"/>
                  <a:pt x="714305" y="160454"/>
                  <a:pt x="706944" y="160454"/>
                </a:cubicBezTo>
                <a:lnTo>
                  <a:pt x="27753" y="160454"/>
                </a:lnTo>
                <a:cubicBezTo>
                  <a:pt x="20393" y="160454"/>
                  <a:pt x="13333" y="157530"/>
                  <a:pt x="8129" y="152325"/>
                </a:cubicBezTo>
                <a:cubicBezTo>
                  <a:pt x="2924" y="147120"/>
                  <a:pt x="0" y="140061"/>
                  <a:pt x="0" y="132700"/>
                </a:cubicBezTo>
                <a:lnTo>
                  <a:pt x="0" y="27753"/>
                </a:lnTo>
                <a:cubicBezTo>
                  <a:pt x="0" y="20393"/>
                  <a:pt x="2924" y="13333"/>
                  <a:pt x="8129" y="8129"/>
                </a:cubicBezTo>
                <a:cubicBezTo>
                  <a:pt x="13333" y="2924"/>
                  <a:pt x="20393" y="0"/>
                  <a:pt x="27753" y="0"/>
                </a:cubicBezTo>
                <a:close/>
              </a:path>
            </a:pathLst>
          </a:custGeom>
          <a:solidFill>
            <a:srgbClr val="00BF63"/>
          </a:solidFill>
          <a:ln w="9525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2" name="Freeform 12"/>
          <p:cNvSpPr/>
          <p:nvPr/>
        </p:nvSpPr>
        <p:spPr>
          <a:xfrm flipH="1">
            <a:off x="9098281" y="2841793"/>
            <a:ext cx="45719" cy="468986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2529903" y="5104654"/>
            <a:ext cx="3086100" cy="1143220"/>
            <a:chOff x="0" y="0"/>
            <a:chExt cx="812800" cy="30109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[생명 지원]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Urgent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600950" y="5104654"/>
            <a:ext cx="3086100" cy="1143220"/>
            <a:chOff x="0" y="0"/>
            <a:chExt cx="812800" cy="30109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[동행/탐험]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Follow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417248" y="5104654"/>
            <a:ext cx="3086100" cy="1143220"/>
            <a:chOff x="0" y="0"/>
            <a:chExt cx="812800" cy="30109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[전투 수행]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Combat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 flipH="1">
            <a:off x="5574156" y="4519015"/>
            <a:ext cx="2073467" cy="627486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9144000" y="4830455"/>
            <a:ext cx="0" cy="274199"/>
          </a:xfrm>
          <a:custGeom>
            <a:avLst/>
            <a:gdLst/>
            <a:ahLst/>
            <a:cxnLst/>
            <a:rect l="l" t="t" r="r" b="b"/>
            <a:pathLst>
              <a:path h="274199">
                <a:moveTo>
                  <a:pt x="0" y="0"/>
                </a:moveTo>
                <a:lnTo>
                  <a:pt x="0" y="274199"/>
                </a:lnTo>
              </a:path>
            </a:pathLst>
          </a:cu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10670750" y="4479716"/>
            <a:ext cx="1780891" cy="67483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26" name="Group 26"/>
          <p:cNvGrpSpPr/>
          <p:nvPr/>
        </p:nvGrpSpPr>
        <p:grpSpPr>
          <a:xfrm>
            <a:off x="11586320" y="2038459"/>
            <a:ext cx="5672980" cy="2791995"/>
            <a:chOff x="0" y="0"/>
            <a:chExt cx="1494118" cy="68119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94118" cy="681191"/>
            </a:xfrm>
            <a:custGeom>
              <a:avLst/>
              <a:gdLst/>
              <a:ahLst/>
              <a:cxnLst/>
              <a:rect l="l" t="t" r="r" b="b"/>
              <a:pathLst>
                <a:path w="1494118" h="681191">
                  <a:moveTo>
                    <a:pt x="0" y="0"/>
                  </a:moveTo>
                  <a:lnTo>
                    <a:pt x="1494118" y="0"/>
                  </a:lnTo>
                  <a:lnTo>
                    <a:pt x="1494118" y="681191"/>
                  </a:lnTo>
                  <a:lnTo>
                    <a:pt x="0" y="681191"/>
                  </a:lnTo>
                  <a:close/>
                </a:path>
              </a:pathLst>
            </a:custGeom>
            <a:ln w="38100" cap="sq">
              <a:solidFill>
                <a:srgbClr val="D9D9D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94118" cy="7097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</a:t>
            </a:r>
          </a:p>
        </p:txBody>
      </p:sp>
      <p:sp>
        <p:nvSpPr>
          <p:cNvPr id="30" name="AutoShape 30"/>
          <p:cNvSpPr/>
          <p:nvPr/>
        </p:nvSpPr>
        <p:spPr>
          <a:xfrm flipV="1">
            <a:off x="10538778" y="3331659"/>
            <a:ext cx="1047542" cy="843446"/>
          </a:xfrm>
          <a:prstGeom prst="line">
            <a:avLst/>
          </a:prstGeom>
          <a:ln w="38100" cap="flat">
            <a:solidFill>
              <a:srgbClr val="C1FF72">
                <a:alpha val="60000"/>
              </a:srgbClr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11754287" y="2270256"/>
            <a:ext cx="2425898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00BF63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 1 : Stamina Regen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754213" y="3378259"/>
            <a:ext cx="229597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 2: Target Update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754213" y="3654484"/>
            <a:ext cx="4374207" cy="79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TargetEnemy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=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Player.CurrentTarget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??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FindNearestEnemy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()</a:t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=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GetDistance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(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TargetEnemy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)</a:t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DistanceToPlayer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=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GetDistance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(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PlayerActor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754213" y="2549584"/>
            <a:ext cx="94252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Tick : 0.2s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754287" y="2825809"/>
            <a:ext cx="535811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Logic : Stamina = Clamp(Stamina + 5 * DeltaTime, 0, 100)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028700" y="6370320"/>
            <a:ext cx="16350661" cy="3067682"/>
            <a:chOff x="0" y="0"/>
            <a:chExt cx="4306347" cy="80794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4274726" cy="760620"/>
            </a:xfrm>
            <a:custGeom>
              <a:avLst/>
              <a:gdLst/>
              <a:ahLst/>
              <a:cxnLst/>
              <a:rect l="l" t="t" r="r" b="b"/>
              <a:pathLst>
                <a:path w="4274726" h="760620">
                  <a:moveTo>
                    <a:pt x="0" y="0"/>
                  </a:moveTo>
                  <a:lnTo>
                    <a:pt x="4274726" y="0"/>
                  </a:lnTo>
                  <a:lnTo>
                    <a:pt x="4274726" y="760620"/>
                  </a:lnTo>
                  <a:lnTo>
                    <a:pt x="0" y="760620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1621" y="18754"/>
              <a:ext cx="4274726" cy="789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Service 1 : Stamina Regen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스테미나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명혈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재생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algn="l">
                <a:lnSpc>
                  <a:spcPct val="150000"/>
                </a:lnSpc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AI가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전투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중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스킬을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사용하거나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특수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수행하기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위해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필수적으로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관리해야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하는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‘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스태미나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’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자원을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자동으로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회복시키는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갱신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빈도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(Tick) : 0.2초마다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실행된다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작동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논리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(Logic) : Stamina = Clamp(Stamina + 5 *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DeltaTime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0, 100)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논리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AutoNum type="arabicPeriod"/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초당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5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유닛의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비율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(5 *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DeltaTime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)로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스태미나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값을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증가시킨다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AutoNum type="arabicPeriod"/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Clamp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함수를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사용하여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재생된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최종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스태미나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값이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최소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0,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최대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100을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절대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벗어나지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않도록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보장한다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algn="l">
                <a:lnSpc>
                  <a:spcPct val="150000"/>
                </a:lnSpc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9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44" name="Group 9">
            <a:extLst>
              <a:ext uri="{FF2B5EF4-FFF2-40B4-BE49-F238E27FC236}">
                <a16:creationId xmlns:a16="http://schemas.microsoft.com/office/drawing/2014/main" id="{B2269D36-6358-2EEB-2EC5-BE4C0E0CD230}"/>
              </a:ext>
            </a:extLst>
          </p:cNvPr>
          <p:cNvGrpSpPr/>
          <p:nvPr/>
        </p:nvGrpSpPr>
        <p:grpSpPr>
          <a:xfrm>
            <a:off x="7749222" y="3869548"/>
            <a:ext cx="2808399" cy="771122"/>
            <a:chOff x="0" y="-249"/>
            <a:chExt cx="739661" cy="203094"/>
          </a:xfrm>
        </p:grpSpPr>
        <p:sp>
          <p:nvSpPr>
            <p:cNvPr id="45" name="Freeform 10">
              <a:extLst>
                <a:ext uri="{FF2B5EF4-FFF2-40B4-BE49-F238E27FC236}">
                  <a16:creationId xmlns:a16="http://schemas.microsoft.com/office/drawing/2014/main" id="{2A583A40-3A5A-BC1E-C878-02FEA516E55F}"/>
                </a:ext>
              </a:extLst>
            </p:cNvPr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46" name="TextBox 11">
              <a:extLst>
                <a:ext uri="{FF2B5EF4-FFF2-40B4-BE49-F238E27FC236}">
                  <a16:creationId xmlns:a16="http://schemas.microsoft.com/office/drawing/2014/main" id="{4B798F69-6BE0-1B46-7EB7-CA6C4193072B}"/>
                </a:ext>
              </a:extLst>
            </p:cNvPr>
            <p:cNvSpPr txBox="1"/>
            <p:nvPr/>
          </p:nvSpPr>
          <p:spPr>
            <a:xfrm>
              <a:off x="0" y="-249"/>
              <a:ext cx="739661" cy="2030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9" name="Group 4">
            <a:extLst>
              <a:ext uri="{FF2B5EF4-FFF2-40B4-BE49-F238E27FC236}">
                <a16:creationId xmlns:a16="http://schemas.microsoft.com/office/drawing/2014/main" id="{461E94D1-F83A-0976-F1B0-69C65C2E53F9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5CDA86D-F761-A40A-63EE-5CCB501EF7A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2BF62C7-4026-2BD0-F3A6-9DA55B0F3B8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72CE4C76-32FD-B692-7D94-CF69FED5ECCB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4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812800" cy="35660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749222" y="3869548"/>
            <a:ext cx="2808399" cy="771122"/>
            <a:chOff x="0" y="-249"/>
            <a:chExt cx="739661" cy="20309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49"/>
              <a:ext cx="739661" cy="2030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13" name="AutoShape 1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2529903" y="5104654"/>
            <a:ext cx="3086100" cy="1143220"/>
            <a:chOff x="0" y="0"/>
            <a:chExt cx="812800" cy="30109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[생명 지원]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Urgent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600950" y="5104654"/>
            <a:ext cx="3086100" cy="1143220"/>
            <a:chOff x="0" y="0"/>
            <a:chExt cx="812800" cy="30109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[동행/탐험]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Follow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417248" y="5104654"/>
            <a:ext cx="3086100" cy="1143220"/>
            <a:chOff x="0" y="0"/>
            <a:chExt cx="812800" cy="30109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[전투 수행]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Combat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 flipH="1">
            <a:off x="5574156" y="4519015"/>
            <a:ext cx="2073467" cy="627486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9144000" y="4830455"/>
            <a:ext cx="0" cy="274199"/>
          </a:xfrm>
          <a:custGeom>
            <a:avLst/>
            <a:gdLst/>
            <a:ahLst/>
            <a:cxnLst/>
            <a:rect l="l" t="t" r="r" b="b"/>
            <a:pathLst>
              <a:path h="274199">
                <a:moveTo>
                  <a:pt x="0" y="0"/>
                </a:moveTo>
                <a:lnTo>
                  <a:pt x="0" y="274199"/>
                </a:lnTo>
              </a:path>
            </a:pathLst>
          </a:cu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10670750" y="4479716"/>
            <a:ext cx="1780891" cy="67483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26" name="Group 26"/>
          <p:cNvGrpSpPr/>
          <p:nvPr/>
        </p:nvGrpSpPr>
        <p:grpSpPr>
          <a:xfrm>
            <a:off x="11586320" y="2038459"/>
            <a:ext cx="5672980" cy="2791995"/>
            <a:chOff x="0" y="0"/>
            <a:chExt cx="1494118" cy="68119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94118" cy="681191"/>
            </a:xfrm>
            <a:custGeom>
              <a:avLst/>
              <a:gdLst/>
              <a:ahLst/>
              <a:cxnLst/>
              <a:rect l="l" t="t" r="r" b="b"/>
              <a:pathLst>
                <a:path w="1494118" h="681191">
                  <a:moveTo>
                    <a:pt x="0" y="0"/>
                  </a:moveTo>
                  <a:lnTo>
                    <a:pt x="1494118" y="0"/>
                  </a:lnTo>
                  <a:lnTo>
                    <a:pt x="1494118" y="681191"/>
                  </a:lnTo>
                  <a:lnTo>
                    <a:pt x="0" y="681191"/>
                  </a:lnTo>
                  <a:close/>
                </a:path>
              </a:pathLst>
            </a:custGeom>
            <a:ln w="38100" cap="sq">
              <a:solidFill>
                <a:srgbClr val="D9D9D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94118" cy="7097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</a:t>
            </a:r>
          </a:p>
        </p:txBody>
      </p:sp>
      <p:sp>
        <p:nvSpPr>
          <p:cNvPr id="30" name="AutoShape 30"/>
          <p:cNvSpPr/>
          <p:nvPr/>
        </p:nvSpPr>
        <p:spPr>
          <a:xfrm flipV="1">
            <a:off x="10538778" y="3331659"/>
            <a:ext cx="1047542" cy="843446"/>
          </a:xfrm>
          <a:prstGeom prst="line">
            <a:avLst/>
          </a:prstGeom>
          <a:ln w="38100" cap="flat">
            <a:solidFill>
              <a:srgbClr val="C1FF72">
                <a:alpha val="60000"/>
              </a:srgbClr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11754287" y="2270256"/>
            <a:ext cx="2425898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 1 : Stamina Regen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754213" y="3378259"/>
            <a:ext cx="229597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00BF63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 2: Target Update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754213" y="3654484"/>
            <a:ext cx="4374207" cy="79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TargetEnemy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=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Player.CurrentTarget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??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FindNearestEnemy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()</a:t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=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GetDistance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(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TargetEnemy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)</a:t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DistanceToPlayer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=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GetDistance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(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PlayerActor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754213" y="2549584"/>
            <a:ext cx="94252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Tick : 0.2s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754287" y="2825809"/>
            <a:ext cx="535811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Logic : Stamina = Clamp(Stamina + 5 * DeltaTime, 0, 100)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028700" y="5570220"/>
            <a:ext cx="16341723" cy="3848521"/>
            <a:chOff x="0" y="0"/>
            <a:chExt cx="4303993" cy="101360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4274726" cy="971346"/>
            </a:xfrm>
            <a:custGeom>
              <a:avLst/>
              <a:gdLst/>
              <a:ahLst/>
              <a:cxnLst/>
              <a:rect l="l" t="t" r="r" b="b"/>
              <a:pathLst>
                <a:path w="4274726" h="971346">
                  <a:moveTo>
                    <a:pt x="0" y="0"/>
                  </a:moveTo>
                  <a:lnTo>
                    <a:pt x="4274726" y="0"/>
                  </a:lnTo>
                  <a:lnTo>
                    <a:pt x="4274726" y="971346"/>
                  </a:lnTo>
                  <a:lnTo>
                    <a:pt x="0" y="971346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9267" y="13681"/>
              <a:ext cx="4274726" cy="9999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Service 2 : Target Update 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타겟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및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거리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정보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업데이트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</a:p>
            <a:p>
              <a:pPr algn="l">
                <a:lnSpc>
                  <a:spcPct val="150000"/>
                </a:lnSpc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AI가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주변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상황을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인식하고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우선순위에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맞는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지원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추적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)을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선택하기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위한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가장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기초적인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환경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데이터를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업데이트한다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작동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논리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(Logic): (3단계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논리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</a:p>
            <a:p>
              <a:pPr marL="647700" lvl="2" indent="-215900" algn="l">
                <a:lnSpc>
                  <a:spcPct val="150000"/>
                </a:lnSpc>
                <a:buAutoNum type="alphaLcPeriod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TargetEnemy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=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FindNearestEnemy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()</a:t>
              </a:r>
            </a:p>
            <a:p>
              <a:pPr marL="971550" lvl="3" indent="-242888" algn="l">
                <a:lnSpc>
                  <a:spcPct val="150000"/>
                </a:lnSpc>
                <a:buFont typeface="Arial"/>
                <a:buChar char="￭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플레이어가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조준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중인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적을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최우선으로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TargetEnemy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에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저장한다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조준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대상이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없을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때만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최근접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적을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사용한다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647700" lvl="2" indent="-215900" algn="l">
                <a:lnSpc>
                  <a:spcPct val="150000"/>
                </a:lnSpc>
                <a:buAutoNum type="alphaLcPeriod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DistanceToEnemy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=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GetDistance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TargetEnemy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</a:p>
            <a:p>
              <a:pPr marL="971550" lvl="3" indent="-242888" algn="l">
                <a:lnSpc>
                  <a:spcPct val="150000"/>
                </a:lnSpc>
                <a:buFont typeface="Arial"/>
                <a:buChar char="￭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방금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업데이트된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TargetEnemy와의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정확한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물리적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거리를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계산하여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블랙보드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키에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저장한다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이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데이터는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AI의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범위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체크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등에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사용된다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647700" lvl="2" indent="-215900" algn="l">
                <a:lnSpc>
                  <a:spcPct val="150000"/>
                </a:lnSpc>
                <a:buAutoNum type="alphaLcPeriod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DistanceToPlayer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=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GetDistance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PlayerActor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</a:p>
            <a:p>
              <a:pPr marL="971550" lvl="3" indent="-242888" algn="l">
                <a:lnSpc>
                  <a:spcPct val="150000"/>
                </a:lnSpc>
                <a:buFont typeface="Arial"/>
                <a:buChar char="￭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AI와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플레이어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조종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캐릭터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PlayerActor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와의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물리적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거리를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계산하여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블랙보드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키에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저장한다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이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데이터는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플레이어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추적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및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긴급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지원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발동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여부를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판단하는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데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사용된다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algn="l">
                <a:lnSpc>
                  <a:spcPct val="150000"/>
                </a:lnSpc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10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40" name="Group 3">
            <a:extLst>
              <a:ext uri="{FF2B5EF4-FFF2-40B4-BE49-F238E27FC236}">
                <a16:creationId xmlns:a16="http://schemas.microsoft.com/office/drawing/2014/main" id="{3BD64610-B887-155E-F56B-7DA3D7ADA7DB}"/>
              </a:ext>
            </a:extLst>
          </p:cNvPr>
          <p:cNvGrpSpPr/>
          <p:nvPr/>
        </p:nvGrpSpPr>
        <p:grpSpPr>
          <a:xfrm>
            <a:off x="8638343" y="2095500"/>
            <a:ext cx="1011314" cy="716280"/>
            <a:chOff x="0" y="0"/>
            <a:chExt cx="266354" cy="188650"/>
          </a:xfrm>
        </p:grpSpPr>
        <p:sp>
          <p:nvSpPr>
            <p:cNvPr id="41" name="Freeform 4">
              <a:extLst>
                <a:ext uri="{FF2B5EF4-FFF2-40B4-BE49-F238E27FC236}">
                  <a16:creationId xmlns:a16="http://schemas.microsoft.com/office/drawing/2014/main" id="{C12E6D74-9851-007D-1404-8D41EB7E34E7}"/>
                </a:ext>
              </a:extLst>
            </p:cNvPr>
            <p:cNvSpPr/>
            <p:nvPr/>
          </p:nvSpPr>
          <p:spPr>
            <a:xfrm>
              <a:off x="0" y="0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extBox 5">
              <a:extLst>
                <a:ext uri="{FF2B5EF4-FFF2-40B4-BE49-F238E27FC236}">
                  <a16:creationId xmlns:a16="http://schemas.microsoft.com/office/drawing/2014/main" id="{5643E6B8-94A0-4E28-6FB4-3CB021375980}"/>
                </a:ext>
              </a:extLst>
            </p:cNvPr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sp>
        <p:nvSpPr>
          <p:cNvPr id="43" name="Freeform 12">
            <a:extLst>
              <a:ext uri="{FF2B5EF4-FFF2-40B4-BE49-F238E27FC236}">
                <a16:creationId xmlns:a16="http://schemas.microsoft.com/office/drawing/2014/main" id="{B839F684-CFCB-CE67-FEE1-DA6DC13E3389}"/>
              </a:ext>
            </a:extLst>
          </p:cNvPr>
          <p:cNvSpPr/>
          <p:nvPr/>
        </p:nvSpPr>
        <p:spPr>
          <a:xfrm flipH="1">
            <a:off x="9098281" y="2841793"/>
            <a:ext cx="45719" cy="468986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42A2DFB8-089E-27EA-B194-61AFD887D688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91908C48-7F23-A3F5-5089-DB229E91178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43CFAC-D7B3-555D-A51C-D0D1F8F83DC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2FEE889F-C559-587E-187C-3A305978EC62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4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n03_노드스펙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11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48A5CCC-BBC2-BF03-04C4-D7E7BD6A5344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443CFE26-1A0B-DAFE-DE58-50498906CD0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8E6D77-8C0A-B685-264B-CD00BB44A61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B067A2EB-6806-5A44-8FAA-528E48CEA406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4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916362" y="4827532"/>
            <a:ext cx="4313182" cy="4149571"/>
            <a:chOff x="0" y="0"/>
            <a:chExt cx="1135982" cy="109289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35982" cy="1092891"/>
            </a:xfrm>
            <a:custGeom>
              <a:avLst/>
              <a:gdLst/>
              <a:ahLst/>
              <a:cxnLst/>
              <a:rect l="l" t="t" r="r" b="b"/>
              <a:pathLst>
                <a:path w="1135982" h="1092891">
                  <a:moveTo>
                    <a:pt x="0" y="0"/>
                  </a:moveTo>
                  <a:lnTo>
                    <a:pt x="1135982" y="0"/>
                  </a:lnTo>
                  <a:lnTo>
                    <a:pt x="1135982" y="1092891"/>
                  </a:lnTo>
                  <a:lnTo>
                    <a:pt x="0" y="1092891"/>
                  </a:lnTo>
                  <a:close/>
                </a:path>
              </a:pathLst>
            </a:custGeom>
            <a:ln w="38100" cap="sq">
              <a:solidFill>
                <a:srgbClr val="FFDE5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135982" cy="11214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6" name="AutoShape 6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6" name="AutoShape 16"/>
          <p:cNvSpPr/>
          <p:nvPr/>
        </p:nvSpPr>
        <p:spPr>
          <a:xfrm flipH="1">
            <a:off x="5574156" y="4514409"/>
            <a:ext cx="2068641" cy="1203703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9144000" y="4556256"/>
            <a:ext cx="45719" cy="1120008"/>
          </a:xfrm>
          <a:custGeom>
            <a:avLst/>
            <a:gdLst/>
            <a:ahLst/>
            <a:cxnLst/>
            <a:rect l="l" t="t" r="r" b="b"/>
            <a:pathLst>
              <a:path h="598274">
                <a:moveTo>
                  <a:pt x="0" y="0"/>
                </a:moveTo>
                <a:lnTo>
                  <a:pt x="0" y="598274"/>
                </a:lnTo>
              </a:path>
            </a:pathLst>
          </a:cu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10654572" y="4504083"/>
            <a:ext cx="1797068" cy="1222075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지원 로직 설계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5546" y="26932"/>
              <a:ext cx="773749" cy="99371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749222" y="3870493"/>
            <a:ext cx="2789555" cy="609223"/>
            <a:chOff x="0" y="0"/>
            <a:chExt cx="734698" cy="16045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>
                <a:alpha val="49804"/>
              </a:srgbClr>
            </a:solidFill>
            <a:ln w="952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54310"/>
              <a:ext cx="734698" cy="10614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</a:t>
              </a: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638343" y="2169291"/>
            <a:ext cx="1011314" cy="716280"/>
            <a:chOff x="0" y="0"/>
            <a:chExt cx="266354" cy="18865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sp>
        <p:nvSpPr>
          <p:cNvPr id="35" name="Freeform 35"/>
          <p:cNvSpPr/>
          <p:nvPr/>
        </p:nvSpPr>
        <p:spPr>
          <a:xfrm flipH="1">
            <a:off x="9098281" y="2933481"/>
            <a:ext cx="45719" cy="377298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12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37" name="Group 14">
            <a:extLst>
              <a:ext uri="{FF2B5EF4-FFF2-40B4-BE49-F238E27FC236}">
                <a16:creationId xmlns:a16="http://schemas.microsoft.com/office/drawing/2014/main" id="{1A15FCB8-D055-8778-EEFF-76CF316091CC}"/>
              </a:ext>
            </a:extLst>
          </p:cNvPr>
          <p:cNvGrpSpPr/>
          <p:nvPr/>
        </p:nvGrpSpPr>
        <p:grpSpPr>
          <a:xfrm>
            <a:off x="2529903" y="5676264"/>
            <a:ext cx="3086100" cy="1143220"/>
            <a:chOff x="0" y="0"/>
            <a:chExt cx="812800" cy="301095"/>
          </a:xfrm>
        </p:grpSpPr>
        <p:sp>
          <p:nvSpPr>
            <p:cNvPr id="38" name="Freeform 15">
              <a:extLst>
                <a:ext uri="{FF2B5EF4-FFF2-40B4-BE49-F238E27FC236}">
                  <a16:creationId xmlns:a16="http://schemas.microsoft.com/office/drawing/2014/main" id="{0277F688-457D-0EDB-8CBA-F32643665726}"/>
                </a:ext>
              </a:extLst>
            </p:cNvPr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TextBox 16">
              <a:extLst>
                <a:ext uri="{FF2B5EF4-FFF2-40B4-BE49-F238E27FC236}">
                  <a16:creationId xmlns:a16="http://schemas.microsoft.com/office/drawing/2014/main" id="{43146D34-7DE5-A1E9-697F-43AF6870E614}"/>
                </a:ext>
              </a:extLst>
            </p:cNvPr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[생명 지원]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Urgent</a:t>
              </a:r>
            </a:p>
          </p:txBody>
        </p:sp>
      </p:grpSp>
      <p:sp>
        <p:nvSpPr>
          <p:cNvPr id="42" name="TextBox 19">
            <a:extLst>
              <a:ext uri="{FF2B5EF4-FFF2-40B4-BE49-F238E27FC236}">
                <a16:creationId xmlns:a16="http://schemas.microsoft.com/office/drawing/2014/main" id="{AFFA3AD7-F12C-EB93-1471-ECA4C0B2516B}"/>
              </a:ext>
            </a:extLst>
          </p:cNvPr>
          <p:cNvSpPr txBox="1"/>
          <p:nvPr/>
        </p:nvSpPr>
        <p:spPr>
          <a:xfrm>
            <a:off x="7600950" y="5542029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전투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수행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Combat</a:t>
            </a:r>
          </a:p>
        </p:txBody>
      </p:sp>
      <p:sp>
        <p:nvSpPr>
          <p:cNvPr id="45" name="TextBox 22">
            <a:extLst>
              <a:ext uri="{FF2B5EF4-FFF2-40B4-BE49-F238E27FC236}">
                <a16:creationId xmlns:a16="http://schemas.microsoft.com/office/drawing/2014/main" id="{996CBCFD-6D1E-5245-EB65-F19DE4C988F0}"/>
              </a:ext>
            </a:extLst>
          </p:cNvPr>
          <p:cNvSpPr txBox="1"/>
          <p:nvPr/>
        </p:nvSpPr>
        <p:spPr>
          <a:xfrm>
            <a:off x="12377315" y="5542029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동행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/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탐험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Follow</a:t>
            </a:r>
          </a:p>
        </p:txBody>
      </p:sp>
      <p:sp>
        <p:nvSpPr>
          <p:cNvPr id="46" name="TextBox 30">
            <a:extLst>
              <a:ext uri="{FF2B5EF4-FFF2-40B4-BE49-F238E27FC236}">
                <a16:creationId xmlns:a16="http://schemas.microsoft.com/office/drawing/2014/main" id="{0C8A0434-B55F-3146-FDDC-5E9366042134}"/>
              </a:ext>
            </a:extLst>
          </p:cNvPr>
          <p:cNvSpPr txBox="1"/>
          <p:nvPr/>
        </p:nvSpPr>
        <p:spPr>
          <a:xfrm>
            <a:off x="3489398" y="7372984"/>
            <a:ext cx="11671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부활,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본인 체력 회복</a:t>
            </a:r>
          </a:p>
        </p:txBody>
      </p:sp>
      <p:sp>
        <p:nvSpPr>
          <p:cNvPr id="47" name="TextBox 31">
            <a:extLst>
              <a:ext uri="{FF2B5EF4-FFF2-40B4-BE49-F238E27FC236}">
                <a16:creationId xmlns:a16="http://schemas.microsoft.com/office/drawing/2014/main" id="{B80CC014-3E79-27A4-2ADD-E96A28FD05CF}"/>
              </a:ext>
            </a:extLst>
          </p:cNvPr>
          <p:cNvSpPr txBox="1"/>
          <p:nvPr/>
        </p:nvSpPr>
        <p:spPr>
          <a:xfrm>
            <a:off x="3230883" y="8231942"/>
            <a:ext cx="168413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전투보다 생존이 우선</a:t>
            </a:r>
          </a:p>
        </p:txBody>
      </p:sp>
      <p:sp>
        <p:nvSpPr>
          <p:cNvPr id="48" name="TextBox 32">
            <a:extLst>
              <a:ext uri="{FF2B5EF4-FFF2-40B4-BE49-F238E27FC236}">
                <a16:creationId xmlns:a16="http://schemas.microsoft.com/office/drawing/2014/main" id="{02FAC43C-C516-1015-5A29-B7AB07E1E626}"/>
              </a:ext>
            </a:extLst>
          </p:cNvPr>
          <p:cNvSpPr txBox="1"/>
          <p:nvPr/>
        </p:nvSpPr>
        <p:spPr>
          <a:xfrm>
            <a:off x="7620000" y="8060492"/>
            <a:ext cx="3048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데코레이터</a:t>
            </a:r>
            <a:r>
              <a:rPr lang="en-US" sz="1500" b="1" dirty="0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 : </a:t>
            </a:r>
            <a:r>
              <a:rPr lang="en-US" sz="1500" b="1" dirty="0" err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TargetEnemy</a:t>
            </a:r>
            <a:r>
              <a:rPr lang="en-US" sz="1500" b="1" dirty="0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 Is Set</a:t>
            </a:r>
          </a:p>
        </p:txBody>
      </p:sp>
      <p:sp>
        <p:nvSpPr>
          <p:cNvPr id="49" name="TextBox 33">
            <a:extLst>
              <a:ext uri="{FF2B5EF4-FFF2-40B4-BE49-F238E27FC236}">
                <a16:creationId xmlns:a16="http://schemas.microsoft.com/office/drawing/2014/main" id="{1EA725E1-957C-1601-7F12-3D6158A53582}"/>
              </a:ext>
            </a:extLst>
          </p:cNvPr>
          <p:cNvSpPr txBox="1"/>
          <p:nvPr/>
        </p:nvSpPr>
        <p:spPr>
          <a:xfrm>
            <a:off x="12650365" y="8206203"/>
            <a:ext cx="2540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조건 없음 · 최종 폴백</a:t>
            </a:r>
          </a:p>
        </p:txBody>
      </p:sp>
      <p:sp>
        <p:nvSpPr>
          <p:cNvPr id="50" name="TextBox 34">
            <a:extLst>
              <a:ext uri="{FF2B5EF4-FFF2-40B4-BE49-F238E27FC236}">
                <a16:creationId xmlns:a16="http://schemas.microsoft.com/office/drawing/2014/main" id="{4C3AD161-023A-EB37-4496-847D22B235AC}"/>
              </a:ext>
            </a:extLst>
          </p:cNvPr>
          <p:cNvSpPr txBox="1"/>
          <p:nvPr/>
        </p:nvSpPr>
        <p:spPr>
          <a:xfrm>
            <a:off x="8331845" y="7201534"/>
            <a:ext cx="16243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스태미너</a:t>
            </a:r>
            <a:r>
              <a:rPr lang="en-US" sz="1500" b="1" dirty="0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관리</a:t>
            </a:r>
            <a:r>
              <a:rPr lang="en-US" sz="1500" b="1" dirty="0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스킬</a:t>
            </a:r>
            <a:r>
              <a:rPr lang="en-US" sz="1500" b="1" dirty="0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사용</a:t>
            </a:r>
            <a:r>
              <a:rPr lang="en-US" sz="1500" b="1" dirty="0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, </a:t>
            </a: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기본</a:t>
            </a:r>
            <a:r>
              <a:rPr lang="en-US" sz="1500" b="1" dirty="0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공격</a:t>
            </a:r>
            <a:endParaRPr lang="en-US" sz="1500" b="1" dirty="0">
              <a:solidFill>
                <a:srgbClr val="FFDE59">
                  <a:alpha val="50000"/>
                </a:srgbClr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1" name="TextBox 35">
            <a:extLst>
              <a:ext uri="{FF2B5EF4-FFF2-40B4-BE49-F238E27FC236}">
                <a16:creationId xmlns:a16="http://schemas.microsoft.com/office/drawing/2014/main" id="{15E89A4C-E2D1-45B3-0CA6-9B895823B26E}"/>
              </a:ext>
            </a:extLst>
          </p:cNvPr>
          <p:cNvSpPr txBox="1"/>
          <p:nvPr/>
        </p:nvSpPr>
        <p:spPr>
          <a:xfrm>
            <a:off x="12785551" y="7156745"/>
            <a:ext cx="226962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추적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2m 유지, 7m 벗어나면 워프</a:t>
            </a:r>
          </a:p>
        </p:txBody>
      </p:sp>
      <p:grpSp>
        <p:nvGrpSpPr>
          <p:cNvPr id="52" name="Group 26">
            <a:extLst>
              <a:ext uri="{FF2B5EF4-FFF2-40B4-BE49-F238E27FC236}">
                <a16:creationId xmlns:a16="http://schemas.microsoft.com/office/drawing/2014/main" id="{BA162F04-44D7-8C44-CA56-D60E6B59E9FD}"/>
              </a:ext>
            </a:extLst>
          </p:cNvPr>
          <p:cNvGrpSpPr/>
          <p:nvPr/>
        </p:nvGrpSpPr>
        <p:grpSpPr>
          <a:xfrm>
            <a:off x="12409794" y="5442458"/>
            <a:ext cx="3086100" cy="1450858"/>
            <a:chOff x="0" y="-54091"/>
            <a:chExt cx="812800" cy="382119"/>
          </a:xfrm>
        </p:grpSpPr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72A64F2B-5660-0457-B18A-21691192747F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TextBox 28">
              <a:extLst>
                <a:ext uri="{FF2B5EF4-FFF2-40B4-BE49-F238E27FC236}">
                  <a16:creationId xmlns:a16="http://schemas.microsoft.com/office/drawing/2014/main" id="{D3F62E82-4B99-FF71-9149-997680BE2665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55" name="Group 26">
            <a:extLst>
              <a:ext uri="{FF2B5EF4-FFF2-40B4-BE49-F238E27FC236}">
                <a16:creationId xmlns:a16="http://schemas.microsoft.com/office/drawing/2014/main" id="{772033E4-ACCD-BE74-FB82-192741E7DD34}"/>
              </a:ext>
            </a:extLst>
          </p:cNvPr>
          <p:cNvGrpSpPr/>
          <p:nvPr/>
        </p:nvGrpSpPr>
        <p:grpSpPr>
          <a:xfrm>
            <a:off x="7600950" y="5442458"/>
            <a:ext cx="3086100" cy="1450858"/>
            <a:chOff x="0" y="-54091"/>
            <a:chExt cx="812800" cy="382119"/>
          </a:xfrm>
        </p:grpSpPr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8C71833D-275A-BFDE-33F9-8CAB3C99C9DC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TextBox 28">
              <a:extLst>
                <a:ext uri="{FF2B5EF4-FFF2-40B4-BE49-F238E27FC236}">
                  <a16:creationId xmlns:a16="http://schemas.microsoft.com/office/drawing/2014/main" id="{D3543C88-DB5F-B1BF-4C18-17E30DE234E9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58" name="Group 4">
            <a:extLst>
              <a:ext uri="{FF2B5EF4-FFF2-40B4-BE49-F238E27FC236}">
                <a16:creationId xmlns:a16="http://schemas.microsoft.com/office/drawing/2014/main" id="{AA08C8F9-A90E-3800-A38C-454B2BAD7B01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59" name="Freeform 5">
              <a:extLst>
                <a:ext uri="{FF2B5EF4-FFF2-40B4-BE49-F238E27FC236}">
                  <a16:creationId xmlns:a16="http://schemas.microsoft.com/office/drawing/2014/main" id="{BB18F43B-0280-98A3-297A-2EB50104631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79D4F4A-3FAC-77F5-4EA7-4852A8B5902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59917A3B-DD5D-5D0F-8C7B-FA2A114B5825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5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4166377" y="4375127"/>
            <a:ext cx="3085725" cy="2288358"/>
            <a:chOff x="0" y="0"/>
            <a:chExt cx="812800" cy="60276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602768"/>
            </a:xfrm>
            <a:custGeom>
              <a:avLst/>
              <a:gdLst/>
              <a:ahLst/>
              <a:cxnLst/>
              <a:rect l="l" t="t" r="r" b="b"/>
              <a:pathLst>
                <a:path w="812800" h="602768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565134"/>
                  </a:lnTo>
                  <a:cubicBezTo>
                    <a:pt x="812800" y="585919"/>
                    <a:pt x="795951" y="602768"/>
                    <a:pt x="775166" y="602768"/>
                  </a:cubicBezTo>
                  <a:lnTo>
                    <a:pt x="37634" y="602768"/>
                  </a:lnTo>
                  <a:cubicBezTo>
                    <a:pt x="16849" y="602768"/>
                    <a:pt x="0" y="585919"/>
                    <a:pt x="0" y="565134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631343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337826" y="4375127"/>
            <a:ext cx="3085725" cy="1603237"/>
            <a:chOff x="0" y="0"/>
            <a:chExt cx="812800" cy="42230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422303"/>
            </a:xfrm>
            <a:custGeom>
              <a:avLst/>
              <a:gdLst/>
              <a:ahLst/>
              <a:cxnLst/>
              <a:rect l="l" t="t" r="r" b="b"/>
              <a:pathLst>
                <a:path w="812800" h="42230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384669"/>
                  </a:lnTo>
                  <a:cubicBezTo>
                    <a:pt x="812800" y="405454"/>
                    <a:pt x="795951" y="422303"/>
                    <a:pt x="775166" y="422303"/>
                  </a:cubicBezTo>
                  <a:lnTo>
                    <a:pt x="37634" y="422303"/>
                  </a:lnTo>
                  <a:cubicBezTo>
                    <a:pt x="16849" y="422303"/>
                    <a:pt x="0" y="405454"/>
                    <a:pt x="0" y="38466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45087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[Urgent]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3" name="AutoShape 13"/>
          <p:cNvSpPr/>
          <p:nvPr/>
        </p:nvSpPr>
        <p:spPr>
          <a:xfrm flipH="1">
            <a:off x="5709239" y="3751943"/>
            <a:ext cx="1578598" cy="6231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10288637" y="3765292"/>
            <a:ext cx="1592052" cy="60983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6" name="Group 16"/>
          <p:cNvGrpSpPr/>
          <p:nvPr/>
        </p:nvGrpSpPr>
        <p:grpSpPr>
          <a:xfrm>
            <a:off x="4314461" y="4535163"/>
            <a:ext cx="2789555" cy="609223"/>
            <a:chOff x="0" y="0"/>
            <a:chExt cx="734698" cy="16045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104775"/>
              <a:ext cx="734698" cy="1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PlayerHP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== 0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485911" y="4535163"/>
            <a:ext cx="2789555" cy="609223"/>
            <a:chOff x="0" y="0"/>
            <a:chExt cx="734698" cy="16045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104775"/>
              <a:ext cx="734698" cy="1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Self Low HP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314461" y="5213597"/>
            <a:ext cx="2789555" cy="609223"/>
            <a:chOff x="0" y="0"/>
            <a:chExt cx="734698" cy="160454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104775"/>
              <a:ext cx="734698" cy="12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CompanionHP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&gt; 0.3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314461" y="5889494"/>
            <a:ext cx="2789555" cy="609223"/>
            <a:chOff x="0" y="0"/>
            <a:chExt cx="734698" cy="160454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104775"/>
              <a:ext cx="734698" cy="12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GiveLife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485911" y="5213597"/>
            <a:ext cx="2789555" cy="609223"/>
            <a:chOff x="0" y="0"/>
            <a:chExt cx="734698" cy="160454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104775"/>
              <a:ext cx="734698" cy="12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HealPotion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182218" y="7001431"/>
            <a:ext cx="5069883" cy="1603376"/>
            <a:chOff x="0" y="0"/>
            <a:chExt cx="1335278" cy="42228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335278" cy="422288"/>
            </a:xfrm>
            <a:custGeom>
              <a:avLst/>
              <a:gdLst/>
              <a:ahLst/>
              <a:cxnLst/>
              <a:rect l="l" t="t" r="r" b="b"/>
              <a:pathLst>
                <a:path w="1335278" h="422288">
                  <a:moveTo>
                    <a:pt x="0" y="0"/>
                  </a:moveTo>
                  <a:lnTo>
                    <a:pt x="1335278" y="0"/>
                  </a:lnTo>
                  <a:lnTo>
                    <a:pt x="1335278" y="422288"/>
                  </a:lnTo>
                  <a:lnTo>
                    <a:pt x="0" y="42228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28575"/>
              <a:ext cx="1335278" cy="4508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플레이어가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사망하면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최초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1회,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체력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30%를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소모하여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플레이어를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최대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체력의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25%로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부활시킨다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단,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체력이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30%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이상일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때만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발동한다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233997" y="7001431"/>
            <a:ext cx="3086100" cy="1603376"/>
            <a:chOff x="0" y="0"/>
            <a:chExt cx="812800" cy="42228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422288"/>
            </a:xfrm>
            <a:custGeom>
              <a:avLst/>
              <a:gdLst/>
              <a:ahLst/>
              <a:cxnLst/>
              <a:rect l="l" t="t" r="r" b="b"/>
              <a:pathLst>
                <a:path w="812800" h="422288">
                  <a:moveTo>
                    <a:pt x="0" y="0"/>
                  </a:moveTo>
                  <a:lnTo>
                    <a:pt x="812800" y="0"/>
                  </a:lnTo>
                  <a:lnTo>
                    <a:pt x="812800" y="422288"/>
                  </a:lnTo>
                  <a:lnTo>
                    <a:pt x="0" y="42228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28575"/>
              <a:ext cx="812800" cy="4508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긴급 상황 발생 시 현재 행동을 즉시 중단하고 우선적으로 실행한다. (Abort Both)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750619" y="7001431"/>
            <a:ext cx="4988078" cy="1603376"/>
            <a:chOff x="0" y="0"/>
            <a:chExt cx="1313732" cy="42228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313732" cy="422288"/>
            </a:xfrm>
            <a:custGeom>
              <a:avLst/>
              <a:gdLst/>
              <a:ahLst/>
              <a:cxnLst/>
              <a:rect l="l" t="t" r="r" b="b"/>
              <a:pathLst>
                <a:path w="1313732" h="422288">
                  <a:moveTo>
                    <a:pt x="0" y="0"/>
                  </a:moveTo>
                  <a:lnTo>
                    <a:pt x="1313732" y="0"/>
                  </a:lnTo>
                  <a:lnTo>
                    <a:pt x="1313732" y="422288"/>
                  </a:lnTo>
                  <a:lnTo>
                    <a:pt x="0" y="42228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28575"/>
              <a:ext cx="1313732" cy="4508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자신의 체력이 20% 이하로 감소하면, 회복 애니메이션과 함께 체력 40%를 회복한다. 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한 목숨당, 3회 회복 가능하다.</a:t>
              </a:r>
            </a:p>
          </p:txBody>
        </p:sp>
      </p:grpSp>
      <p:sp>
        <p:nvSpPr>
          <p:cNvPr id="40" name="Freeform 40"/>
          <p:cNvSpPr/>
          <p:nvPr/>
        </p:nvSpPr>
        <p:spPr>
          <a:xfrm>
            <a:off x="3831304" y="4055248"/>
            <a:ext cx="483158" cy="479915"/>
          </a:xfrm>
          <a:custGeom>
            <a:avLst/>
            <a:gdLst/>
            <a:ahLst/>
            <a:cxnLst/>
            <a:rect l="l" t="t" r="r" b="b"/>
            <a:pathLst>
              <a:path w="483158" h="479915">
                <a:moveTo>
                  <a:pt x="0" y="0"/>
                </a:moveTo>
                <a:lnTo>
                  <a:pt x="483157" y="0"/>
                </a:lnTo>
                <a:lnTo>
                  <a:pt x="483157" y="479915"/>
                </a:lnTo>
                <a:lnTo>
                  <a:pt x="0" y="4799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1" name="Freeform 41"/>
          <p:cNvSpPr/>
          <p:nvPr/>
        </p:nvSpPr>
        <p:spPr>
          <a:xfrm>
            <a:off x="1940640" y="6663485"/>
            <a:ext cx="483158" cy="479915"/>
          </a:xfrm>
          <a:custGeom>
            <a:avLst/>
            <a:gdLst/>
            <a:ahLst/>
            <a:cxnLst/>
            <a:rect l="l" t="t" r="r" b="b"/>
            <a:pathLst>
              <a:path w="483158" h="479915">
                <a:moveTo>
                  <a:pt x="0" y="0"/>
                </a:moveTo>
                <a:lnTo>
                  <a:pt x="483157" y="0"/>
                </a:lnTo>
                <a:lnTo>
                  <a:pt x="483157" y="479915"/>
                </a:lnTo>
                <a:lnTo>
                  <a:pt x="0" y="4799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2" name="Freeform 42"/>
          <p:cNvSpPr/>
          <p:nvPr/>
        </p:nvSpPr>
        <p:spPr>
          <a:xfrm>
            <a:off x="10077591" y="4116627"/>
            <a:ext cx="520469" cy="517000"/>
          </a:xfrm>
          <a:custGeom>
            <a:avLst/>
            <a:gdLst/>
            <a:ahLst/>
            <a:cxnLst/>
            <a:rect l="l" t="t" r="r" b="b"/>
            <a:pathLst>
              <a:path w="520469" h="517000">
                <a:moveTo>
                  <a:pt x="0" y="0"/>
                </a:moveTo>
                <a:lnTo>
                  <a:pt x="520470" y="0"/>
                </a:lnTo>
                <a:lnTo>
                  <a:pt x="520470" y="517000"/>
                </a:lnTo>
                <a:lnTo>
                  <a:pt x="0" y="51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3" name="Freeform 43"/>
          <p:cNvSpPr/>
          <p:nvPr/>
        </p:nvSpPr>
        <p:spPr>
          <a:xfrm>
            <a:off x="7568662" y="6663485"/>
            <a:ext cx="520469" cy="517000"/>
          </a:xfrm>
          <a:custGeom>
            <a:avLst/>
            <a:gdLst/>
            <a:ahLst/>
            <a:cxnLst/>
            <a:rect l="l" t="t" r="r" b="b"/>
            <a:pathLst>
              <a:path w="520469" h="517000">
                <a:moveTo>
                  <a:pt x="0" y="0"/>
                </a:moveTo>
                <a:lnTo>
                  <a:pt x="520470" y="0"/>
                </a:lnTo>
                <a:lnTo>
                  <a:pt x="520470" y="516999"/>
                </a:lnTo>
                <a:lnTo>
                  <a:pt x="0" y="5169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4" name="TextBox 4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지원 로직 설계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976334" y="4582599"/>
            <a:ext cx="102572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38B6FF"/>
                </a:solidFill>
                <a:latin typeface="Noto Sans KR"/>
                <a:ea typeface="Noto Sans KR"/>
                <a:cs typeface="Noto Sans KR"/>
                <a:sym typeface="Noto Sans KR"/>
              </a:rPr>
              <a:t>Abort Both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218935" y="4582599"/>
            <a:ext cx="102572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38B6FF"/>
                </a:solidFill>
                <a:latin typeface="Noto Sans KR"/>
                <a:ea typeface="Noto Sans KR"/>
                <a:cs typeface="Noto Sans KR"/>
                <a:sym typeface="Noto Sans KR"/>
              </a:rPr>
              <a:t>Abort Both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13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49" name="AutoShape 10">
            <a:extLst>
              <a:ext uri="{FF2B5EF4-FFF2-40B4-BE49-F238E27FC236}">
                <a16:creationId xmlns:a16="http://schemas.microsoft.com/office/drawing/2014/main" id="{838E52DE-8E1B-16B6-C271-55CF60F49923}"/>
              </a:ext>
            </a:extLst>
          </p:cNvPr>
          <p:cNvSpPr/>
          <p:nvPr/>
        </p:nvSpPr>
        <p:spPr>
          <a:xfrm flipH="1">
            <a:off x="8794963" y="2082377"/>
            <a:ext cx="1690947" cy="574835"/>
          </a:xfrm>
          <a:prstGeom prst="line">
            <a:avLst/>
          </a:prstGeom>
          <a:ln w="38100" cap="rnd">
            <a:solidFill>
              <a:schemeClr val="bg1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50" name="Group 4">
            <a:extLst>
              <a:ext uri="{FF2B5EF4-FFF2-40B4-BE49-F238E27FC236}">
                <a16:creationId xmlns:a16="http://schemas.microsoft.com/office/drawing/2014/main" id="{ECA7D756-6B79-FEAA-2C89-71EB90030B46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71F4DCC5-1CD4-8BCC-A4A0-FCF0241B369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CFE7732-E332-B8A7-5453-61C223BF202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453D4C5F-2A91-0C21-2864-B2FB2A30375C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5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6992094" y="4827532"/>
            <a:ext cx="4313182" cy="4149571"/>
            <a:chOff x="0" y="0"/>
            <a:chExt cx="1135982" cy="109289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35982" cy="1092891"/>
            </a:xfrm>
            <a:custGeom>
              <a:avLst/>
              <a:gdLst/>
              <a:ahLst/>
              <a:cxnLst/>
              <a:rect l="l" t="t" r="r" b="b"/>
              <a:pathLst>
                <a:path w="1135982" h="1092891">
                  <a:moveTo>
                    <a:pt x="0" y="0"/>
                  </a:moveTo>
                  <a:lnTo>
                    <a:pt x="1135982" y="0"/>
                  </a:lnTo>
                  <a:lnTo>
                    <a:pt x="1135982" y="1092891"/>
                  </a:lnTo>
                  <a:lnTo>
                    <a:pt x="0" y="1092891"/>
                  </a:lnTo>
                  <a:close/>
                </a:path>
              </a:pathLst>
            </a:custGeom>
            <a:ln w="38100" cap="sq">
              <a:solidFill>
                <a:srgbClr val="FFDE5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135982" cy="11214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6" name="AutoShape 6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6" name="AutoShape 16"/>
          <p:cNvSpPr/>
          <p:nvPr/>
        </p:nvSpPr>
        <p:spPr>
          <a:xfrm flipH="1">
            <a:off x="5574156" y="4514409"/>
            <a:ext cx="2068641" cy="1203703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10654572" y="4504083"/>
            <a:ext cx="1797068" cy="1222075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812800" cy="35660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749222" y="3870493"/>
            <a:ext cx="2789555" cy="609223"/>
            <a:chOff x="0" y="0"/>
            <a:chExt cx="734698" cy="16045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>
                <a:alpha val="49804"/>
              </a:srgbClr>
            </a:solidFill>
            <a:ln w="952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104775"/>
              <a:ext cx="734698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 행동 선택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638343" y="2169291"/>
            <a:ext cx="1011314" cy="653502"/>
            <a:chOff x="0" y="0"/>
            <a:chExt cx="266354" cy="18865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sp>
        <p:nvSpPr>
          <p:cNvPr id="35" name="Freeform 35"/>
          <p:cNvSpPr/>
          <p:nvPr/>
        </p:nvSpPr>
        <p:spPr>
          <a:xfrm flipH="1">
            <a:off x="9098280" y="2855852"/>
            <a:ext cx="45719" cy="454927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14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37" name="Freeform 35">
            <a:extLst>
              <a:ext uri="{FF2B5EF4-FFF2-40B4-BE49-F238E27FC236}">
                <a16:creationId xmlns:a16="http://schemas.microsoft.com/office/drawing/2014/main" id="{A10E0C7C-5088-6E16-0780-57093F9CDDC3}"/>
              </a:ext>
            </a:extLst>
          </p:cNvPr>
          <p:cNvSpPr/>
          <p:nvPr/>
        </p:nvSpPr>
        <p:spPr>
          <a:xfrm flipH="1">
            <a:off x="9031187" y="4553735"/>
            <a:ext cx="112811" cy="1122529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TextBox 16">
            <a:extLst>
              <a:ext uri="{FF2B5EF4-FFF2-40B4-BE49-F238E27FC236}">
                <a16:creationId xmlns:a16="http://schemas.microsoft.com/office/drawing/2014/main" id="{63B81ACC-F636-7756-13EB-5786089C2B7E}"/>
              </a:ext>
            </a:extLst>
          </p:cNvPr>
          <p:cNvSpPr txBox="1"/>
          <p:nvPr/>
        </p:nvSpPr>
        <p:spPr>
          <a:xfrm>
            <a:off x="2529903" y="5567768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생명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지원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Urgent</a:t>
            </a:r>
          </a:p>
        </p:txBody>
      </p:sp>
      <p:grpSp>
        <p:nvGrpSpPr>
          <p:cNvPr id="40" name="Group 17">
            <a:extLst>
              <a:ext uri="{FF2B5EF4-FFF2-40B4-BE49-F238E27FC236}">
                <a16:creationId xmlns:a16="http://schemas.microsoft.com/office/drawing/2014/main" id="{24E5E59D-A668-51FF-0082-C7E7966D5620}"/>
              </a:ext>
            </a:extLst>
          </p:cNvPr>
          <p:cNvGrpSpPr/>
          <p:nvPr/>
        </p:nvGrpSpPr>
        <p:grpSpPr>
          <a:xfrm>
            <a:off x="7640028" y="5650525"/>
            <a:ext cx="3086100" cy="1143220"/>
            <a:chOff x="0" y="0"/>
            <a:chExt cx="812800" cy="301095"/>
          </a:xfrm>
        </p:grpSpPr>
        <p:sp>
          <p:nvSpPr>
            <p:cNvPr id="41" name="Freeform 18">
              <a:extLst>
                <a:ext uri="{FF2B5EF4-FFF2-40B4-BE49-F238E27FC236}">
                  <a16:creationId xmlns:a16="http://schemas.microsoft.com/office/drawing/2014/main" id="{95CAB6AE-0F4F-242E-4803-707A727B184E}"/>
                </a:ext>
              </a:extLst>
            </p:cNvPr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extBox 19">
              <a:extLst>
                <a:ext uri="{FF2B5EF4-FFF2-40B4-BE49-F238E27FC236}">
                  <a16:creationId xmlns:a16="http://schemas.microsoft.com/office/drawing/2014/main" id="{2AF8C4E0-7681-8CAB-4275-44F6BC73E1D8}"/>
                </a:ext>
              </a:extLst>
            </p:cNvPr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전투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수행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Combat</a:t>
              </a:r>
            </a:p>
          </p:txBody>
        </p:sp>
      </p:grpSp>
      <p:sp>
        <p:nvSpPr>
          <p:cNvPr id="45" name="TextBox 22">
            <a:extLst>
              <a:ext uri="{FF2B5EF4-FFF2-40B4-BE49-F238E27FC236}">
                <a16:creationId xmlns:a16="http://schemas.microsoft.com/office/drawing/2014/main" id="{FAFDAE3A-9DA1-2CAC-B390-BE69A6CF27E8}"/>
              </a:ext>
            </a:extLst>
          </p:cNvPr>
          <p:cNvSpPr txBox="1"/>
          <p:nvPr/>
        </p:nvSpPr>
        <p:spPr>
          <a:xfrm>
            <a:off x="12400112" y="5542029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동행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/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탐험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Follow</a:t>
            </a:r>
          </a:p>
        </p:txBody>
      </p:sp>
      <p:sp>
        <p:nvSpPr>
          <p:cNvPr id="46" name="TextBox 30">
            <a:extLst>
              <a:ext uri="{FF2B5EF4-FFF2-40B4-BE49-F238E27FC236}">
                <a16:creationId xmlns:a16="http://schemas.microsoft.com/office/drawing/2014/main" id="{EEDB6AB9-EAA8-FC22-8987-83F7E0F4B9CF}"/>
              </a:ext>
            </a:extLst>
          </p:cNvPr>
          <p:cNvSpPr txBox="1"/>
          <p:nvPr/>
        </p:nvSpPr>
        <p:spPr>
          <a:xfrm>
            <a:off x="3489398" y="7372984"/>
            <a:ext cx="11671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부활,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본인 체력 회복</a:t>
            </a:r>
          </a:p>
        </p:txBody>
      </p:sp>
      <p:sp>
        <p:nvSpPr>
          <p:cNvPr id="47" name="TextBox 31">
            <a:extLst>
              <a:ext uri="{FF2B5EF4-FFF2-40B4-BE49-F238E27FC236}">
                <a16:creationId xmlns:a16="http://schemas.microsoft.com/office/drawing/2014/main" id="{9C344DF4-4330-E24F-3857-2A28C1A87CAB}"/>
              </a:ext>
            </a:extLst>
          </p:cNvPr>
          <p:cNvSpPr txBox="1"/>
          <p:nvPr/>
        </p:nvSpPr>
        <p:spPr>
          <a:xfrm>
            <a:off x="3230883" y="8231942"/>
            <a:ext cx="168413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전투보다 생존이 우선</a:t>
            </a:r>
          </a:p>
        </p:txBody>
      </p:sp>
      <p:sp>
        <p:nvSpPr>
          <p:cNvPr id="48" name="TextBox 32">
            <a:extLst>
              <a:ext uri="{FF2B5EF4-FFF2-40B4-BE49-F238E27FC236}">
                <a16:creationId xmlns:a16="http://schemas.microsoft.com/office/drawing/2014/main" id="{F981B6CD-8101-CEF9-4A8B-969D69B3E1FC}"/>
              </a:ext>
            </a:extLst>
          </p:cNvPr>
          <p:cNvSpPr txBox="1"/>
          <p:nvPr/>
        </p:nvSpPr>
        <p:spPr>
          <a:xfrm>
            <a:off x="7659078" y="8060492"/>
            <a:ext cx="3048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데코레이터 : TargetEnemy Is Set</a:t>
            </a:r>
          </a:p>
        </p:txBody>
      </p:sp>
      <p:sp>
        <p:nvSpPr>
          <p:cNvPr id="49" name="TextBox 33">
            <a:extLst>
              <a:ext uri="{FF2B5EF4-FFF2-40B4-BE49-F238E27FC236}">
                <a16:creationId xmlns:a16="http://schemas.microsoft.com/office/drawing/2014/main" id="{C727036C-AC31-4800-2D20-531E5BD71EA0}"/>
              </a:ext>
            </a:extLst>
          </p:cNvPr>
          <p:cNvSpPr txBox="1"/>
          <p:nvPr/>
        </p:nvSpPr>
        <p:spPr>
          <a:xfrm>
            <a:off x="12673162" y="8206203"/>
            <a:ext cx="2540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조건 없음 · 최종 폴백</a:t>
            </a:r>
          </a:p>
        </p:txBody>
      </p:sp>
      <p:sp>
        <p:nvSpPr>
          <p:cNvPr id="50" name="TextBox 34">
            <a:extLst>
              <a:ext uri="{FF2B5EF4-FFF2-40B4-BE49-F238E27FC236}">
                <a16:creationId xmlns:a16="http://schemas.microsoft.com/office/drawing/2014/main" id="{F185474F-29B3-3798-3CAD-BDC9C66A4EDB}"/>
              </a:ext>
            </a:extLst>
          </p:cNvPr>
          <p:cNvSpPr txBox="1"/>
          <p:nvPr/>
        </p:nvSpPr>
        <p:spPr>
          <a:xfrm>
            <a:off x="8370923" y="7201534"/>
            <a:ext cx="16243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스태미너 관리,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스킬 사용, 기본 공격</a:t>
            </a:r>
          </a:p>
        </p:txBody>
      </p:sp>
      <p:sp>
        <p:nvSpPr>
          <p:cNvPr id="51" name="TextBox 35">
            <a:extLst>
              <a:ext uri="{FF2B5EF4-FFF2-40B4-BE49-F238E27FC236}">
                <a16:creationId xmlns:a16="http://schemas.microsoft.com/office/drawing/2014/main" id="{9EF73545-9B94-0530-B434-B81033225EDE}"/>
              </a:ext>
            </a:extLst>
          </p:cNvPr>
          <p:cNvSpPr txBox="1"/>
          <p:nvPr/>
        </p:nvSpPr>
        <p:spPr>
          <a:xfrm>
            <a:off x="12808348" y="7156745"/>
            <a:ext cx="226962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추적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2m 유지, 7m 벗어나면 워프</a:t>
            </a:r>
          </a:p>
        </p:txBody>
      </p:sp>
      <p:grpSp>
        <p:nvGrpSpPr>
          <p:cNvPr id="55" name="Group 26">
            <a:extLst>
              <a:ext uri="{FF2B5EF4-FFF2-40B4-BE49-F238E27FC236}">
                <a16:creationId xmlns:a16="http://schemas.microsoft.com/office/drawing/2014/main" id="{79DCCCFA-6766-02A4-3A37-BC8A1CAE852C}"/>
              </a:ext>
            </a:extLst>
          </p:cNvPr>
          <p:cNvGrpSpPr/>
          <p:nvPr/>
        </p:nvGrpSpPr>
        <p:grpSpPr>
          <a:xfrm>
            <a:off x="2543422" y="5476418"/>
            <a:ext cx="3086100" cy="1450858"/>
            <a:chOff x="0" y="-54091"/>
            <a:chExt cx="812800" cy="382119"/>
          </a:xfrm>
        </p:grpSpPr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4AE17D1E-4B1C-B124-FB4D-3E55EA3C33DA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TextBox 28">
              <a:extLst>
                <a:ext uri="{FF2B5EF4-FFF2-40B4-BE49-F238E27FC236}">
                  <a16:creationId xmlns:a16="http://schemas.microsoft.com/office/drawing/2014/main" id="{69976942-0445-D54F-D4FC-55D2D2554F00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61" name="Group 26">
            <a:extLst>
              <a:ext uri="{FF2B5EF4-FFF2-40B4-BE49-F238E27FC236}">
                <a16:creationId xmlns:a16="http://schemas.microsoft.com/office/drawing/2014/main" id="{176B43F1-06B7-9760-0919-AD580345E047}"/>
              </a:ext>
            </a:extLst>
          </p:cNvPr>
          <p:cNvGrpSpPr/>
          <p:nvPr/>
        </p:nvGrpSpPr>
        <p:grpSpPr>
          <a:xfrm>
            <a:off x="12386594" y="5476418"/>
            <a:ext cx="3086100" cy="1450858"/>
            <a:chOff x="0" y="-54091"/>
            <a:chExt cx="812800" cy="382119"/>
          </a:xfrm>
        </p:grpSpPr>
        <p:sp>
          <p:nvSpPr>
            <p:cNvPr id="62" name="Freeform 27">
              <a:extLst>
                <a:ext uri="{FF2B5EF4-FFF2-40B4-BE49-F238E27FC236}">
                  <a16:creationId xmlns:a16="http://schemas.microsoft.com/office/drawing/2014/main" id="{D6B0C3B1-689C-4548-CE56-5508ACB9248C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TextBox 28">
              <a:extLst>
                <a:ext uri="{FF2B5EF4-FFF2-40B4-BE49-F238E27FC236}">
                  <a16:creationId xmlns:a16="http://schemas.microsoft.com/office/drawing/2014/main" id="{1C83B1E2-B5C2-880B-1716-0AA38C2BE6DD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64" name="Group 4">
            <a:extLst>
              <a:ext uri="{FF2B5EF4-FFF2-40B4-BE49-F238E27FC236}">
                <a16:creationId xmlns:a16="http://schemas.microsoft.com/office/drawing/2014/main" id="{6FBF136C-4FE5-26F7-1BB7-75EE41CF91DE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5" name="Freeform 5">
              <a:extLst>
                <a:ext uri="{FF2B5EF4-FFF2-40B4-BE49-F238E27FC236}">
                  <a16:creationId xmlns:a16="http://schemas.microsoft.com/office/drawing/2014/main" id="{D024594B-6D6F-748D-9AD2-A578BDFCD30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523675D-9A6D-DB2C-706B-5D28AA79111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A335E415-4E6B-16CF-6B2A-E749F0BBA202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853556" y="2347855"/>
            <a:ext cx="1882816" cy="982980"/>
            <a:chOff x="0" y="0"/>
            <a:chExt cx="495946" cy="2589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5946" cy="258923"/>
            </a:xfrm>
            <a:custGeom>
              <a:avLst/>
              <a:gdLst/>
              <a:ahLst/>
              <a:cxnLst/>
              <a:rect l="l" t="t" r="r" b="b"/>
              <a:pathLst>
                <a:path w="495946" h="258923">
                  <a:moveTo>
                    <a:pt x="61678" y="0"/>
                  </a:moveTo>
                  <a:lnTo>
                    <a:pt x="434268" y="0"/>
                  </a:lnTo>
                  <a:cubicBezTo>
                    <a:pt x="450626" y="0"/>
                    <a:pt x="466314" y="6498"/>
                    <a:pt x="477881" y="18065"/>
                  </a:cubicBezTo>
                  <a:cubicBezTo>
                    <a:pt x="489448" y="29632"/>
                    <a:pt x="495946" y="45320"/>
                    <a:pt x="495946" y="61678"/>
                  </a:cubicBezTo>
                  <a:lnTo>
                    <a:pt x="495946" y="197245"/>
                  </a:lnTo>
                  <a:cubicBezTo>
                    <a:pt x="495946" y="213603"/>
                    <a:pt x="489448" y="229291"/>
                    <a:pt x="477881" y="240858"/>
                  </a:cubicBezTo>
                  <a:cubicBezTo>
                    <a:pt x="466314" y="252425"/>
                    <a:pt x="450626" y="258923"/>
                    <a:pt x="434268" y="258923"/>
                  </a:cubicBezTo>
                  <a:lnTo>
                    <a:pt x="61678" y="258923"/>
                  </a:lnTo>
                  <a:cubicBezTo>
                    <a:pt x="45320" y="258923"/>
                    <a:pt x="29632" y="252425"/>
                    <a:pt x="18065" y="240858"/>
                  </a:cubicBezTo>
                  <a:cubicBezTo>
                    <a:pt x="6498" y="229291"/>
                    <a:pt x="0" y="213603"/>
                    <a:pt x="0" y="197245"/>
                  </a:cubicBezTo>
                  <a:lnTo>
                    <a:pt x="0" y="61678"/>
                  </a:lnTo>
                  <a:cubicBezTo>
                    <a:pt x="0" y="45320"/>
                    <a:pt x="6498" y="29632"/>
                    <a:pt x="18065" y="18065"/>
                  </a:cubicBezTo>
                  <a:cubicBezTo>
                    <a:pt x="29632" y="6498"/>
                    <a:pt x="45320" y="0"/>
                    <a:pt x="61678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95946" cy="287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[Combat]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8034" y="3520888"/>
            <a:ext cx="1878337" cy="716280"/>
            <a:chOff x="0" y="0"/>
            <a:chExt cx="494766" cy="1886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8794964" y="3330835"/>
            <a:ext cx="2239" cy="190052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3" name="Group 13"/>
          <p:cNvGrpSpPr/>
          <p:nvPr/>
        </p:nvGrpSpPr>
        <p:grpSpPr>
          <a:xfrm>
            <a:off x="1572610" y="3172891"/>
            <a:ext cx="2052931" cy="1486753"/>
            <a:chOff x="0" y="-144643"/>
            <a:chExt cx="2737241" cy="1982338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-144643"/>
              <a:ext cx="2737241" cy="1982338"/>
              <a:chOff x="0" y="-28575"/>
              <a:chExt cx="540755" cy="39162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540755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40755" h="363046">
                    <a:moveTo>
                      <a:pt x="56567" y="0"/>
                    </a:moveTo>
                    <a:lnTo>
                      <a:pt x="484188" y="0"/>
                    </a:lnTo>
                    <a:cubicBezTo>
                      <a:pt x="499191" y="0"/>
                      <a:pt x="513579" y="5960"/>
                      <a:pt x="524187" y="16568"/>
                    </a:cubicBezTo>
                    <a:cubicBezTo>
                      <a:pt x="534796" y="27177"/>
                      <a:pt x="540755" y="41565"/>
                      <a:pt x="540755" y="56567"/>
                    </a:cubicBezTo>
                    <a:lnTo>
                      <a:pt x="540755" y="306478"/>
                    </a:lnTo>
                    <a:cubicBezTo>
                      <a:pt x="540755" y="337720"/>
                      <a:pt x="515429" y="363046"/>
                      <a:pt x="484188" y="363046"/>
                    </a:cubicBezTo>
                    <a:lnTo>
                      <a:pt x="56567" y="363046"/>
                    </a:lnTo>
                    <a:cubicBezTo>
                      <a:pt x="41565" y="363046"/>
                      <a:pt x="27177" y="357086"/>
                      <a:pt x="16568" y="346477"/>
                    </a:cubicBezTo>
                    <a:cubicBezTo>
                      <a:pt x="5960" y="335869"/>
                      <a:pt x="0" y="321481"/>
                      <a:pt x="0" y="306478"/>
                    </a:cubicBezTo>
                    <a:lnTo>
                      <a:pt x="0" y="56567"/>
                    </a:lnTo>
                    <a:cubicBezTo>
                      <a:pt x="0" y="25326"/>
                      <a:pt x="25326" y="0"/>
                      <a:pt x="5656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28575"/>
                <a:ext cx="533226" cy="34316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31361" y="213380"/>
              <a:ext cx="2504448" cy="812297"/>
              <a:chOff x="0" y="0"/>
              <a:chExt cx="494706" cy="16045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88794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488794" h="160454">
                    <a:moveTo>
                      <a:pt x="41715" y="0"/>
                    </a:moveTo>
                    <a:lnTo>
                      <a:pt x="447078" y="0"/>
                    </a:lnTo>
                    <a:cubicBezTo>
                      <a:pt x="458142" y="0"/>
                      <a:pt x="468752" y="4395"/>
                      <a:pt x="476576" y="12218"/>
                    </a:cubicBezTo>
                    <a:cubicBezTo>
                      <a:pt x="484399" y="20041"/>
                      <a:pt x="488794" y="30652"/>
                      <a:pt x="488794" y="41715"/>
                    </a:cubicBezTo>
                    <a:lnTo>
                      <a:pt x="488794" y="118738"/>
                    </a:lnTo>
                    <a:cubicBezTo>
                      <a:pt x="488794" y="141777"/>
                      <a:pt x="470117" y="160454"/>
                      <a:pt x="447078" y="160454"/>
                    </a:cubicBezTo>
                    <a:lnTo>
                      <a:pt x="41715" y="160454"/>
                    </a:lnTo>
                    <a:cubicBezTo>
                      <a:pt x="30652" y="160454"/>
                      <a:pt x="20041" y="156059"/>
                      <a:pt x="12218" y="148236"/>
                    </a:cubicBezTo>
                    <a:cubicBezTo>
                      <a:pt x="4395" y="140412"/>
                      <a:pt x="0" y="129802"/>
                      <a:pt x="0" y="118738"/>
                    </a:cubicBezTo>
                    <a:lnTo>
                      <a:pt x="0" y="41715"/>
                    </a:lnTo>
                    <a:cubicBezTo>
                      <a:pt x="0" y="30652"/>
                      <a:pt x="4395" y="20041"/>
                      <a:pt x="12218" y="12218"/>
                    </a:cubicBezTo>
                    <a:cubicBezTo>
                      <a:pt x="20041" y="4395"/>
                      <a:pt x="30652" y="0"/>
                      <a:pt x="41715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104775"/>
                <a:ext cx="494706" cy="2409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Stamina &lt; 50</a:t>
                </a:r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6038719" y="4318738"/>
            <a:ext cx="1878337" cy="824762"/>
            <a:chOff x="0" y="-28575"/>
            <a:chExt cx="494766" cy="21724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487237" cy="175094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95088" y="4318738"/>
            <a:ext cx="1878337" cy="824762"/>
            <a:chOff x="0" y="-28575"/>
            <a:chExt cx="494766" cy="21724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494766" cy="172972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158813" y="4318738"/>
            <a:ext cx="1878337" cy="824762"/>
            <a:chOff x="0" y="-28575"/>
            <a:chExt cx="494766" cy="21724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94766" cy="16589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2994" y="6551274"/>
            <a:ext cx="2257673" cy="1486753"/>
            <a:chOff x="0" y="-144643"/>
            <a:chExt cx="3010231" cy="1982338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-144643"/>
              <a:ext cx="3010231" cy="1982338"/>
              <a:chOff x="0" y="-28575"/>
              <a:chExt cx="594686" cy="391621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94686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363046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311608"/>
                    </a:lnTo>
                    <a:cubicBezTo>
                      <a:pt x="594686" y="340016"/>
                      <a:pt x="571657" y="363046"/>
                      <a:pt x="543249" y="363046"/>
                    </a:cubicBezTo>
                    <a:lnTo>
                      <a:pt x="51437" y="363046"/>
                    </a:lnTo>
                    <a:cubicBezTo>
                      <a:pt x="37795" y="363046"/>
                      <a:pt x="24712" y="357626"/>
                      <a:pt x="15066" y="347980"/>
                    </a:cubicBezTo>
                    <a:cubicBezTo>
                      <a:pt x="5419" y="338334"/>
                      <a:pt x="0" y="325250"/>
                      <a:pt x="0" y="31160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28575"/>
                <a:ext cx="594686" cy="3517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44462" y="213380"/>
              <a:ext cx="2721307" cy="812297"/>
              <a:chOff x="0" y="0"/>
              <a:chExt cx="537542" cy="16045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04775"/>
                <a:ext cx="537541" cy="1566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Chance</a:t>
                </a:r>
              </a:p>
            </p:txBody>
          </p:sp>
        </p:grpSp>
      </p:grpSp>
      <p:sp>
        <p:nvSpPr>
          <p:cNvPr id="36" name="AutoShape 36"/>
          <p:cNvSpPr/>
          <p:nvPr/>
        </p:nvSpPr>
        <p:spPr>
          <a:xfrm flipH="1">
            <a:off x="6977887" y="4209986"/>
            <a:ext cx="939169" cy="21723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9664096" y="4218535"/>
            <a:ext cx="970161" cy="2086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9736372" y="3879028"/>
            <a:ext cx="4452878" cy="60290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 flipH="1">
            <a:off x="1789963" y="4659645"/>
            <a:ext cx="809112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>
            <a:off x="2599075" y="4659645"/>
            <a:ext cx="809112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9052239" y="5143500"/>
            <a:ext cx="1582017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10634256" y="5143500"/>
            <a:ext cx="1579676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>
            <a:off x="15097981" y="5143500"/>
            <a:ext cx="870466" cy="33737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4336717" y="5143500"/>
            <a:ext cx="761263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0634256" y="5143500"/>
            <a:ext cx="0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6" name="AutoShape 46"/>
          <p:cNvSpPr/>
          <p:nvPr/>
        </p:nvSpPr>
        <p:spPr>
          <a:xfrm>
            <a:off x="11001830" y="8038027"/>
            <a:ext cx="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47" name="Group 47"/>
          <p:cNvGrpSpPr/>
          <p:nvPr/>
        </p:nvGrpSpPr>
        <p:grpSpPr>
          <a:xfrm>
            <a:off x="1028700" y="5040929"/>
            <a:ext cx="1522526" cy="838988"/>
            <a:chOff x="0" y="0"/>
            <a:chExt cx="2030034" cy="1118651"/>
          </a:xfrm>
        </p:grpSpPr>
        <p:grpSp>
          <p:nvGrpSpPr>
            <p:cNvPr id="48" name="Group 48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104775"/>
                <a:ext cx="352035" cy="1445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8290977" y="5460424"/>
            <a:ext cx="1522526" cy="838988"/>
            <a:chOff x="0" y="0"/>
            <a:chExt cx="2030034" cy="1118651"/>
          </a:xfrm>
        </p:grpSpPr>
        <p:grpSp>
          <p:nvGrpSpPr>
            <p:cNvPr id="55" name="Group 55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104775"/>
                <a:ext cx="361436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2646924" y="5040929"/>
            <a:ext cx="1522526" cy="838988"/>
            <a:chOff x="0" y="0"/>
            <a:chExt cx="2030034" cy="1118651"/>
          </a:xfrm>
        </p:grpSpPr>
        <p:grpSp>
          <p:nvGrpSpPr>
            <p:cNvPr id="62" name="Group 62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422" y="153177"/>
              <a:ext cx="1857743" cy="812297"/>
              <a:chOff x="0" y="0"/>
              <a:chExt cx="366962" cy="160454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104775"/>
                <a:ext cx="366962" cy="1445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Strafe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9872994" y="5460424"/>
            <a:ext cx="1522526" cy="838988"/>
            <a:chOff x="0" y="0"/>
            <a:chExt cx="2030034" cy="1118651"/>
          </a:xfrm>
        </p:grpSpPr>
        <p:grpSp>
          <p:nvGrpSpPr>
            <p:cNvPr id="69" name="Group 69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0" y="104775"/>
                <a:ext cx="362507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11452669" y="5351942"/>
            <a:ext cx="1579673" cy="947470"/>
            <a:chOff x="0" y="-28575"/>
            <a:chExt cx="416096" cy="249570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01043" cy="220995"/>
            </a:xfrm>
            <a:custGeom>
              <a:avLst/>
              <a:gdLst/>
              <a:ahLst/>
              <a:cxnLst/>
              <a:rect l="l" t="t" r="r" b="b"/>
              <a:pathLst>
                <a:path w="401043" h="220995">
                  <a:moveTo>
                    <a:pt x="76274" y="0"/>
                  </a:moveTo>
                  <a:lnTo>
                    <a:pt x="324769" y="0"/>
                  </a:lnTo>
                  <a:cubicBezTo>
                    <a:pt x="344998" y="0"/>
                    <a:pt x="364399" y="8036"/>
                    <a:pt x="378703" y="22340"/>
                  </a:cubicBezTo>
                  <a:cubicBezTo>
                    <a:pt x="393007" y="36644"/>
                    <a:pt x="401043" y="56045"/>
                    <a:pt x="401043" y="76274"/>
                  </a:cubicBezTo>
                  <a:lnTo>
                    <a:pt x="401043" y="144721"/>
                  </a:lnTo>
                  <a:cubicBezTo>
                    <a:pt x="401043" y="164950"/>
                    <a:pt x="393007" y="184351"/>
                    <a:pt x="378703" y="198655"/>
                  </a:cubicBezTo>
                  <a:cubicBezTo>
                    <a:pt x="364399" y="212959"/>
                    <a:pt x="344998" y="220995"/>
                    <a:pt x="324769" y="220995"/>
                  </a:cubicBezTo>
                  <a:lnTo>
                    <a:pt x="76274" y="220995"/>
                  </a:lnTo>
                  <a:cubicBezTo>
                    <a:pt x="56045" y="220995"/>
                    <a:pt x="36644" y="212959"/>
                    <a:pt x="22340" y="198655"/>
                  </a:cubicBezTo>
                  <a:cubicBezTo>
                    <a:pt x="8036" y="184351"/>
                    <a:pt x="0" y="164950"/>
                    <a:pt x="0" y="144721"/>
                  </a:cubicBezTo>
                  <a:lnTo>
                    <a:pt x="0" y="76274"/>
                  </a:lnTo>
                  <a:cubicBezTo>
                    <a:pt x="0" y="56045"/>
                    <a:pt x="8036" y="36644"/>
                    <a:pt x="22340" y="22340"/>
                  </a:cubicBezTo>
                  <a:cubicBezTo>
                    <a:pt x="36644" y="8036"/>
                    <a:pt x="56045" y="0"/>
                    <a:pt x="7627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28575"/>
              <a:ext cx="416096" cy="2209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872994" y="8419312"/>
            <a:ext cx="2257673" cy="838988"/>
            <a:chOff x="0" y="0"/>
            <a:chExt cx="3010231" cy="1118651"/>
          </a:xfrm>
        </p:grpSpPr>
        <p:grpSp>
          <p:nvGrpSpPr>
            <p:cNvPr id="79" name="Group 79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104775"/>
                <a:ext cx="537537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2213932" y="6659756"/>
            <a:ext cx="2257673" cy="838988"/>
            <a:chOff x="0" y="0"/>
            <a:chExt cx="3010231" cy="1118651"/>
          </a:xfrm>
        </p:grpSpPr>
        <p:grpSp>
          <p:nvGrpSpPr>
            <p:cNvPr id="86" name="Group 86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9" name="Group 89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0" y="104775"/>
                <a:ext cx="530552" cy="1960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sp>
        <p:nvSpPr>
          <p:cNvPr id="92" name="AutoShape 92"/>
          <p:cNvSpPr/>
          <p:nvPr/>
        </p:nvSpPr>
        <p:spPr>
          <a:xfrm flipH="1">
            <a:off x="3625540" y="3879028"/>
            <a:ext cx="4232494" cy="91481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93" name="Group 93"/>
          <p:cNvGrpSpPr/>
          <p:nvPr/>
        </p:nvGrpSpPr>
        <p:grpSpPr>
          <a:xfrm>
            <a:off x="1110661" y="6274837"/>
            <a:ext cx="2298347" cy="2983463"/>
            <a:chOff x="0" y="0"/>
            <a:chExt cx="605400" cy="785864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3626180" y="6274837"/>
            <a:ext cx="2298347" cy="2983463"/>
            <a:chOff x="0" y="0"/>
            <a:chExt cx="605400" cy="785864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102928" y="6274837"/>
            <a:ext cx="2298347" cy="2983463"/>
            <a:chOff x="0" y="0"/>
            <a:chExt cx="605400" cy="7858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220959" y="6434872"/>
            <a:ext cx="2077750" cy="609223"/>
            <a:chOff x="0" y="0"/>
            <a:chExt cx="547226" cy="16045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104775"/>
              <a:ext cx="547226" cy="254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3736478" y="6434872"/>
            <a:ext cx="2077750" cy="609223"/>
            <a:chOff x="0" y="0"/>
            <a:chExt cx="547226" cy="160454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6213226" y="6434872"/>
            <a:ext cx="2077750" cy="609223"/>
            <a:chOff x="0" y="0"/>
            <a:chExt cx="547226" cy="16045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1220959" y="7113306"/>
            <a:ext cx="2077750" cy="609223"/>
            <a:chOff x="0" y="0"/>
            <a:chExt cx="547226" cy="160454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3736478" y="7113306"/>
            <a:ext cx="2077750" cy="609223"/>
            <a:chOff x="0" y="0"/>
            <a:chExt cx="547226" cy="160454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6213226" y="7113306"/>
            <a:ext cx="2077750" cy="609223"/>
            <a:chOff x="0" y="0"/>
            <a:chExt cx="547226" cy="160454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1220959" y="7789204"/>
            <a:ext cx="2077750" cy="609223"/>
            <a:chOff x="0" y="0"/>
            <a:chExt cx="547226" cy="160454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0" y="104775"/>
              <a:ext cx="547226" cy="162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3736478" y="7789204"/>
            <a:ext cx="2077750" cy="609223"/>
            <a:chOff x="0" y="0"/>
            <a:chExt cx="547226" cy="160454"/>
          </a:xfrm>
        </p:grpSpPr>
        <p:sp>
          <p:nvSpPr>
            <p:cNvPr id="124" name="Freeform 124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6213226" y="7789204"/>
            <a:ext cx="2077750" cy="609223"/>
            <a:chOff x="0" y="0"/>
            <a:chExt cx="547226" cy="160454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1220959" y="8465102"/>
            <a:ext cx="2077750" cy="609223"/>
            <a:chOff x="0" y="0"/>
            <a:chExt cx="547226" cy="160454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UseSkill_A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3736478" y="8465102"/>
            <a:ext cx="2077750" cy="609223"/>
            <a:chOff x="0" y="0"/>
            <a:chExt cx="547226" cy="160454"/>
          </a:xfrm>
        </p:grpSpPr>
        <p:sp>
          <p:nvSpPr>
            <p:cNvPr id="133" name="Freeform 13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UseSkill_B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6213226" y="8465102"/>
            <a:ext cx="2077750" cy="609223"/>
            <a:chOff x="0" y="0"/>
            <a:chExt cx="547226" cy="160454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UseSkill_C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138" name="AutoShape 138"/>
          <p:cNvSpPr/>
          <p:nvPr/>
        </p:nvSpPr>
        <p:spPr>
          <a:xfrm flipH="1">
            <a:off x="2259834" y="5143500"/>
            <a:ext cx="4718053" cy="1131337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9" name="AutoShape 139"/>
          <p:cNvSpPr/>
          <p:nvPr/>
        </p:nvSpPr>
        <p:spPr>
          <a:xfrm flipH="1">
            <a:off x="4775353" y="5143500"/>
            <a:ext cx="2202534" cy="1131337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0" name="AutoShape 140"/>
          <p:cNvSpPr/>
          <p:nvPr/>
        </p:nvSpPr>
        <p:spPr>
          <a:xfrm>
            <a:off x="6977887" y="5143500"/>
            <a:ext cx="277114" cy="115016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1" name="AutoShape 141"/>
          <p:cNvSpPr/>
          <p:nvPr/>
        </p:nvSpPr>
        <p:spPr>
          <a:xfrm flipH="1">
            <a:off x="11001830" y="6299412"/>
            <a:ext cx="1212102" cy="36034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2" name="AutoShape 142"/>
          <p:cNvSpPr/>
          <p:nvPr/>
        </p:nvSpPr>
        <p:spPr>
          <a:xfrm>
            <a:off x="12213932" y="6299412"/>
            <a:ext cx="1128837" cy="36034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43" name="Group 143"/>
          <p:cNvGrpSpPr/>
          <p:nvPr/>
        </p:nvGrpSpPr>
        <p:grpSpPr>
          <a:xfrm>
            <a:off x="13527606" y="5460424"/>
            <a:ext cx="1522526" cy="838988"/>
            <a:chOff x="0" y="0"/>
            <a:chExt cx="2030034" cy="1118651"/>
          </a:xfrm>
        </p:grpSpPr>
        <p:grpSp>
          <p:nvGrpSpPr>
            <p:cNvPr id="144" name="Group 144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45" name="Freeform 145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" name="TextBox 146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47" name="Group 147"/>
            <p:cNvGrpSpPr/>
            <p:nvPr/>
          </p:nvGrpSpPr>
          <p:grpSpPr>
            <a:xfrm>
              <a:off x="97422" y="153177"/>
              <a:ext cx="1847102" cy="812297"/>
              <a:chOff x="0" y="0"/>
              <a:chExt cx="364860" cy="160454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104775"/>
                <a:ext cx="364860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150" name="Group 150"/>
          <p:cNvGrpSpPr/>
          <p:nvPr/>
        </p:nvGrpSpPr>
        <p:grpSpPr>
          <a:xfrm>
            <a:off x="15145831" y="5460424"/>
            <a:ext cx="1522526" cy="838988"/>
            <a:chOff x="0" y="0"/>
            <a:chExt cx="2030034" cy="1118651"/>
          </a:xfrm>
        </p:grpSpPr>
        <p:grpSp>
          <p:nvGrpSpPr>
            <p:cNvPr id="151" name="Group 151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52" name="Freeform 152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" name="TextBox 153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54" name="Group 154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104775"/>
                <a:ext cx="346733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Wait</a:t>
                </a:r>
              </a:p>
            </p:txBody>
          </p:sp>
        </p:grpSp>
      </p:grpSp>
      <p:sp>
        <p:nvSpPr>
          <p:cNvPr id="157" name="TextBox 156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15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159" name="AutoShape 10">
            <a:extLst>
              <a:ext uri="{FF2B5EF4-FFF2-40B4-BE49-F238E27FC236}">
                <a16:creationId xmlns:a16="http://schemas.microsoft.com/office/drawing/2014/main" id="{3B0BC49C-562F-D9F0-6882-62937CA56894}"/>
              </a:ext>
            </a:extLst>
          </p:cNvPr>
          <p:cNvSpPr/>
          <p:nvPr/>
        </p:nvSpPr>
        <p:spPr>
          <a:xfrm>
            <a:off x="8804489" y="2038460"/>
            <a:ext cx="0" cy="303007"/>
          </a:xfrm>
          <a:prstGeom prst="line">
            <a:avLst/>
          </a:prstGeom>
          <a:ln w="38100" cap="rnd">
            <a:solidFill>
              <a:schemeClr val="bg1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64" name="Group 4">
            <a:extLst>
              <a:ext uri="{FF2B5EF4-FFF2-40B4-BE49-F238E27FC236}">
                <a16:creationId xmlns:a16="http://schemas.microsoft.com/office/drawing/2014/main" id="{877B8183-A5FE-EA60-BAC2-14F5457C484C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65" name="Freeform 5">
              <a:extLst>
                <a:ext uri="{FF2B5EF4-FFF2-40B4-BE49-F238E27FC236}">
                  <a16:creationId xmlns:a16="http://schemas.microsoft.com/office/drawing/2014/main" id="{44DE9E5C-1316-4CDE-B854-B91C9BB3705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87B10F3-1DF4-77E3-54C4-510B5F4D2A2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32A9C8A4-A49B-F499-C89C-E3DBA035C5D5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853556" y="2347855"/>
            <a:ext cx="1882816" cy="982980"/>
            <a:chOff x="0" y="0"/>
            <a:chExt cx="495946" cy="2589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5946" cy="258923"/>
            </a:xfrm>
            <a:custGeom>
              <a:avLst/>
              <a:gdLst/>
              <a:ahLst/>
              <a:cxnLst/>
              <a:rect l="l" t="t" r="r" b="b"/>
              <a:pathLst>
                <a:path w="495946" h="258923">
                  <a:moveTo>
                    <a:pt x="61678" y="0"/>
                  </a:moveTo>
                  <a:lnTo>
                    <a:pt x="434268" y="0"/>
                  </a:lnTo>
                  <a:cubicBezTo>
                    <a:pt x="450626" y="0"/>
                    <a:pt x="466314" y="6498"/>
                    <a:pt x="477881" y="18065"/>
                  </a:cubicBezTo>
                  <a:cubicBezTo>
                    <a:pt x="489448" y="29632"/>
                    <a:pt x="495946" y="45320"/>
                    <a:pt x="495946" y="61678"/>
                  </a:cubicBezTo>
                  <a:lnTo>
                    <a:pt x="495946" y="197245"/>
                  </a:lnTo>
                  <a:cubicBezTo>
                    <a:pt x="495946" y="213603"/>
                    <a:pt x="489448" y="229291"/>
                    <a:pt x="477881" y="240858"/>
                  </a:cubicBezTo>
                  <a:cubicBezTo>
                    <a:pt x="466314" y="252425"/>
                    <a:pt x="450626" y="258923"/>
                    <a:pt x="434268" y="258923"/>
                  </a:cubicBezTo>
                  <a:lnTo>
                    <a:pt x="61678" y="258923"/>
                  </a:lnTo>
                  <a:cubicBezTo>
                    <a:pt x="45320" y="258923"/>
                    <a:pt x="29632" y="252425"/>
                    <a:pt x="18065" y="240858"/>
                  </a:cubicBezTo>
                  <a:cubicBezTo>
                    <a:pt x="6498" y="229291"/>
                    <a:pt x="0" y="213603"/>
                    <a:pt x="0" y="197245"/>
                  </a:cubicBezTo>
                  <a:lnTo>
                    <a:pt x="0" y="61678"/>
                  </a:lnTo>
                  <a:cubicBezTo>
                    <a:pt x="0" y="45320"/>
                    <a:pt x="6498" y="29632"/>
                    <a:pt x="18065" y="18065"/>
                  </a:cubicBezTo>
                  <a:cubicBezTo>
                    <a:pt x="29632" y="6498"/>
                    <a:pt x="45320" y="0"/>
                    <a:pt x="61678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95946" cy="287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[Combat]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8034" y="3520888"/>
            <a:ext cx="1878337" cy="716280"/>
            <a:chOff x="0" y="0"/>
            <a:chExt cx="494766" cy="1886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8794964" y="3330835"/>
            <a:ext cx="2239" cy="19005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3" name="Group 13"/>
          <p:cNvGrpSpPr/>
          <p:nvPr/>
        </p:nvGrpSpPr>
        <p:grpSpPr>
          <a:xfrm>
            <a:off x="1572610" y="3172891"/>
            <a:ext cx="2052931" cy="1486753"/>
            <a:chOff x="0" y="-144643"/>
            <a:chExt cx="2737241" cy="1982338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-144643"/>
              <a:ext cx="2737241" cy="1982338"/>
              <a:chOff x="0" y="-28575"/>
              <a:chExt cx="540755" cy="39162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540755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40755" h="363046">
                    <a:moveTo>
                      <a:pt x="56567" y="0"/>
                    </a:moveTo>
                    <a:lnTo>
                      <a:pt x="484188" y="0"/>
                    </a:lnTo>
                    <a:cubicBezTo>
                      <a:pt x="499191" y="0"/>
                      <a:pt x="513579" y="5960"/>
                      <a:pt x="524187" y="16568"/>
                    </a:cubicBezTo>
                    <a:cubicBezTo>
                      <a:pt x="534796" y="27177"/>
                      <a:pt x="540755" y="41565"/>
                      <a:pt x="540755" y="56567"/>
                    </a:cubicBezTo>
                    <a:lnTo>
                      <a:pt x="540755" y="306478"/>
                    </a:lnTo>
                    <a:cubicBezTo>
                      <a:pt x="540755" y="337720"/>
                      <a:pt x="515429" y="363046"/>
                      <a:pt x="484188" y="363046"/>
                    </a:cubicBezTo>
                    <a:lnTo>
                      <a:pt x="56567" y="363046"/>
                    </a:lnTo>
                    <a:cubicBezTo>
                      <a:pt x="41565" y="363046"/>
                      <a:pt x="27177" y="357086"/>
                      <a:pt x="16568" y="346477"/>
                    </a:cubicBezTo>
                    <a:cubicBezTo>
                      <a:pt x="5960" y="335869"/>
                      <a:pt x="0" y="321481"/>
                      <a:pt x="0" y="306478"/>
                    </a:cubicBezTo>
                    <a:lnTo>
                      <a:pt x="0" y="56567"/>
                    </a:lnTo>
                    <a:cubicBezTo>
                      <a:pt x="0" y="25326"/>
                      <a:pt x="25326" y="0"/>
                      <a:pt x="5656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28575"/>
                <a:ext cx="540754" cy="349467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31361" y="213380"/>
              <a:ext cx="2547024" cy="812297"/>
              <a:chOff x="0" y="0"/>
              <a:chExt cx="503116" cy="16045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88794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488794" h="160454">
                    <a:moveTo>
                      <a:pt x="41715" y="0"/>
                    </a:moveTo>
                    <a:lnTo>
                      <a:pt x="447078" y="0"/>
                    </a:lnTo>
                    <a:cubicBezTo>
                      <a:pt x="458142" y="0"/>
                      <a:pt x="468752" y="4395"/>
                      <a:pt x="476576" y="12218"/>
                    </a:cubicBezTo>
                    <a:cubicBezTo>
                      <a:pt x="484399" y="20041"/>
                      <a:pt x="488794" y="30652"/>
                      <a:pt x="488794" y="41715"/>
                    </a:cubicBezTo>
                    <a:lnTo>
                      <a:pt x="488794" y="118738"/>
                    </a:lnTo>
                    <a:cubicBezTo>
                      <a:pt x="488794" y="141777"/>
                      <a:pt x="470117" y="160454"/>
                      <a:pt x="447078" y="160454"/>
                    </a:cubicBezTo>
                    <a:lnTo>
                      <a:pt x="41715" y="160454"/>
                    </a:lnTo>
                    <a:cubicBezTo>
                      <a:pt x="30652" y="160454"/>
                      <a:pt x="20041" y="156059"/>
                      <a:pt x="12218" y="148236"/>
                    </a:cubicBezTo>
                    <a:cubicBezTo>
                      <a:pt x="4395" y="140412"/>
                      <a:pt x="0" y="129802"/>
                      <a:pt x="0" y="118738"/>
                    </a:cubicBezTo>
                    <a:lnTo>
                      <a:pt x="0" y="41715"/>
                    </a:lnTo>
                    <a:cubicBezTo>
                      <a:pt x="0" y="30652"/>
                      <a:pt x="4395" y="20041"/>
                      <a:pt x="12218" y="12218"/>
                    </a:cubicBezTo>
                    <a:cubicBezTo>
                      <a:pt x="20041" y="4395"/>
                      <a:pt x="30652" y="0"/>
                      <a:pt x="41715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104775"/>
                <a:ext cx="503116" cy="1790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Stamina &lt; 50</a:t>
                </a:r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6038719" y="4427220"/>
            <a:ext cx="1878337" cy="716280"/>
            <a:chOff x="0" y="0"/>
            <a:chExt cx="494766" cy="18867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95088" y="4427220"/>
            <a:ext cx="1878337" cy="716280"/>
            <a:chOff x="0" y="0"/>
            <a:chExt cx="494766" cy="18867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158813" y="4427220"/>
            <a:ext cx="1878337" cy="716280"/>
            <a:chOff x="0" y="0"/>
            <a:chExt cx="494766" cy="18867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2994" y="6551274"/>
            <a:ext cx="2257673" cy="1486753"/>
            <a:chOff x="0" y="-144643"/>
            <a:chExt cx="3010231" cy="1982338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-144643"/>
              <a:ext cx="3010231" cy="1982338"/>
              <a:chOff x="0" y="-28575"/>
              <a:chExt cx="594686" cy="391621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94686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363046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311608"/>
                    </a:lnTo>
                    <a:cubicBezTo>
                      <a:pt x="594686" y="340016"/>
                      <a:pt x="571657" y="363046"/>
                      <a:pt x="543249" y="363046"/>
                    </a:cubicBezTo>
                    <a:lnTo>
                      <a:pt x="51437" y="363046"/>
                    </a:lnTo>
                    <a:cubicBezTo>
                      <a:pt x="37795" y="363046"/>
                      <a:pt x="24712" y="357626"/>
                      <a:pt x="15066" y="347980"/>
                    </a:cubicBezTo>
                    <a:cubicBezTo>
                      <a:pt x="5419" y="338334"/>
                      <a:pt x="0" y="325250"/>
                      <a:pt x="0" y="31160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28575"/>
                <a:ext cx="594686" cy="3517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44462" y="213380"/>
              <a:ext cx="2744346" cy="812297"/>
              <a:chOff x="0" y="0"/>
              <a:chExt cx="542093" cy="16045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04775"/>
                <a:ext cx="542093" cy="1566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Chance</a:t>
                </a:r>
              </a:p>
            </p:txBody>
          </p:sp>
        </p:grpSp>
      </p:grpSp>
      <p:sp>
        <p:nvSpPr>
          <p:cNvPr id="36" name="AutoShape 36"/>
          <p:cNvSpPr/>
          <p:nvPr/>
        </p:nvSpPr>
        <p:spPr>
          <a:xfrm flipH="1">
            <a:off x="6977887" y="4209986"/>
            <a:ext cx="939169" cy="21723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9664096" y="4218535"/>
            <a:ext cx="970161" cy="2086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9736372" y="3879028"/>
            <a:ext cx="4452878" cy="60290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 flipH="1">
            <a:off x="1789963" y="4659645"/>
            <a:ext cx="809112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>
            <a:off x="2599075" y="4659645"/>
            <a:ext cx="809112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9052239" y="5143500"/>
            <a:ext cx="1582017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10634256" y="5143500"/>
            <a:ext cx="1579676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>
            <a:off x="15097981" y="5143500"/>
            <a:ext cx="870466" cy="33737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4288869" y="5143500"/>
            <a:ext cx="809112" cy="40887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0634256" y="5143500"/>
            <a:ext cx="0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6" name="AutoShape 46"/>
          <p:cNvSpPr/>
          <p:nvPr/>
        </p:nvSpPr>
        <p:spPr>
          <a:xfrm>
            <a:off x="11001830" y="8038027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47" name="Group 47"/>
          <p:cNvGrpSpPr/>
          <p:nvPr/>
        </p:nvGrpSpPr>
        <p:grpSpPr>
          <a:xfrm>
            <a:off x="1028700" y="5040929"/>
            <a:ext cx="1522526" cy="838988"/>
            <a:chOff x="0" y="0"/>
            <a:chExt cx="2030034" cy="1118651"/>
          </a:xfrm>
        </p:grpSpPr>
        <p:grpSp>
          <p:nvGrpSpPr>
            <p:cNvPr id="48" name="Group 48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104775"/>
                <a:ext cx="352035" cy="1445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8290977" y="5460424"/>
            <a:ext cx="1522526" cy="838988"/>
            <a:chOff x="0" y="0"/>
            <a:chExt cx="2030034" cy="1118651"/>
          </a:xfrm>
        </p:grpSpPr>
        <p:grpSp>
          <p:nvGrpSpPr>
            <p:cNvPr id="55" name="Group 55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104775"/>
                <a:ext cx="361436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2646924" y="5040929"/>
            <a:ext cx="1522526" cy="838988"/>
            <a:chOff x="0" y="0"/>
            <a:chExt cx="2030034" cy="1118651"/>
          </a:xfrm>
        </p:grpSpPr>
        <p:grpSp>
          <p:nvGrpSpPr>
            <p:cNvPr id="62" name="Group 62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422" y="153177"/>
              <a:ext cx="1857743" cy="812297"/>
              <a:chOff x="0" y="0"/>
              <a:chExt cx="366962" cy="160454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104775"/>
                <a:ext cx="366962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Strafe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9872994" y="5460424"/>
            <a:ext cx="1522526" cy="838988"/>
            <a:chOff x="0" y="0"/>
            <a:chExt cx="2030034" cy="1118651"/>
          </a:xfrm>
        </p:grpSpPr>
        <p:grpSp>
          <p:nvGrpSpPr>
            <p:cNvPr id="69" name="Group 69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0" y="104775"/>
                <a:ext cx="362507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11452669" y="5460424"/>
            <a:ext cx="1522526" cy="838988"/>
            <a:chOff x="0" y="0"/>
            <a:chExt cx="401043" cy="220995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01043" cy="220995"/>
            </a:xfrm>
            <a:custGeom>
              <a:avLst/>
              <a:gdLst/>
              <a:ahLst/>
              <a:cxnLst/>
              <a:rect l="l" t="t" r="r" b="b"/>
              <a:pathLst>
                <a:path w="401043" h="220995">
                  <a:moveTo>
                    <a:pt x="76274" y="0"/>
                  </a:moveTo>
                  <a:lnTo>
                    <a:pt x="324769" y="0"/>
                  </a:lnTo>
                  <a:cubicBezTo>
                    <a:pt x="344998" y="0"/>
                    <a:pt x="364399" y="8036"/>
                    <a:pt x="378703" y="22340"/>
                  </a:cubicBezTo>
                  <a:cubicBezTo>
                    <a:pt x="393007" y="36644"/>
                    <a:pt x="401043" y="56045"/>
                    <a:pt x="401043" y="76274"/>
                  </a:cubicBezTo>
                  <a:lnTo>
                    <a:pt x="401043" y="144721"/>
                  </a:lnTo>
                  <a:cubicBezTo>
                    <a:pt x="401043" y="164950"/>
                    <a:pt x="393007" y="184351"/>
                    <a:pt x="378703" y="198655"/>
                  </a:cubicBezTo>
                  <a:cubicBezTo>
                    <a:pt x="364399" y="212959"/>
                    <a:pt x="344998" y="220995"/>
                    <a:pt x="324769" y="220995"/>
                  </a:cubicBezTo>
                  <a:lnTo>
                    <a:pt x="76274" y="220995"/>
                  </a:lnTo>
                  <a:cubicBezTo>
                    <a:pt x="56045" y="220995"/>
                    <a:pt x="36644" y="212959"/>
                    <a:pt x="22340" y="198655"/>
                  </a:cubicBezTo>
                  <a:cubicBezTo>
                    <a:pt x="8036" y="184351"/>
                    <a:pt x="0" y="164950"/>
                    <a:pt x="0" y="144721"/>
                  </a:cubicBezTo>
                  <a:lnTo>
                    <a:pt x="0" y="76274"/>
                  </a:lnTo>
                  <a:cubicBezTo>
                    <a:pt x="0" y="56045"/>
                    <a:pt x="8036" y="36644"/>
                    <a:pt x="22340" y="22340"/>
                  </a:cubicBezTo>
                  <a:cubicBezTo>
                    <a:pt x="36644" y="8036"/>
                    <a:pt x="56045" y="0"/>
                    <a:pt x="7627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28575"/>
              <a:ext cx="401043" cy="2495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872994" y="8419312"/>
            <a:ext cx="2257673" cy="838988"/>
            <a:chOff x="0" y="0"/>
            <a:chExt cx="3010231" cy="1118651"/>
          </a:xfrm>
        </p:grpSpPr>
        <p:grpSp>
          <p:nvGrpSpPr>
            <p:cNvPr id="79" name="Group 79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104775"/>
                <a:ext cx="537540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2213932" y="6659756"/>
            <a:ext cx="2257673" cy="838988"/>
            <a:chOff x="0" y="0"/>
            <a:chExt cx="3010231" cy="1118651"/>
          </a:xfrm>
        </p:grpSpPr>
        <p:grpSp>
          <p:nvGrpSpPr>
            <p:cNvPr id="86" name="Group 86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Group 89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0" y="104775"/>
                <a:ext cx="527624" cy="1960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sp>
        <p:nvSpPr>
          <p:cNvPr id="92" name="AutoShape 92"/>
          <p:cNvSpPr/>
          <p:nvPr/>
        </p:nvSpPr>
        <p:spPr>
          <a:xfrm flipH="1">
            <a:off x="3625540" y="3879028"/>
            <a:ext cx="4232494" cy="91481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93" name="Group 93"/>
          <p:cNvGrpSpPr/>
          <p:nvPr/>
        </p:nvGrpSpPr>
        <p:grpSpPr>
          <a:xfrm>
            <a:off x="1110661" y="6274837"/>
            <a:ext cx="2298347" cy="2983463"/>
            <a:chOff x="0" y="0"/>
            <a:chExt cx="605400" cy="785864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3626180" y="6274837"/>
            <a:ext cx="2298347" cy="2983463"/>
            <a:chOff x="0" y="0"/>
            <a:chExt cx="605400" cy="785864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102928" y="6274837"/>
            <a:ext cx="2298347" cy="2983463"/>
            <a:chOff x="0" y="0"/>
            <a:chExt cx="605400" cy="7858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220959" y="6434872"/>
            <a:ext cx="2077750" cy="609223"/>
            <a:chOff x="0" y="0"/>
            <a:chExt cx="547226" cy="16045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3736478" y="6434872"/>
            <a:ext cx="2077750" cy="609223"/>
            <a:chOff x="0" y="0"/>
            <a:chExt cx="547226" cy="160454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6213226" y="6434872"/>
            <a:ext cx="2077750" cy="609223"/>
            <a:chOff x="0" y="0"/>
            <a:chExt cx="547226" cy="16045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1220959" y="7113306"/>
            <a:ext cx="2077750" cy="609223"/>
            <a:chOff x="0" y="0"/>
            <a:chExt cx="547226" cy="160454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3736478" y="7113306"/>
            <a:ext cx="2077750" cy="609223"/>
            <a:chOff x="0" y="0"/>
            <a:chExt cx="547226" cy="160454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6213226" y="7113306"/>
            <a:ext cx="2077750" cy="609223"/>
            <a:chOff x="0" y="0"/>
            <a:chExt cx="547226" cy="160454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1220959" y="7789204"/>
            <a:ext cx="2077750" cy="609223"/>
            <a:chOff x="0" y="0"/>
            <a:chExt cx="547226" cy="160454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3736478" y="7789204"/>
            <a:ext cx="2077750" cy="609223"/>
            <a:chOff x="0" y="0"/>
            <a:chExt cx="547226" cy="160454"/>
          </a:xfrm>
        </p:grpSpPr>
        <p:sp>
          <p:nvSpPr>
            <p:cNvPr id="124" name="Freeform 124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6213226" y="7789204"/>
            <a:ext cx="2077750" cy="609223"/>
            <a:chOff x="0" y="0"/>
            <a:chExt cx="547226" cy="160454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1220959" y="8465102"/>
            <a:ext cx="2077750" cy="609223"/>
            <a:chOff x="0" y="0"/>
            <a:chExt cx="547226" cy="160454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UseSkill_A</a:t>
              </a: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3736478" y="8465102"/>
            <a:ext cx="2077750" cy="609223"/>
            <a:chOff x="0" y="0"/>
            <a:chExt cx="547226" cy="160454"/>
          </a:xfrm>
        </p:grpSpPr>
        <p:sp>
          <p:nvSpPr>
            <p:cNvPr id="133" name="Freeform 13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UseSkill_B</a:t>
              </a: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6213226" y="8465102"/>
            <a:ext cx="2077750" cy="609223"/>
            <a:chOff x="0" y="0"/>
            <a:chExt cx="547226" cy="160454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UseSkill_C</a:t>
              </a:r>
            </a:p>
          </p:txBody>
        </p:sp>
      </p:grpSp>
      <p:sp>
        <p:nvSpPr>
          <p:cNvPr id="138" name="AutoShape 138"/>
          <p:cNvSpPr/>
          <p:nvPr/>
        </p:nvSpPr>
        <p:spPr>
          <a:xfrm flipH="1">
            <a:off x="2259834" y="5143500"/>
            <a:ext cx="4718053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9" name="AutoShape 139"/>
          <p:cNvSpPr/>
          <p:nvPr/>
        </p:nvSpPr>
        <p:spPr>
          <a:xfrm flipH="1">
            <a:off x="4775353" y="5143500"/>
            <a:ext cx="2202534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0" name="AutoShape 140"/>
          <p:cNvSpPr/>
          <p:nvPr/>
        </p:nvSpPr>
        <p:spPr>
          <a:xfrm>
            <a:off x="6977887" y="5143500"/>
            <a:ext cx="277114" cy="115016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1" name="AutoShape 141"/>
          <p:cNvSpPr/>
          <p:nvPr/>
        </p:nvSpPr>
        <p:spPr>
          <a:xfrm flipH="1">
            <a:off x="11001830" y="6299412"/>
            <a:ext cx="1212102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2" name="AutoShape 142"/>
          <p:cNvSpPr/>
          <p:nvPr/>
        </p:nvSpPr>
        <p:spPr>
          <a:xfrm>
            <a:off x="12213932" y="6299412"/>
            <a:ext cx="1128837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43" name="Group 143"/>
          <p:cNvGrpSpPr/>
          <p:nvPr/>
        </p:nvGrpSpPr>
        <p:grpSpPr>
          <a:xfrm>
            <a:off x="13527606" y="5460424"/>
            <a:ext cx="1522526" cy="838988"/>
            <a:chOff x="0" y="0"/>
            <a:chExt cx="2030034" cy="1118651"/>
          </a:xfrm>
        </p:grpSpPr>
        <p:grpSp>
          <p:nvGrpSpPr>
            <p:cNvPr id="144" name="Group 144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45" name="Freeform 145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TextBox 146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7" name="Group 147"/>
            <p:cNvGrpSpPr/>
            <p:nvPr/>
          </p:nvGrpSpPr>
          <p:grpSpPr>
            <a:xfrm>
              <a:off x="97422" y="153177"/>
              <a:ext cx="1847102" cy="812297"/>
              <a:chOff x="0" y="0"/>
              <a:chExt cx="364860" cy="160454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104775"/>
                <a:ext cx="364860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150" name="Group 150"/>
          <p:cNvGrpSpPr/>
          <p:nvPr/>
        </p:nvGrpSpPr>
        <p:grpSpPr>
          <a:xfrm>
            <a:off x="15145831" y="5460424"/>
            <a:ext cx="1522526" cy="838988"/>
            <a:chOff x="0" y="0"/>
            <a:chExt cx="2030034" cy="1118651"/>
          </a:xfrm>
        </p:grpSpPr>
        <p:grpSp>
          <p:nvGrpSpPr>
            <p:cNvPr id="151" name="Group 151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52" name="Freeform 152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3" name="TextBox 153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4" name="Group 154"/>
            <p:cNvGrpSpPr/>
            <p:nvPr/>
          </p:nvGrpSpPr>
          <p:grpSpPr>
            <a:xfrm>
              <a:off x="97422" y="153177"/>
              <a:ext cx="1856933" cy="812297"/>
              <a:chOff x="0" y="0"/>
              <a:chExt cx="366802" cy="160454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104775"/>
                <a:ext cx="366802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Wait</a:t>
                </a:r>
              </a:p>
            </p:txBody>
          </p:sp>
        </p:grpSp>
      </p:grpSp>
      <p:sp>
        <p:nvSpPr>
          <p:cNvPr id="161" name="Rectangle 160"/>
          <p:cNvSpPr/>
          <p:nvPr/>
        </p:nvSpPr>
        <p:spPr>
          <a:xfrm>
            <a:off x="3934259" y="2964868"/>
            <a:ext cx="11368906" cy="1554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7" name="Group 157"/>
          <p:cNvGrpSpPr/>
          <p:nvPr/>
        </p:nvGrpSpPr>
        <p:grpSpPr>
          <a:xfrm>
            <a:off x="3934259" y="2856372"/>
            <a:ext cx="11486564" cy="1662976"/>
            <a:chOff x="0" y="-28575"/>
            <a:chExt cx="3025268" cy="437985"/>
          </a:xfrm>
        </p:grpSpPr>
        <p:sp>
          <p:nvSpPr>
            <p:cNvPr id="158" name="Freeform 158"/>
            <p:cNvSpPr/>
            <p:nvPr/>
          </p:nvSpPr>
          <p:spPr>
            <a:xfrm>
              <a:off x="0" y="0"/>
              <a:ext cx="2994280" cy="409410"/>
            </a:xfrm>
            <a:custGeom>
              <a:avLst/>
              <a:gdLst/>
              <a:ahLst/>
              <a:cxnLst/>
              <a:rect l="l" t="t" r="r" b="b"/>
              <a:pathLst>
                <a:path w="2994280" h="409410">
                  <a:moveTo>
                    <a:pt x="0" y="0"/>
                  </a:moveTo>
                  <a:lnTo>
                    <a:pt x="2994280" y="0"/>
                  </a:lnTo>
                  <a:lnTo>
                    <a:pt x="2994280" y="409410"/>
                  </a:lnTo>
                  <a:lnTo>
                    <a:pt x="0" y="409410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30988" y="-28575"/>
              <a:ext cx="2994280" cy="4379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1. 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스테미나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관리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스테미나가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50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미만으로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떨어지면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모든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시도를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중단한다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UpdateSpeed로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이동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속도를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낮게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조절한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뒤,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Strafe를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통해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적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주위를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돌며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숨을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고른다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기획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의도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무분별한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공격으로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스테미나가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바닥나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지속적인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교전과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회피를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못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하는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상황을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방지하는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설계이다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</p:txBody>
        </p:sp>
      </p:grpSp>
      <p:sp>
        <p:nvSpPr>
          <p:cNvPr id="160" name="TextBox 159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16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163" name="AutoShape 10">
            <a:extLst>
              <a:ext uri="{FF2B5EF4-FFF2-40B4-BE49-F238E27FC236}">
                <a16:creationId xmlns:a16="http://schemas.microsoft.com/office/drawing/2014/main" id="{E2978B97-DA46-906F-F8C6-31B801C6E614}"/>
              </a:ext>
            </a:extLst>
          </p:cNvPr>
          <p:cNvSpPr/>
          <p:nvPr/>
        </p:nvSpPr>
        <p:spPr>
          <a:xfrm>
            <a:off x="8686800" y="1968672"/>
            <a:ext cx="0" cy="372795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64" name="Group 4">
            <a:extLst>
              <a:ext uri="{FF2B5EF4-FFF2-40B4-BE49-F238E27FC236}">
                <a16:creationId xmlns:a16="http://schemas.microsoft.com/office/drawing/2014/main" id="{EEABE95A-A227-7411-2BF6-2DE31F19513C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65" name="Freeform 5">
              <a:extLst>
                <a:ext uri="{FF2B5EF4-FFF2-40B4-BE49-F238E27FC236}">
                  <a16:creationId xmlns:a16="http://schemas.microsoft.com/office/drawing/2014/main" id="{00ACE39C-7F65-3DDD-EFB9-0392508A1C2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34F1D618-1A67-2D53-1C0D-E7A8E99BBCF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07C1AF80-761B-B630-8299-BAA5A2A77927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853556" y="2347855"/>
            <a:ext cx="1882816" cy="982980"/>
            <a:chOff x="0" y="0"/>
            <a:chExt cx="495946" cy="2589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5946" cy="258923"/>
            </a:xfrm>
            <a:custGeom>
              <a:avLst/>
              <a:gdLst/>
              <a:ahLst/>
              <a:cxnLst/>
              <a:rect l="l" t="t" r="r" b="b"/>
              <a:pathLst>
                <a:path w="495946" h="258923">
                  <a:moveTo>
                    <a:pt x="61678" y="0"/>
                  </a:moveTo>
                  <a:lnTo>
                    <a:pt x="434268" y="0"/>
                  </a:lnTo>
                  <a:cubicBezTo>
                    <a:pt x="450626" y="0"/>
                    <a:pt x="466314" y="6498"/>
                    <a:pt x="477881" y="18065"/>
                  </a:cubicBezTo>
                  <a:cubicBezTo>
                    <a:pt x="489448" y="29632"/>
                    <a:pt x="495946" y="45320"/>
                    <a:pt x="495946" y="61678"/>
                  </a:cubicBezTo>
                  <a:lnTo>
                    <a:pt x="495946" y="197245"/>
                  </a:lnTo>
                  <a:cubicBezTo>
                    <a:pt x="495946" y="213603"/>
                    <a:pt x="489448" y="229291"/>
                    <a:pt x="477881" y="240858"/>
                  </a:cubicBezTo>
                  <a:cubicBezTo>
                    <a:pt x="466314" y="252425"/>
                    <a:pt x="450626" y="258923"/>
                    <a:pt x="434268" y="258923"/>
                  </a:cubicBezTo>
                  <a:lnTo>
                    <a:pt x="61678" y="258923"/>
                  </a:lnTo>
                  <a:cubicBezTo>
                    <a:pt x="45320" y="258923"/>
                    <a:pt x="29632" y="252425"/>
                    <a:pt x="18065" y="240858"/>
                  </a:cubicBezTo>
                  <a:cubicBezTo>
                    <a:pt x="6498" y="229291"/>
                    <a:pt x="0" y="213603"/>
                    <a:pt x="0" y="197245"/>
                  </a:cubicBezTo>
                  <a:lnTo>
                    <a:pt x="0" y="61678"/>
                  </a:lnTo>
                  <a:cubicBezTo>
                    <a:pt x="0" y="45320"/>
                    <a:pt x="6498" y="29632"/>
                    <a:pt x="18065" y="18065"/>
                  </a:cubicBezTo>
                  <a:cubicBezTo>
                    <a:pt x="29632" y="6498"/>
                    <a:pt x="45320" y="0"/>
                    <a:pt x="61678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95946" cy="287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[Combat]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8034" y="3520888"/>
            <a:ext cx="1878337" cy="716280"/>
            <a:chOff x="0" y="0"/>
            <a:chExt cx="494766" cy="1886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572610" y="3281373"/>
            <a:ext cx="2052931" cy="1378271"/>
            <a:chOff x="0" y="0"/>
            <a:chExt cx="2737241" cy="1837695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2737241" cy="1837695"/>
              <a:chOff x="0" y="0"/>
              <a:chExt cx="540755" cy="36304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540755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40755" h="363046">
                    <a:moveTo>
                      <a:pt x="56567" y="0"/>
                    </a:moveTo>
                    <a:lnTo>
                      <a:pt x="484188" y="0"/>
                    </a:lnTo>
                    <a:cubicBezTo>
                      <a:pt x="499191" y="0"/>
                      <a:pt x="513579" y="5960"/>
                      <a:pt x="524187" y="16568"/>
                    </a:cubicBezTo>
                    <a:cubicBezTo>
                      <a:pt x="534796" y="27177"/>
                      <a:pt x="540755" y="41565"/>
                      <a:pt x="540755" y="56567"/>
                    </a:cubicBezTo>
                    <a:lnTo>
                      <a:pt x="540755" y="306478"/>
                    </a:lnTo>
                    <a:cubicBezTo>
                      <a:pt x="540755" y="337720"/>
                      <a:pt x="515429" y="363046"/>
                      <a:pt x="484188" y="363046"/>
                    </a:cubicBezTo>
                    <a:lnTo>
                      <a:pt x="56567" y="363046"/>
                    </a:lnTo>
                    <a:cubicBezTo>
                      <a:pt x="41565" y="363046"/>
                      <a:pt x="27177" y="357086"/>
                      <a:pt x="16568" y="346477"/>
                    </a:cubicBezTo>
                    <a:cubicBezTo>
                      <a:pt x="5960" y="335869"/>
                      <a:pt x="0" y="321481"/>
                      <a:pt x="0" y="306478"/>
                    </a:cubicBezTo>
                    <a:lnTo>
                      <a:pt x="0" y="56567"/>
                    </a:lnTo>
                    <a:cubicBezTo>
                      <a:pt x="0" y="25326"/>
                      <a:pt x="25326" y="0"/>
                      <a:pt x="5656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28575"/>
                <a:ext cx="540755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31361" y="213380"/>
              <a:ext cx="2474519" cy="812297"/>
              <a:chOff x="0" y="0"/>
              <a:chExt cx="488794" cy="16045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88794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488794" h="160454">
                    <a:moveTo>
                      <a:pt x="41715" y="0"/>
                    </a:moveTo>
                    <a:lnTo>
                      <a:pt x="447078" y="0"/>
                    </a:lnTo>
                    <a:cubicBezTo>
                      <a:pt x="458142" y="0"/>
                      <a:pt x="468752" y="4395"/>
                      <a:pt x="476576" y="12218"/>
                    </a:cubicBezTo>
                    <a:cubicBezTo>
                      <a:pt x="484399" y="20041"/>
                      <a:pt x="488794" y="30652"/>
                      <a:pt x="488794" y="41715"/>
                    </a:cubicBezTo>
                    <a:lnTo>
                      <a:pt x="488794" y="118738"/>
                    </a:lnTo>
                    <a:cubicBezTo>
                      <a:pt x="488794" y="141777"/>
                      <a:pt x="470117" y="160454"/>
                      <a:pt x="447078" y="160454"/>
                    </a:cubicBezTo>
                    <a:lnTo>
                      <a:pt x="41715" y="160454"/>
                    </a:lnTo>
                    <a:cubicBezTo>
                      <a:pt x="30652" y="160454"/>
                      <a:pt x="20041" y="156059"/>
                      <a:pt x="12218" y="148236"/>
                    </a:cubicBezTo>
                    <a:cubicBezTo>
                      <a:pt x="4395" y="140412"/>
                      <a:pt x="0" y="129802"/>
                      <a:pt x="0" y="118738"/>
                    </a:cubicBezTo>
                    <a:lnTo>
                      <a:pt x="0" y="41715"/>
                    </a:lnTo>
                    <a:cubicBezTo>
                      <a:pt x="0" y="30652"/>
                      <a:pt x="4395" y="20041"/>
                      <a:pt x="12218" y="12218"/>
                    </a:cubicBezTo>
                    <a:cubicBezTo>
                      <a:pt x="20041" y="4395"/>
                      <a:pt x="30652" y="0"/>
                      <a:pt x="41715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104775"/>
                <a:ext cx="488794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Stamina &lt; 50</a:t>
                </a:r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6038719" y="4318738"/>
            <a:ext cx="1878337" cy="824762"/>
            <a:chOff x="0" y="-28575"/>
            <a:chExt cx="494766" cy="21724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487237" cy="177701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95088" y="4318738"/>
            <a:ext cx="1878337" cy="824762"/>
            <a:chOff x="0" y="-28575"/>
            <a:chExt cx="494766" cy="21724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494766" cy="177701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158813" y="4318738"/>
            <a:ext cx="1878337" cy="824762"/>
            <a:chOff x="0" y="-28575"/>
            <a:chExt cx="494766" cy="21724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94766" cy="177701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2994" y="6659756"/>
            <a:ext cx="2257673" cy="1378271"/>
            <a:chOff x="0" y="0"/>
            <a:chExt cx="3010231" cy="1837695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3010231" cy="1837695"/>
              <a:chOff x="0" y="0"/>
              <a:chExt cx="594686" cy="36304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94686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363046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311608"/>
                    </a:lnTo>
                    <a:cubicBezTo>
                      <a:pt x="594686" y="340016"/>
                      <a:pt x="571657" y="363046"/>
                      <a:pt x="543249" y="363046"/>
                    </a:cubicBezTo>
                    <a:lnTo>
                      <a:pt x="51437" y="363046"/>
                    </a:lnTo>
                    <a:cubicBezTo>
                      <a:pt x="37795" y="363046"/>
                      <a:pt x="24712" y="357626"/>
                      <a:pt x="15066" y="347980"/>
                    </a:cubicBezTo>
                    <a:cubicBezTo>
                      <a:pt x="5419" y="338334"/>
                      <a:pt x="0" y="325250"/>
                      <a:pt x="0" y="31160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28575"/>
                <a:ext cx="594686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44462" y="213380"/>
              <a:ext cx="2721307" cy="812297"/>
              <a:chOff x="0" y="0"/>
              <a:chExt cx="537542" cy="16045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04775"/>
                <a:ext cx="537542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Chance</a:t>
                </a:r>
              </a:p>
            </p:txBody>
          </p:sp>
        </p:grpSp>
      </p:grpSp>
      <p:sp>
        <p:nvSpPr>
          <p:cNvPr id="36" name="AutoShape 36"/>
          <p:cNvSpPr/>
          <p:nvPr/>
        </p:nvSpPr>
        <p:spPr>
          <a:xfrm flipH="1">
            <a:off x="6977887" y="4209986"/>
            <a:ext cx="939169" cy="21723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9664096" y="4218535"/>
            <a:ext cx="970161" cy="2086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9736372" y="3879028"/>
            <a:ext cx="4452878" cy="60290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 flipH="1">
            <a:off x="1789963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2599075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" name="AutoShape 41"/>
          <p:cNvSpPr/>
          <p:nvPr/>
        </p:nvSpPr>
        <p:spPr>
          <a:xfrm flipH="1">
            <a:off x="9052239" y="5143500"/>
            <a:ext cx="1582017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2" name="AutoShape 42"/>
          <p:cNvSpPr/>
          <p:nvPr/>
        </p:nvSpPr>
        <p:spPr>
          <a:xfrm>
            <a:off x="10634256" y="5143500"/>
            <a:ext cx="1579676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3" name="AutoShape 43"/>
          <p:cNvSpPr/>
          <p:nvPr/>
        </p:nvSpPr>
        <p:spPr>
          <a:xfrm>
            <a:off x="15097981" y="5143500"/>
            <a:ext cx="870466" cy="33737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4" name="AutoShape 44"/>
          <p:cNvSpPr/>
          <p:nvPr/>
        </p:nvSpPr>
        <p:spPr>
          <a:xfrm flipH="1">
            <a:off x="14288869" y="5143500"/>
            <a:ext cx="809112" cy="40887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5" name="AutoShape 45"/>
          <p:cNvSpPr/>
          <p:nvPr/>
        </p:nvSpPr>
        <p:spPr>
          <a:xfrm flipH="1">
            <a:off x="10634256" y="5143500"/>
            <a:ext cx="0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6" name="AutoShape 46"/>
          <p:cNvSpPr/>
          <p:nvPr/>
        </p:nvSpPr>
        <p:spPr>
          <a:xfrm>
            <a:off x="11001830" y="8038027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47" name="Group 47"/>
          <p:cNvGrpSpPr/>
          <p:nvPr/>
        </p:nvGrpSpPr>
        <p:grpSpPr>
          <a:xfrm>
            <a:off x="1028700" y="5040929"/>
            <a:ext cx="1522526" cy="838988"/>
            <a:chOff x="0" y="0"/>
            <a:chExt cx="2030034" cy="1118651"/>
          </a:xfrm>
        </p:grpSpPr>
        <p:grpSp>
          <p:nvGrpSpPr>
            <p:cNvPr id="48" name="Group 48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8290977" y="5460424"/>
            <a:ext cx="1522526" cy="838988"/>
            <a:chOff x="0" y="0"/>
            <a:chExt cx="2030034" cy="1118651"/>
          </a:xfrm>
        </p:grpSpPr>
        <p:grpSp>
          <p:nvGrpSpPr>
            <p:cNvPr id="55" name="Group 55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2646924" y="5040929"/>
            <a:ext cx="1522526" cy="838988"/>
            <a:chOff x="0" y="0"/>
            <a:chExt cx="2030034" cy="1118651"/>
          </a:xfrm>
        </p:grpSpPr>
        <p:grpSp>
          <p:nvGrpSpPr>
            <p:cNvPr id="62" name="Group 62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Strafe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9872994" y="5460424"/>
            <a:ext cx="1522526" cy="838988"/>
            <a:chOff x="0" y="0"/>
            <a:chExt cx="2030034" cy="1118651"/>
          </a:xfrm>
        </p:grpSpPr>
        <p:grpSp>
          <p:nvGrpSpPr>
            <p:cNvPr id="69" name="Group 69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11452669" y="5460424"/>
            <a:ext cx="1522526" cy="838988"/>
            <a:chOff x="0" y="0"/>
            <a:chExt cx="401043" cy="220995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01043" cy="220995"/>
            </a:xfrm>
            <a:custGeom>
              <a:avLst/>
              <a:gdLst/>
              <a:ahLst/>
              <a:cxnLst/>
              <a:rect l="l" t="t" r="r" b="b"/>
              <a:pathLst>
                <a:path w="401043" h="220995">
                  <a:moveTo>
                    <a:pt x="76274" y="0"/>
                  </a:moveTo>
                  <a:lnTo>
                    <a:pt x="324769" y="0"/>
                  </a:lnTo>
                  <a:cubicBezTo>
                    <a:pt x="344998" y="0"/>
                    <a:pt x="364399" y="8036"/>
                    <a:pt x="378703" y="22340"/>
                  </a:cubicBezTo>
                  <a:cubicBezTo>
                    <a:pt x="393007" y="36644"/>
                    <a:pt x="401043" y="56045"/>
                    <a:pt x="401043" y="76274"/>
                  </a:cubicBezTo>
                  <a:lnTo>
                    <a:pt x="401043" y="144721"/>
                  </a:lnTo>
                  <a:cubicBezTo>
                    <a:pt x="401043" y="164950"/>
                    <a:pt x="393007" y="184351"/>
                    <a:pt x="378703" y="198655"/>
                  </a:cubicBezTo>
                  <a:cubicBezTo>
                    <a:pt x="364399" y="212959"/>
                    <a:pt x="344998" y="220995"/>
                    <a:pt x="324769" y="220995"/>
                  </a:cubicBezTo>
                  <a:lnTo>
                    <a:pt x="76274" y="220995"/>
                  </a:lnTo>
                  <a:cubicBezTo>
                    <a:pt x="56045" y="220995"/>
                    <a:pt x="36644" y="212959"/>
                    <a:pt x="22340" y="198655"/>
                  </a:cubicBezTo>
                  <a:cubicBezTo>
                    <a:pt x="8036" y="184351"/>
                    <a:pt x="0" y="164950"/>
                    <a:pt x="0" y="144721"/>
                  </a:cubicBezTo>
                  <a:lnTo>
                    <a:pt x="0" y="76274"/>
                  </a:lnTo>
                  <a:cubicBezTo>
                    <a:pt x="0" y="56045"/>
                    <a:pt x="8036" y="36644"/>
                    <a:pt x="22340" y="22340"/>
                  </a:cubicBezTo>
                  <a:cubicBezTo>
                    <a:pt x="36644" y="8036"/>
                    <a:pt x="56045" y="0"/>
                    <a:pt x="7627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28575"/>
              <a:ext cx="401043" cy="2495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872994" y="8419312"/>
            <a:ext cx="2257673" cy="838988"/>
            <a:chOff x="0" y="0"/>
            <a:chExt cx="3010231" cy="1118651"/>
          </a:xfrm>
        </p:grpSpPr>
        <p:grpSp>
          <p:nvGrpSpPr>
            <p:cNvPr id="79" name="Group 79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104775"/>
                <a:ext cx="537542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2213932" y="6659756"/>
            <a:ext cx="2257673" cy="838988"/>
            <a:chOff x="0" y="0"/>
            <a:chExt cx="3010231" cy="1118651"/>
          </a:xfrm>
        </p:grpSpPr>
        <p:grpSp>
          <p:nvGrpSpPr>
            <p:cNvPr id="86" name="Group 86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9" name="Group 89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0" y="104775"/>
                <a:ext cx="537542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</a:p>
            </p:txBody>
          </p:sp>
        </p:grpSp>
      </p:grpSp>
      <p:sp>
        <p:nvSpPr>
          <p:cNvPr id="92" name="AutoShape 92"/>
          <p:cNvSpPr/>
          <p:nvPr/>
        </p:nvSpPr>
        <p:spPr>
          <a:xfrm flipH="1">
            <a:off x="3625540" y="3879028"/>
            <a:ext cx="4232494" cy="91481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93" name="Group 93"/>
          <p:cNvGrpSpPr/>
          <p:nvPr/>
        </p:nvGrpSpPr>
        <p:grpSpPr>
          <a:xfrm>
            <a:off x="1110661" y="6274837"/>
            <a:ext cx="2298347" cy="2983463"/>
            <a:chOff x="0" y="0"/>
            <a:chExt cx="605400" cy="785864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3626180" y="6274837"/>
            <a:ext cx="2298347" cy="2983463"/>
            <a:chOff x="0" y="0"/>
            <a:chExt cx="605400" cy="785864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102928" y="6274837"/>
            <a:ext cx="2298347" cy="2983463"/>
            <a:chOff x="0" y="0"/>
            <a:chExt cx="605400" cy="7858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220959" y="6434872"/>
            <a:ext cx="2077750" cy="609223"/>
            <a:chOff x="0" y="0"/>
            <a:chExt cx="547226" cy="16045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104775"/>
              <a:ext cx="547226" cy="254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3736478" y="6434872"/>
            <a:ext cx="2077750" cy="609223"/>
            <a:chOff x="0" y="0"/>
            <a:chExt cx="547226" cy="160454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6213226" y="6434872"/>
            <a:ext cx="2077750" cy="609223"/>
            <a:chOff x="0" y="0"/>
            <a:chExt cx="547226" cy="16045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1220959" y="7113306"/>
            <a:ext cx="2077750" cy="609223"/>
            <a:chOff x="0" y="0"/>
            <a:chExt cx="547226" cy="160454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3736478" y="7113306"/>
            <a:ext cx="2077750" cy="609223"/>
            <a:chOff x="0" y="0"/>
            <a:chExt cx="547226" cy="160454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6213226" y="7113306"/>
            <a:ext cx="2077750" cy="609223"/>
            <a:chOff x="0" y="0"/>
            <a:chExt cx="547226" cy="160454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1220959" y="7789204"/>
            <a:ext cx="2077750" cy="609223"/>
            <a:chOff x="0" y="0"/>
            <a:chExt cx="547226" cy="160454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0" y="104775"/>
              <a:ext cx="547226" cy="162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3736478" y="7789204"/>
            <a:ext cx="2077750" cy="609223"/>
            <a:chOff x="0" y="0"/>
            <a:chExt cx="547226" cy="160454"/>
          </a:xfrm>
        </p:grpSpPr>
        <p:sp>
          <p:nvSpPr>
            <p:cNvPr id="124" name="Freeform 124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0" y="104775"/>
              <a:ext cx="547226" cy="162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6213226" y="7789204"/>
            <a:ext cx="2077750" cy="609223"/>
            <a:chOff x="0" y="0"/>
            <a:chExt cx="547226" cy="160454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1220959" y="8465102"/>
            <a:ext cx="2077750" cy="609223"/>
            <a:chOff x="0" y="0"/>
            <a:chExt cx="547226" cy="160454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UseSkill_A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3736478" y="8465102"/>
            <a:ext cx="2077750" cy="609223"/>
            <a:chOff x="0" y="0"/>
            <a:chExt cx="547226" cy="160454"/>
          </a:xfrm>
        </p:grpSpPr>
        <p:sp>
          <p:nvSpPr>
            <p:cNvPr id="133" name="Freeform 13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UseSkill_B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6213226" y="8465102"/>
            <a:ext cx="2077750" cy="609223"/>
            <a:chOff x="0" y="0"/>
            <a:chExt cx="547226" cy="160454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UseSkill_C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138" name="AutoShape 138"/>
          <p:cNvSpPr/>
          <p:nvPr/>
        </p:nvSpPr>
        <p:spPr>
          <a:xfrm flipH="1">
            <a:off x="2259834" y="5143500"/>
            <a:ext cx="4718053" cy="1131337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9" name="AutoShape 139"/>
          <p:cNvSpPr/>
          <p:nvPr/>
        </p:nvSpPr>
        <p:spPr>
          <a:xfrm flipH="1">
            <a:off x="4775353" y="5143500"/>
            <a:ext cx="2202534" cy="1131337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0" name="AutoShape 140"/>
          <p:cNvSpPr/>
          <p:nvPr/>
        </p:nvSpPr>
        <p:spPr>
          <a:xfrm>
            <a:off x="6977887" y="5143500"/>
            <a:ext cx="277114" cy="115016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1" name="AutoShape 141"/>
          <p:cNvSpPr/>
          <p:nvPr/>
        </p:nvSpPr>
        <p:spPr>
          <a:xfrm flipH="1">
            <a:off x="11001830" y="6299412"/>
            <a:ext cx="1212102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2" name="AutoShape 142"/>
          <p:cNvSpPr/>
          <p:nvPr/>
        </p:nvSpPr>
        <p:spPr>
          <a:xfrm>
            <a:off x="12213932" y="6299412"/>
            <a:ext cx="1128837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43" name="Group 143"/>
          <p:cNvGrpSpPr/>
          <p:nvPr/>
        </p:nvGrpSpPr>
        <p:grpSpPr>
          <a:xfrm>
            <a:off x="13527606" y="5460424"/>
            <a:ext cx="1522526" cy="838988"/>
            <a:chOff x="0" y="0"/>
            <a:chExt cx="2030034" cy="1118651"/>
          </a:xfrm>
        </p:grpSpPr>
        <p:grpSp>
          <p:nvGrpSpPr>
            <p:cNvPr id="144" name="Group 144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45" name="Freeform 145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TextBox 146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7" name="Group 147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</a:p>
            </p:txBody>
          </p:sp>
        </p:grpSp>
      </p:grpSp>
      <p:grpSp>
        <p:nvGrpSpPr>
          <p:cNvPr id="150" name="Group 150"/>
          <p:cNvGrpSpPr/>
          <p:nvPr/>
        </p:nvGrpSpPr>
        <p:grpSpPr>
          <a:xfrm>
            <a:off x="15145831" y="5460424"/>
            <a:ext cx="1522526" cy="838988"/>
            <a:chOff x="0" y="0"/>
            <a:chExt cx="2030034" cy="1118651"/>
          </a:xfrm>
        </p:grpSpPr>
        <p:grpSp>
          <p:nvGrpSpPr>
            <p:cNvPr id="151" name="Group 151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52" name="Freeform 152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3" name="TextBox 153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4" name="Group 154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Wait</a:t>
                </a:r>
              </a:p>
            </p:txBody>
          </p:sp>
        </p:grpSp>
      </p:grpSp>
      <p:sp>
        <p:nvSpPr>
          <p:cNvPr id="161" name="Rectangle 160"/>
          <p:cNvSpPr/>
          <p:nvPr/>
        </p:nvSpPr>
        <p:spPr>
          <a:xfrm>
            <a:off x="8794964" y="6611914"/>
            <a:ext cx="8604036" cy="2558586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7" name="Group 157"/>
          <p:cNvGrpSpPr/>
          <p:nvPr/>
        </p:nvGrpSpPr>
        <p:grpSpPr>
          <a:xfrm>
            <a:off x="8794963" y="6503418"/>
            <a:ext cx="8724472" cy="2667082"/>
            <a:chOff x="0" y="-28575"/>
            <a:chExt cx="2260495" cy="648711"/>
          </a:xfrm>
        </p:grpSpPr>
        <p:sp>
          <p:nvSpPr>
            <p:cNvPr id="158" name="Freeform 158"/>
            <p:cNvSpPr/>
            <p:nvPr/>
          </p:nvSpPr>
          <p:spPr>
            <a:xfrm>
              <a:off x="0" y="0"/>
              <a:ext cx="2229290" cy="620136"/>
            </a:xfrm>
            <a:custGeom>
              <a:avLst/>
              <a:gdLst/>
              <a:ahLst/>
              <a:cxnLst/>
              <a:rect l="l" t="t" r="r" b="b"/>
              <a:pathLst>
                <a:path w="2229290" h="620136">
                  <a:moveTo>
                    <a:pt x="0" y="0"/>
                  </a:moveTo>
                  <a:lnTo>
                    <a:pt x="2229290" y="0"/>
                  </a:lnTo>
                  <a:lnTo>
                    <a:pt x="2229290" y="620136"/>
                  </a:lnTo>
                  <a:lnTo>
                    <a:pt x="0" y="620136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31205" y="-28575"/>
              <a:ext cx="2229290" cy="6487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2. 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전략적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스테미나가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충분할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때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가장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먼저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강력한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연혈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사용을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시도한다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분기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Skill A, B, C 중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조건이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맞는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것을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데코레이터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조건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</a:p>
            <a:p>
              <a:pPr marL="323850" lvl="1" indent="-161925" algn="l">
                <a:lnSpc>
                  <a:spcPct val="150000"/>
                </a:lnSpc>
                <a:buAutoNum type="arabicPeriod"/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AI가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너무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똑같은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반복하지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않도록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확률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(1~100)을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부여한다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AutoNum type="arabicPeriod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스킬별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유효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사거리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min,max값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설정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안에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있을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때만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발동한다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AutoNum type="arabicPeriod"/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사용에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필요한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스테미나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명혈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비용을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사전에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체크한다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</p:txBody>
        </p:sp>
      </p:grpSp>
      <p:sp>
        <p:nvSpPr>
          <p:cNvPr id="160" name="TextBox 159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17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165" name="AutoShape 12">
            <a:extLst>
              <a:ext uri="{FF2B5EF4-FFF2-40B4-BE49-F238E27FC236}">
                <a16:creationId xmlns:a16="http://schemas.microsoft.com/office/drawing/2014/main" id="{B9A367C5-BA4F-47EA-A36A-0267749FF95E}"/>
              </a:ext>
            </a:extLst>
          </p:cNvPr>
          <p:cNvSpPr/>
          <p:nvPr/>
        </p:nvSpPr>
        <p:spPr>
          <a:xfrm>
            <a:off x="8794964" y="3330835"/>
            <a:ext cx="2239" cy="19005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66" name="Group 4">
            <a:extLst>
              <a:ext uri="{FF2B5EF4-FFF2-40B4-BE49-F238E27FC236}">
                <a16:creationId xmlns:a16="http://schemas.microsoft.com/office/drawing/2014/main" id="{3D49E4A0-3341-0AFA-EEC1-F12989A06378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67" name="Freeform 5">
              <a:extLst>
                <a:ext uri="{FF2B5EF4-FFF2-40B4-BE49-F238E27FC236}">
                  <a16:creationId xmlns:a16="http://schemas.microsoft.com/office/drawing/2014/main" id="{43097BFB-0344-341C-EB04-2C25DA78F83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C7977E6B-B794-703D-DC8B-6A89603E025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7E7324D3-1795-B6F1-FC21-434FCDA9884E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2" name="AutoShape 10">
            <a:extLst>
              <a:ext uri="{FF2B5EF4-FFF2-40B4-BE49-F238E27FC236}">
                <a16:creationId xmlns:a16="http://schemas.microsoft.com/office/drawing/2014/main" id="{40A0DED0-A6C4-11BC-1D38-03AEAEA70344}"/>
              </a:ext>
            </a:extLst>
          </p:cNvPr>
          <p:cNvSpPr/>
          <p:nvPr/>
        </p:nvSpPr>
        <p:spPr>
          <a:xfrm>
            <a:off x="8686800" y="1968672"/>
            <a:ext cx="0" cy="372795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853556" y="2347855"/>
            <a:ext cx="1882816" cy="982980"/>
            <a:chOff x="0" y="0"/>
            <a:chExt cx="495946" cy="2589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5946" cy="258923"/>
            </a:xfrm>
            <a:custGeom>
              <a:avLst/>
              <a:gdLst/>
              <a:ahLst/>
              <a:cxnLst/>
              <a:rect l="l" t="t" r="r" b="b"/>
              <a:pathLst>
                <a:path w="495946" h="258923">
                  <a:moveTo>
                    <a:pt x="61678" y="0"/>
                  </a:moveTo>
                  <a:lnTo>
                    <a:pt x="434268" y="0"/>
                  </a:lnTo>
                  <a:cubicBezTo>
                    <a:pt x="450626" y="0"/>
                    <a:pt x="466314" y="6498"/>
                    <a:pt x="477881" y="18065"/>
                  </a:cubicBezTo>
                  <a:cubicBezTo>
                    <a:pt x="489448" y="29632"/>
                    <a:pt x="495946" y="45320"/>
                    <a:pt x="495946" y="61678"/>
                  </a:cubicBezTo>
                  <a:lnTo>
                    <a:pt x="495946" y="197245"/>
                  </a:lnTo>
                  <a:cubicBezTo>
                    <a:pt x="495946" y="213603"/>
                    <a:pt x="489448" y="229291"/>
                    <a:pt x="477881" y="240858"/>
                  </a:cubicBezTo>
                  <a:cubicBezTo>
                    <a:pt x="466314" y="252425"/>
                    <a:pt x="450626" y="258923"/>
                    <a:pt x="434268" y="258923"/>
                  </a:cubicBezTo>
                  <a:lnTo>
                    <a:pt x="61678" y="258923"/>
                  </a:lnTo>
                  <a:cubicBezTo>
                    <a:pt x="45320" y="258923"/>
                    <a:pt x="29632" y="252425"/>
                    <a:pt x="18065" y="240858"/>
                  </a:cubicBezTo>
                  <a:cubicBezTo>
                    <a:pt x="6498" y="229291"/>
                    <a:pt x="0" y="213603"/>
                    <a:pt x="0" y="197245"/>
                  </a:cubicBezTo>
                  <a:lnTo>
                    <a:pt x="0" y="61678"/>
                  </a:lnTo>
                  <a:cubicBezTo>
                    <a:pt x="0" y="45320"/>
                    <a:pt x="6498" y="29632"/>
                    <a:pt x="18065" y="18065"/>
                  </a:cubicBezTo>
                  <a:cubicBezTo>
                    <a:pt x="29632" y="6498"/>
                    <a:pt x="45320" y="0"/>
                    <a:pt x="61678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95946" cy="287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[Combat]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8034" y="3520888"/>
            <a:ext cx="1878337" cy="716280"/>
            <a:chOff x="0" y="0"/>
            <a:chExt cx="494766" cy="1886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572610" y="3172891"/>
            <a:ext cx="2052931" cy="1486753"/>
            <a:chOff x="0" y="-144643"/>
            <a:chExt cx="2737241" cy="1982338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-144643"/>
              <a:ext cx="2737241" cy="1982338"/>
              <a:chOff x="0" y="-28575"/>
              <a:chExt cx="540755" cy="39162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540755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40755" h="363046">
                    <a:moveTo>
                      <a:pt x="56567" y="0"/>
                    </a:moveTo>
                    <a:lnTo>
                      <a:pt x="484188" y="0"/>
                    </a:lnTo>
                    <a:cubicBezTo>
                      <a:pt x="499191" y="0"/>
                      <a:pt x="513579" y="5960"/>
                      <a:pt x="524187" y="16568"/>
                    </a:cubicBezTo>
                    <a:cubicBezTo>
                      <a:pt x="534796" y="27177"/>
                      <a:pt x="540755" y="41565"/>
                      <a:pt x="540755" y="56567"/>
                    </a:cubicBezTo>
                    <a:lnTo>
                      <a:pt x="540755" y="306478"/>
                    </a:lnTo>
                    <a:cubicBezTo>
                      <a:pt x="540755" y="337720"/>
                      <a:pt x="515429" y="363046"/>
                      <a:pt x="484188" y="363046"/>
                    </a:cubicBezTo>
                    <a:lnTo>
                      <a:pt x="56567" y="363046"/>
                    </a:lnTo>
                    <a:cubicBezTo>
                      <a:pt x="41565" y="363046"/>
                      <a:pt x="27177" y="357086"/>
                      <a:pt x="16568" y="346477"/>
                    </a:cubicBezTo>
                    <a:cubicBezTo>
                      <a:pt x="5960" y="335869"/>
                      <a:pt x="0" y="321481"/>
                      <a:pt x="0" y="306478"/>
                    </a:cubicBezTo>
                    <a:lnTo>
                      <a:pt x="0" y="56567"/>
                    </a:lnTo>
                    <a:cubicBezTo>
                      <a:pt x="0" y="25326"/>
                      <a:pt x="25326" y="0"/>
                      <a:pt x="5656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28575"/>
                <a:ext cx="540754" cy="364604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31361" y="213380"/>
              <a:ext cx="2474519" cy="812297"/>
              <a:chOff x="0" y="0"/>
              <a:chExt cx="488794" cy="16045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88794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488794" h="160454">
                    <a:moveTo>
                      <a:pt x="41715" y="0"/>
                    </a:moveTo>
                    <a:lnTo>
                      <a:pt x="447078" y="0"/>
                    </a:lnTo>
                    <a:cubicBezTo>
                      <a:pt x="458142" y="0"/>
                      <a:pt x="468752" y="4395"/>
                      <a:pt x="476576" y="12218"/>
                    </a:cubicBezTo>
                    <a:cubicBezTo>
                      <a:pt x="484399" y="20041"/>
                      <a:pt x="488794" y="30652"/>
                      <a:pt x="488794" y="41715"/>
                    </a:cubicBezTo>
                    <a:lnTo>
                      <a:pt x="488794" y="118738"/>
                    </a:lnTo>
                    <a:cubicBezTo>
                      <a:pt x="488794" y="141777"/>
                      <a:pt x="470117" y="160454"/>
                      <a:pt x="447078" y="160454"/>
                    </a:cubicBezTo>
                    <a:lnTo>
                      <a:pt x="41715" y="160454"/>
                    </a:lnTo>
                    <a:cubicBezTo>
                      <a:pt x="30652" y="160454"/>
                      <a:pt x="20041" y="156059"/>
                      <a:pt x="12218" y="148236"/>
                    </a:cubicBezTo>
                    <a:cubicBezTo>
                      <a:pt x="4395" y="140412"/>
                      <a:pt x="0" y="129802"/>
                      <a:pt x="0" y="118738"/>
                    </a:cubicBezTo>
                    <a:lnTo>
                      <a:pt x="0" y="41715"/>
                    </a:lnTo>
                    <a:cubicBezTo>
                      <a:pt x="0" y="30652"/>
                      <a:pt x="4395" y="20041"/>
                      <a:pt x="12218" y="12218"/>
                    </a:cubicBezTo>
                    <a:cubicBezTo>
                      <a:pt x="20041" y="4395"/>
                      <a:pt x="30652" y="0"/>
                      <a:pt x="41715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104775"/>
                <a:ext cx="457496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Stamina &lt; 50</a:t>
                </a:r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6038719" y="4318738"/>
            <a:ext cx="1878337" cy="824762"/>
            <a:chOff x="0" y="-28575"/>
            <a:chExt cx="494766" cy="21724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478040" cy="175094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95088" y="4318738"/>
            <a:ext cx="1878337" cy="824762"/>
            <a:chOff x="0" y="-28575"/>
            <a:chExt cx="494766" cy="21724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494766" cy="172972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158813" y="4318738"/>
            <a:ext cx="1878337" cy="824762"/>
            <a:chOff x="0" y="-28575"/>
            <a:chExt cx="494766" cy="21724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94766" cy="190230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2994" y="6551274"/>
            <a:ext cx="2340936" cy="1486753"/>
            <a:chOff x="0" y="-144643"/>
            <a:chExt cx="3121248" cy="1982338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-144643"/>
              <a:ext cx="3121248" cy="1982338"/>
              <a:chOff x="0" y="-28575"/>
              <a:chExt cx="616618" cy="391621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94686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363046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311608"/>
                    </a:lnTo>
                    <a:cubicBezTo>
                      <a:pt x="594686" y="340016"/>
                      <a:pt x="571657" y="363046"/>
                      <a:pt x="543249" y="363046"/>
                    </a:cubicBezTo>
                    <a:lnTo>
                      <a:pt x="51437" y="363046"/>
                    </a:lnTo>
                    <a:cubicBezTo>
                      <a:pt x="37795" y="363046"/>
                      <a:pt x="24712" y="357626"/>
                      <a:pt x="15066" y="347980"/>
                    </a:cubicBezTo>
                    <a:cubicBezTo>
                      <a:pt x="5419" y="338334"/>
                      <a:pt x="0" y="325250"/>
                      <a:pt x="0" y="31160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28575"/>
                <a:ext cx="616618" cy="3517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44462" y="213380"/>
              <a:ext cx="2744341" cy="812297"/>
              <a:chOff x="0" y="0"/>
              <a:chExt cx="542092" cy="16045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04775"/>
                <a:ext cx="542092" cy="1481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Chance</a:t>
                </a:r>
              </a:p>
            </p:txBody>
          </p:sp>
        </p:grpSp>
      </p:grpSp>
      <p:sp>
        <p:nvSpPr>
          <p:cNvPr id="36" name="AutoShape 36"/>
          <p:cNvSpPr/>
          <p:nvPr/>
        </p:nvSpPr>
        <p:spPr>
          <a:xfrm flipH="1">
            <a:off x="6977887" y="4209986"/>
            <a:ext cx="939169" cy="21723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9664096" y="4218535"/>
            <a:ext cx="970161" cy="2086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9736372" y="3879028"/>
            <a:ext cx="4452878" cy="60290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 flipH="1">
            <a:off x="1789963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2599075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" name="AutoShape 41"/>
          <p:cNvSpPr/>
          <p:nvPr/>
        </p:nvSpPr>
        <p:spPr>
          <a:xfrm flipH="1">
            <a:off x="9052239" y="5143500"/>
            <a:ext cx="1582017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10634256" y="5143500"/>
            <a:ext cx="1579676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>
            <a:off x="15097981" y="5143500"/>
            <a:ext cx="870466" cy="33737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4" name="AutoShape 44"/>
          <p:cNvSpPr/>
          <p:nvPr/>
        </p:nvSpPr>
        <p:spPr>
          <a:xfrm flipH="1">
            <a:off x="14288869" y="5143500"/>
            <a:ext cx="809112" cy="40887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5" name="AutoShape 45"/>
          <p:cNvSpPr/>
          <p:nvPr/>
        </p:nvSpPr>
        <p:spPr>
          <a:xfrm flipH="1">
            <a:off x="10634256" y="5143500"/>
            <a:ext cx="0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6" name="AutoShape 46"/>
          <p:cNvSpPr/>
          <p:nvPr/>
        </p:nvSpPr>
        <p:spPr>
          <a:xfrm>
            <a:off x="11001830" y="8038027"/>
            <a:ext cx="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47" name="Group 47"/>
          <p:cNvGrpSpPr/>
          <p:nvPr/>
        </p:nvGrpSpPr>
        <p:grpSpPr>
          <a:xfrm>
            <a:off x="1028700" y="5040929"/>
            <a:ext cx="1522526" cy="838988"/>
            <a:chOff x="0" y="0"/>
            <a:chExt cx="2030034" cy="1118651"/>
          </a:xfrm>
        </p:grpSpPr>
        <p:grpSp>
          <p:nvGrpSpPr>
            <p:cNvPr id="48" name="Group 48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104775"/>
                <a:ext cx="352035" cy="1475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8290977" y="5460424"/>
            <a:ext cx="1522526" cy="838988"/>
            <a:chOff x="0" y="0"/>
            <a:chExt cx="2030034" cy="1118651"/>
          </a:xfrm>
        </p:grpSpPr>
        <p:grpSp>
          <p:nvGrpSpPr>
            <p:cNvPr id="55" name="Group 55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104775"/>
                <a:ext cx="361436" cy="2020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2646924" y="5040929"/>
            <a:ext cx="1522526" cy="838988"/>
            <a:chOff x="0" y="0"/>
            <a:chExt cx="2030034" cy="1118651"/>
          </a:xfrm>
        </p:grpSpPr>
        <p:grpSp>
          <p:nvGrpSpPr>
            <p:cNvPr id="62" name="Group 62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422" y="153177"/>
              <a:ext cx="1857743" cy="812297"/>
              <a:chOff x="0" y="0"/>
              <a:chExt cx="366962" cy="160454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104775"/>
                <a:ext cx="366962" cy="1475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Strafe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9872994" y="5460424"/>
            <a:ext cx="1522526" cy="838988"/>
            <a:chOff x="0" y="0"/>
            <a:chExt cx="2030034" cy="1118651"/>
          </a:xfrm>
        </p:grpSpPr>
        <p:grpSp>
          <p:nvGrpSpPr>
            <p:cNvPr id="69" name="Group 69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0" y="104775"/>
                <a:ext cx="362507" cy="2020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11452669" y="5351942"/>
            <a:ext cx="1579670" cy="1082930"/>
            <a:chOff x="0" y="-28575"/>
            <a:chExt cx="416095" cy="285251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01043" cy="220995"/>
            </a:xfrm>
            <a:custGeom>
              <a:avLst/>
              <a:gdLst/>
              <a:ahLst/>
              <a:cxnLst/>
              <a:rect l="l" t="t" r="r" b="b"/>
              <a:pathLst>
                <a:path w="401043" h="220995">
                  <a:moveTo>
                    <a:pt x="76274" y="0"/>
                  </a:moveTo>
                  <a:lnTo>
                    <a:pt x="324769" y="0"/>
                  </a:lnTo>
                  <a:cubicBezTo>
                    <a:pt x="344998" y="0"/>
                    <a:pt x="364399" y="8036"/>
                    <a:pt x="378703" y="22340"/>
                  </a:cubicBezTo>
                  <a:cubicBezTo>
                    <a:pt x="393007" y="36644"/>
                    <a:pt x="401043" y="56045"/>
                    <a:pt x="401043" y="76274"/>
                  </a:cubicBezTo>
                  <a:lnTo>
                    <a:pt x="401043" y="144721"/>
                  </a:lnTo>
                  <a:cubicBezTo>
                    <a:pt x="401043" y="164950"/>
                    <a:pt x="393007" y="184351"/>
                    <a:pt x="378703" y="198655"/>
                  </a:cubicBezTo>
                  <a:cubicBezTo>
                    <a:pt x="364399" y="212959"/>
                    <a:pt x="344998" y="220995"/>
                    <a:pt x="324769" y="220995"/>
                  </a:cubicBezTo>
                  <a:lnTo>
                    <a:pt x="76274" y="220995"/>
                  </a:lnTo>
                  <a:cubicBezTo>
                    <a:pt x="56045" y="220995"/>
                    <a:pt x="36644" y="212959"/>
                    <a:pt x="22340" y="198655"/>
                  </a:cubicBezTo>
                  <a:cubicBezTo>
                    <a:pt x="8036" y="184351"/>
                    <a:pt x="0" y="164950"/>
                    <a:pt x="0" y="144721"/>
                  </a:cubicBezTo>
                  <a:lnTo>
                    <a:pt x="0" y="76274"/>
                  </a:lnTo>
                  <a:cubicBezTo>
                    <a:pt x="0" y="56045"/>
                    <a:pt x="8036" y="36644"/>
                    <a:pt x="22340" y="22340"/>
                  </a:cubicBezTo>
                  <a:cubicBezTo>
                    <a:pt x="36644" y="8036"/>
                    <a:pt x="56045" y="0"/>
                    <a:pt x="7627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28575"/>
              <a:ext cx="416095" cy="2852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872994" y="8419312"/>
            <a:ext cx="2257673" cy="838988"/>
            <a:chOff x="0" y="0"/>
            <a:chExt cx="3010231" cy="1118651"/>
          </a:xfrm>
        </p:grpSpPr>
        <p:grpSp>
          <p:nvGrpSpPr>
            <p:cNvPr id="79" name="Group 79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104775"/>
                <a:ext cx="537541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2213932" y="6659756"/>
            <a:ext cx="2257673" cy="838988"/>
            <a:chOff x="0" y="0"/>
            <a:chExt cx="3010231" cy="1118651"/>
          </a:xfrm>
        </p:grpSpPr>
        <p:grpSp>
          <p:nvGrpSpPr>
            <p:cNvPr id="86" name="Group 86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9" name="Group 89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0" y="104775"/>
                <a:ext cx="517950" cy="1960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sp>
        <p:nvSpPr>
          <p:cNvPr id="92" name="AutoShape 92"/>
          <p:cNvSpPr/>
          <p:nvPr/>
        </p:nvSpPr>
        <p:spPr>
          <a:xfrm flipH="1">
            <a:off x="3625540" y="3879028"/>
            <a:ext cx="4232494" cy="91481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93" name="Group 93"/>
          <p:cNvGrpSpPr/>
          <p:nvPr/>
        </p:nvGrpSpPr>
        <p:grpSpPr>
          <a:xfrm>
            <a:off x="1110661" y="6274837"/>
            <a:ext cx="2298347" cy="2983463"/>
            <a:chOff x="0" y="0"/>
            <a:chExt cx="605400" cy="785864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3626180" y="6274837"/>
            <a:ext cx="2298347" cy="2983463"/>
            <a:chOff x="0" y="0"/>
            <a:chExt cx="605400" cy="785864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102928" y="6274837"/>
            <a:ext cx="2298347" cy="2983463"/>
            <a:chOff x="0" y="0"/>
            <a:chExt cx="605400" cy="7858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220959" y="6434872"/>
            <a:ext cx="2077750" cy="609223"/>
            <a:chOff x="0" y="0"/>
            <a:chExt cx="547226" cy="16045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3736478" y="6434872"/>
            <a:ext cx="2077750" cy="609223"/>
            <a:chOff x="0" y="0"/>
            <a:chExt cx="547226" cy="160454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6213226" y="6434872"/>
            <a:ext cx="2077750" cy="609223"/>
            <a:chOff x="0" y="0"/>
            <a:chExt cx="547226" cy="16045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1220959" y="7113306"/>
            <a:ext cx="2077750" cy="609223"/>
            <a:chOff x="0" y="0"/>
            <a:chExt cx="547226" cy="160454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3736478" y="7113306"/>
            <a:ext cx="2077750" cy="609223"/>
            <a:chOff x="0" y="0"/>
            <a:chExt cx="547226" cy="160454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6213226" y="7113306"/>
            <a:ext cx="2077750" cy="609223"/>
            <a:chOff x="0" y="0"/>
            <a:chExt cx="547226" cy="160454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1220959" y="7789204"/>
            <a:ext cx="2077750" cy="609223"/>
            <a:chOff x="0" y="0"/>
            <a:chExt cx="547226" cy="160454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3736478" y="7789204"/>
            <a:ext cx="2077750" cy="609223"/>
            <a:chOff x="0" y="0"/>
            <a:chExt cx="547226" cy="160454"/>
          </a:xfrm>
        </p:grpSpPr>
        <p:sp>
          <p:nvSpPr>
            <p:cNvPr id="124" name="Freeform 124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6213226" y="7789204"/>
            <a:ext cx="2077750" cy="609223"/>
            <a:chOff x="0" y="0"/>
            <a:chExt cx="547226" cy="160454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1220959" y="8465102"/>
            <a:ext cx="2077750" cy="609223"/>
            <a:chOff x="0" y="0"/>
            <a:chExt cx="547226" cy="160454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UseSkill_A</a:t>
              </a: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3736478" y="8465102"/>
            <a:ext cx="2077750" cy="609223"/>
            <a:chOff x="0" y="0"/>
            <a:chExt cx="547226" cy="160454"/>
          </a:xfrm>
        </p:grpSpPr>
        <p:sp>
          <p:nvSpPr>
            <p:cNvPr id="133" name="Freeform 13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UseSkill_B</a:t>
              </a: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6213226" y="8465102"/>
            <a:ext cx="2077750" cy="609223"/>
            <a:chOff x="0" y="0"/>
            <a:chExt cx="547226" cy="160454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UseSkill_C</a:t>
              </a:r>
            </a:p>
          </p:txBody>
        </p:sp>
      </p:grpSp>
      <p:sp>
        <p:nvSpPr>
          <p:cNvPr id="138" name="AutoShape 138"/>
          <p:cNvSpPr/>
          <p:nvPr/>
        </p:nvSpPr>
        <p:spPr>
          <a:xfrm flipH="1">
            <a:off x="2259834" y="5143500"/>
            <a:ext cx="4718053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9" name="AutoShape 139"/>
          <p:cNvSpPr/>
          <p:nvPr/>
        </p:nvSpPr>
        <p:spPr>
          <a:xfrm flipH="1">
            <a:off x="4775353" y="5143500"/>
            <a:ext cx="2202534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0" name="AutoShape 140"/>
          <p:cNvSpPr/>
          <p:nvPr/>
        </p:nvSpPr>
        <p:spPr>
          <a:xfrm>
            <a:off x="6977887" y="5143500"/>
            <a:ext cx="277114" cy="115016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1" name="AutoShape 141"/>
          <p:cNvSpPr/>
          <p:nvPr/>
        </p:nvSpPr>
        <p:spPr>
          <a:xfrm flipH="1">
            <a:off x="11001830" y="6299412"/>
            <a:ext cx="1212102" cy="36034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2" name="AutoShape 142"/>
          <p:cNvSpPr/>
          <p:nvPr/>
        </p:nvSpPr>
        <p:spPr>
          <a:xfrm>
            <a:off x="12213932" y="6299412"/>
            <a:ext cx="1128837" cy="36034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43" name="Group 143"/>
          <p:cNvGrpSpPr/>
          <p:nvPr/>
        </p:nvGrpSpPr>
        <p:grpSpPr>
          <a:xfrm>
            <a:off x="13527606" y="5460424"/>
            <a:ext cx="1522526" cy="838988"/>
            <a:chOff x="0" y="0"/>
            <a:chExt cx="2030034" cy="1118651"/>
          </a:xfrm>
        </p:grpSpPr>
        <p:grpSp>
          <p:nvGrpSpPr>
            <p:cNvPr id="144" name="Group 144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45" name="Freeform 145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TextBox 146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7" name="Group 147"/>
            <p:cNvGrpSpPr/>
            <p:nvPr/>
          </p:nvGrpSpPr>
          <p:grpSpPr>
            <a:xfrm>
              <a:off x="97422" y="153177"/>
              <a:ext cx="1847102" cy="812297"/>
              <a:chOff x="0" y="0"/>
              <a:chExt cx="364860" cy="160454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104775"/>
                <a:ext cx="364860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150" name="Group 150"/>
          <p:cNvGrpSpPr/>
          <p:nvPr/>
        </p:nvGrpSpPr>
        <p:grpSpPr>
          <a:xfrm>
            <a:off x="15145831" y="5460424"/>
            <a:ext cx="1522526" cy="838988"/>
            <a:chOff x="0" y="0"/>
            <a:chExt cx="2030034" cy="1118651"/>
          </a:xfrm>
        </p:grpSpPr>
        <p:grpSp>
          <p:nvGrpSpPr>
            <p:cNvPr id="151" name="Group 151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52" name="Freeform 152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3" name="TextBox 153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4" name="Group 154"/>
            <p:cNvGrpSpPr/>
            <p:nvPr/>
          </p:nvGrpSpPr>
          <p:grpSpPr>
            <a:xfrm>
              <a:off x="97422" y="153177"/>
              <a:ext cx="1856933" cy="812297"/>
              <a:chOff x="0" y="0"/>
              <a:chExt cx="366802" cy="160454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104775"/>
                <a:ext cx="366802" cy="2232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Wait</a:t>
                </a:r>
              </a:p>
            </p:txBody>
          </p:sp>
        </p:grpSp>
      </p:grpSp>
      <p:sp>
        <p:nvSpPr>
          <p:cNvPr id="161" name="Rectangle 160"/>
          <p:cNvSpPr/>
          <p:nvPr/>
        </p:nvSpPr>
        <p:spPr>
          <a:xfrm>
            <a:off x="1028700" y="6611914"/>
            <a:ext cx="7939988" cy="18211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7" name="Group 157"/>
          <p:cNvGrpSpPr/>
          <p:nvPr/>
        </p:nvGrpSpPr>
        <p:grpSpPr>
          <a:xfrm>
            <a:off x="1028700" y="6503418"/>
            <a:ext cx="8021947" cy="1929676"/>
            <a:chOff x="0" y="-28575"/>
            <a:chExt cx="2112776" cy="508227"/>
          </a:xfrm>
        </p:grpSpPr>
        <p:sp>
          <p:nvSpPr>
            <p:cNvPr id="158" name="Freeform 158"/>
            <p:cNvSpPr/>
            <p:nvPr/>
          </p:nvSpPr>
          <p:spPr>
            <a:xfrm>
              <a:off x="0" y="0"/>
              <a:ext cx="2091190" cy="479652"/>
            </a:xfrm>
            <a:custGeom>
              <a:avLst/>
              <a:gdLst/>
              <a:ahLst/>
              <a:cxnLst/>
              <a:rect l="l" t="t" r="r" b="b"/>
              <a:pathLst>
                <a:path w="2091190" h="479652">
                  <a:moveTo>
                    <a:pt x="0" y="0"/>
                  </a:moveTo>
                  <a:lnTo>
                    <a:pt x="2091190" y="0"/>
                  </a:lnTo>
                  <a:lnTo>
                    <a:pt x="2091190" y="479652"/>
                  </a:lnTo>
                  <a:lnTo>
                    <a:pt x="0" y="479652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1586" y="-28575"/>
              <a:ext cx="2091190" cy="5082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3. 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접근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및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일반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스킬을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쓸 수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없는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거리이거나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쿨타임일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때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실행한다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정해진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속도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UpdateSpeed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)로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적에게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다가가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MoveTo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밀착한다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확정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기본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task가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확률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노드와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확정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노드로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존재하며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‘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확률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공격’에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실패하더라도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반드시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‘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일반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공격’은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수행하게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하여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전투의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흐름이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끊기지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않게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</p:txBody>
        </p:sp>
      </p:grpSp>
      <p:sp>
        <p:nvSpPr>
          <p:cNvPr id="160" name="TextBox 159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18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165" name="AutoShape 12">
            <a:extLst>
              <a:ext uri="{FF2B5EF4-FFF2-40B4-BE49-F238E27FC236}">
                <a16:creationId xmlns:a16="http://schemas.microsoft.com/office/drawing/2014/main" id="{756B46DA-D610-F75B-4FE5-F1D9AB3AD2F9}"/>
              </a:ext>
            </a:extLst>
          </p:cNvPr>
          <p:cNvSpPr/>
          <p:nvPr/>
        </p:nvSpPr>
        <p:spPr>
          <a:xfrm>
            <a:off x="8794964" y="3330835"/>
            <a:ext cx="2239" cy="19005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66" name="Group 4">
            <a:extLst>
              <a:ext uri="{FF2B5EF4-FFF2-40B4-BE49-F238E27FC236}">
                <a16:creationId xmlns:a16="http://schemas.microsoft.com/office/drawing/2014/main" id="{E93B4C1D-2364-9853-FB3E-3596B9209931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67" name="Freeform 5">
              <a:extLst>
                <a:ext uri="{FF2B5EF4-FFF2-40B4-BE49-F238E27FC236}">
                  <a16:creationId xmlns:a16="http://schemas.microsoft.com/office/drawing/2014/main" id="{83484773-7599-BFAC-6AF3-F70872BE886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7AB3267-FAC1-E33F-05FC-308EBB97CE5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020E1536-076B-BF80-3393-1796949260C5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2" name="AutoShape 10">
            <a:extLst>
              <a:ext uri="{FF2B5EF4-FFF2-40B4-BE49-F238E27FC236}">
                <a16:creationId xmlns:a16="http://schemas.microsoft.com/office/drawing/2014/main" id="{41FFE7F5-F685-30F6-36C3-31C8645DECB3}"/>
              </a:ext>
            </a:extLst>
          </p:cNvPr>
          <p:cNvSpPr/>
          <p:nvPr/>
        </p:nvSpPr>
        <p:spPr>
          <a:xfrm>
            <a:off x="8686800" y="1968672"/>
            <a:ext cx="0" cy="372795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853556" y="2347855"/>
            <a:ext cx="1882816" cy="982980"/>
            <a:chOff x="0" y="0"/>
            <a:chExt cx="495946" cy="2589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5946" cy="258923"/>
            </a:xfrm>
            <a:custGeom>
              <a:avLst/>
              <a:gdLst/>
              <a:ahLst/>
              <a:cxnLst/>
              <a:rect l="l" t="t" r="r" b="b"/>
              <a:pathLst>
                <a:path w="495946" h="258923">
                  <a:moveTo>
                    <a:pt x="61678" y="0"/>
                  </a:moveTo>
                  <a:lnTo>
                    <a:pt x="434268" y="0"/>
                  </a:lnTo>
                  <a:cubicBezTo>
                    <a:pt x="450626" y="0"/>
                    <a:pt x="466314" y="6498"/>
                    <a:pt x="477881" y="18065"/>
                  </a:cubicBezTo>
                  <a:cubicBezTo>
                    <a:pt x="489448" y="29632"/>
                    <a:pt x="495946" y="45320"/>
                    <a:pt x="495946" y="61678"/>
                  </a:cubicBezTo>
                  <a:lnTo>
                    <a:pt x="495946" y="197245"/>
                  </a:lnTo>
                  <a:cubicBezTo>
                    <a:pt x="495946" y="213603"/>
                    <a:pt x="489448" y="229291"/>
                    <a:pt x="477881" y="240858"/>
                  </a:cubicBezTo>
                  <a:cubicBezTo>
                    <a:pt x="466314" y="252425"/>
                    <a:pt x="450626" y="258923"/>
                    <a:pt x="434268" y="258923"/>
                  </a:cubicBezTo>
                  <a:lnTo>
                    <a:pt x="61678" y="258923"/>
                  </a:lnTo>
                  <a:cubicBezTo>
                    <a:pt x="45320" y="258923"/>
                    <a:pt x="29632" y="252425"/>
                    <a:pt x="18065" y="240858"/>
                  </a:cubicBezTo>
                  <a:cubicBezTo>
                    <a:pt x="6498" y="229291"/>
                    <a:pt x="0" y="213603"/>
                    <a:pt x="0" y="197245"/>
                  </a:cubicBezTo>
                  <a:lnTo>
                    <a:pt x="0" y="61678"/>
                  </a:lnTo>
                  <a:cubicBezTo>
                    <a:pt x="0" y="45320"/>
                    <a:pt x="6498" y="29632"/>
                    <a:pt x="18065" y="18065"/>
                  </a:cubicBezTo>
                  <a:cubicBezTo>
                    <a:pt x="29632" y="6498"/>
                    <a:pt x="45320" y="0"/>
                    <a:pt x="61678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95946" cy="287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[Combat]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8034" y="3520888"/>
            <a:ext cx="1878337" cy="716280"/>
            <a:chOff x="0" y="0"/>
            <a:chExt cx="494766" cy="1886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8794964" y="3330835"/>
            <a:ext cx="2239" cy="19005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1572610" y="3172891"/>
            <a:ext cx="2052931" cy="1486753"/>
            <a:chOff x="0" y="-144643"/>
            <a:chExt cx="2737241" cy="1982338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-144643"/>
              <a:ext cx="2737241" cy="1982338"/>
              <a:chOff x="0" y="-28575"/>
              <a:chExt cx="540755" cy="39162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540755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40755" h="363046">
                    <a:moveTo>
                      <a:pt x="56567" y="0"/>
                    </a:moveTo>
                    <a:lnTo>
                      <a:pt x="484188" y="0"/>
                    </a:lnTo>
                    <a:cubicBezTo>
                      <a:pt x="499191" y="0"/>
                      <a:pt x="513579" y="5960"/>
                      <a:pt x="524187" y="16568"/>
                    </a:cubicBezTo>
                    <a:cubicBezTo>
                      <a:pt x="534796" y="27177"/>
                      <a:pt x="540755" y="41565"/>
                      <a:pt x="540755" y="56567"/>
                    </a:cubicBezTo>
                    <a:lnTo>
                      <a:pt x="540755" y="306478"/>
                    </a:lnTo>
                    <a:cubicBezTo>
                      <a:pt x="540755" y="337720"/>
                      <a:pt x="515429" y="363046"/>
                      <a:pt x="484188" y="363046"/>
                    </a:cubicBezTo>
                    <a:lnTo>
                      <a:pt x="56567" y="363046"/>
                    </a:lnTo>
                    <a:cubicBezTo>
                      <a:pt x="41565" y="363046"/>
                      <a:pt x="27177" y="357086"/>
                      <a:pt x="16568" y="346477"/>
                    </a:cubicBezTo>
                    <a:cubicBezTo>
                      <a:pt x="5960" y="335869"/>
                      <a:pt x="0" y="321481"/>
                      <a:pt x="0" y="306478"/>
                    </a:cubicBezTo>
                    <a:lnTo>
                      <a:pt x="0" y="56567"/>
                    </a:lnTo>
                    <a:cubicBezTo>
                      <a:pt x="0" y="25326"/>
                      <a:pt x="25326" y="0"/>
                      <a:pt x="5656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28575"/>
                <a:ext cx="539576" cy="349467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31361" y="213380"/>
              <a:ext cx="2504448" cy="812297"/>
              <a:chOff x="0" y="0"/>
              <a:chExt cx="494706" cy="16045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88794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488794" h="160454">
                    <a:moveTo>
                      <a:pt x="41715" y="0"/>
                    </a:moveTo>
                    <a:lnTo>
                      <a:pt x="447078" y="0"/>
                    </a:lnTo>
                    <a:cubicBezTo>
                      <a:pt x="458142" y="0"/>
                      <a:pt x="468752" y="4395"/>
                      <a:pt x="476576" y="12218"/>
                    </a:cubicBezTo>
                    <a:cubicBezTo>
                      <a:pt x="484399" y="20041"/>
                      <a:pt x="488794" y="30652"/>
                      <a:pt x="488794" y="41715"/>
                    </a:cubicBezTo>
                    <a:lnTo>
                      <a:pt x="488794" y="118738"/>
                    </a:lnTo>
                    <a:cubicBezTo>
                      <a:pt x="488794" y="141777"/>
                      <a:pt x="470117" y="160454"/>
                      <a:pt x="447078" y="160454"/>
                    </a:cubicBezTo>
                    <a:lnTo>
                      <a:pt x="41715" y="160454"/>
                    </a:lnTo>
                    <a:cubicBezTo>
                      <a:pt x="30652" y="160454"/>
                      <a:pt x="20041" y="156059"/>
                      <a:pt x="12218" y="148236"/>
                    </a:cubicBezTo>
                    <a:cubicBezTo>
                      <a:pt x="4395" y="140412"/>
                      <a:pt x="0" y="129802"/>
                      <a:pt x="0" y="118738"/>
                    </a:cubicBezTo>
                    <a:lnTo>
                      <a:pt x="0" y="41715"/>
                    </a:lnTo>
                    <a:cubicBezTo>
                      <a:pt x="0" y="30652"/>
                      <a:pt x="4395" y="20041"/>
                      <a:pt x="12218" y="12218"/>
                    </a:cubicBezTo>
                    <a:cubicBezTo>
                      <a:pt x="20041" y="4395"/>
                      <a:pt x="30652" y="0"/>
                      <a:pt x="41715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104775"/>
                <a:ext cx="494706" cy="2409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Stamina &lt; 50</a:t>
                </a:r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6038719" y="4427220"/>
            <a:ext cx="1878337" cy="716280"/>
            <a:chOff x="0" y="0"/>
            <a:chExt cx="494766" cy="18867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95088" y="4427220"/>
            <a:ext cx="1878337" cy="716280"/>
            <a:chOff x="0" y="0"/>
            <a:chExt cx="494766" cy="18867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158813" y="4318738"/>
            <a:ext cx="1878337" cy="824762"/>
            <a:chOff x="0" y="-28575"/>
            <a:chExt cx="494766" cy="21724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94766" cy="187384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2994" y="6659756"/>
            <a:ext cx="2257673" cy="1378271"/>
            <a:chOff x="0" y="0"/>
            <a:chExt cx="3010231" cy="1837695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3010231" cy="1837695"/>
              <a:chOff x="0" y="0"/>
              <a:chExt cx="594686" cy="36304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94686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363046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311608"/>
                    </a:lnTo>
                    <a:cubicBezTo>
                      <a:pt x="594686" y="340016"/>
                      <a:pt x="571657" y="363046"/>
                      <a:pt x="543249" y="363046"/>
                    </a:cubicBezTo>
                    <a:lnTo>
                      <a:pt x="51437" y="363046"/>
                    </a:lnTo>
                    <a:cubicBezTo>
                      <a:pt x="37795" y="363046"/>
                      <a:pt x="24712" y="357626"/>
                      <a:pt x="15066" y="347980"/>
                    </a:cubicBezTo>
                    <a:cubicBezTo>
                      <a:pt x="5419" y="338334"/>
                      <a:pt x="0" y="325250"/>
                      <a:pt x="0" y="31160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28575"/>
                <a:ext cx="594686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44462" y="213380"/>
              <a:ext cx="2721307" cy="812297"/>
              <a:chOff x="0" y="0"/>
              <a:chExt cx="537542" cy="16045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04775"/>
                <a:ext cx="537542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Chance</a:t>
                </a:r>
              </a:p>
            </p:txBody>
          </p:sp>
        </p:grpSp>
      </p:grpSp>
      <p:sp>
        <p:nvSpPr>
          <p:cNvPr id="36" name="AutoShape 36"/>
          <p:cNvSpPr/>
          <p:nvPr/>
        </p:nvSpPr>
        <p:spPr>
          <a:xfrm flipH="1">
            <a:off x="6977887" y="4209986"/>
            <a:ext cx="939169" cy="21723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9664096" y="4218535"/>
            <a:ext cx="970161" cy="2086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8" name="AutoShape 38"/>
          <p:cNvSpPr/>
          <p:nvPr/>
        </p:nvSpPr>
        <p:spPr>
          <a:xfrm>
            <a:off x="9736372" y="3879028"/>
            <a:ext cx="4452878" cy="60290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 flipH="1">
            <a:off x="1789963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2599075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" name="AutoShape 41"/>
          <p:cNvSpPr/>
          <p:nvPr/>
        </p:nvSpPr>
        <p:spPr>
          <a:xfrm flipH="1">
            <a:off x="9052239" y="5143500"/>
            <a:ext cx="1582017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2" name="AutoShape 42"/>
          <p:cNvSpPr/>
          <p:nvPr/>
        </p:nvSpPr>
        <p:spPr>
          <a:xfrm>
            <a:off x="10634256" y="5143500"/>
            <a:ext cx="1579676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>
            <a:off x="15097981" y="5143500"/>
            <a:ext cx="870466" cy="33737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4288869" y="5143500"/>
            <a:ext cx="809112" cy="408878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0634256" y="5143500"/>
            <a:ext cx="0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6" name="AutoShape 46"/>
          <p:cNvSpPr/>
          <p:nvPr/>
        </p:nvSpPr>
        <p:spPr>
          <a:xfrm>
            <a:off x="11001830" y="8038027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47" name="Group 47"/>
          <p:cNvGrpSpPr/>
          <p:nvPr/>
        </p:nvGrpSpPr>
        <p:grpSpPr>
          <a:xfrm>
            <a:off x="1028700" y="5040929"/>
            <a:ext cx="1522526" cy="838988"/>
            <a:chOff x="0" y="0"/>
            <a:chExt cx="2030034" cy="1118651"/>
          </a:xfrm>
        </p:grpSpPr>
        <p:grpSp>
          <p:nvGrpSpPr>
            <p:cNvPr id="48" name="Group 48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104775"/>
                <a:ext cx="352035" cy="1445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8290977" y="5460424"/>
            <a:ext cx="1522526" cy="838988"/>
            <a:chOff x="0" y="0"/>
            <a:chExt cx="2030034" cy="1118651"/>
          </a:xfrm>
        </p:grpSpPr>
        <p:grpSp>
          <p:nvGrpSpPr>
            <p:cNvPr id="55" name="Group 55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104775"/>
                <a:ext cx="350563" cy="1445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2646924" y="5040929"/>
            <a:ext cx="1522526" cy="838988"/>
            <a:chOff x="0" y="0"/>
            <a:chExt cx="2030034" cy="1118651"/>
          </a:xfrm>
        </p:grpSpPr>
        <p:grpSp>
          <p:nvGrpSpPr>
            <p:cNvPr id="62" name="Group 62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104775"/>
                <a:ext cx="347288" cy="1445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Strafe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9872994" y="5460424"/>
            <a:ext cx="1522526" cy="838988"/>
            <a:chOff x="0" y="0"/>
            <a:chExt cx="2030034" cy="1118651"/>
          </a:xfrm>
        </p:grpSpPr>
        <p:grpSp>
          <p:nvGrpSpPr>
            <p:cNvPr id="69" name="Group 69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0" y="104775"/>
                <a:ext cx="362507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11452669" y="5460424"/>
            <a:ext cx="1522526" cy="838988"/>
            <a:chOff x="0" y="0"/>
            <a:chExt cx="401043" cy="220995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01043" cy="220995"/>
            </a:xfrm>
            <a:custGeom>
              <a:avLst/>
              <a:gdLst/>
              <a:ahLst/>
              <a:cxnLst/>
              <a:rect l="l" t="t" r="r" b="b"/>
              <a:pathLst>
                <a:path w="401043" h="220995">
                  <a:moveTo>
                    <a:pt x="76274" y="0"/>
                  </a:moveTo>
                  <a:lnTo>
                    <a:pt x="324769" y="0"/>
                  </a:lnTo>
                  <a:cubicBezTo>
                    <a:pt x="344998" y="0"/>
                    <a:pt x="364399" y="8036"/>
                    <a:pt x="378703" y="22340"/>
                  </a:cubicBezTo>
                  <a:cubicBezTo>
                    <a:pt x="393007" y="36644"/>
                    <a:pt x="401043" y="56045"/>
                    <a:pt x="401043" y="76274"/>
                  </a:cubicBezTo>
                  <a:lnTo>
                    <a:pt x="401043" y="144721"/>
                  </a:lnTo>
                  <a:cubicBezTo>
                    <a:pt x="401043" y="164950"/>
                    <a:pt x="393007" y="184351"/>
                    <a:pt x="378703" y="198655"/>
                  </a:cubicBezTo>
                  <a:cubicBezTo>
                    <a:pt x="364399" y="212959"/>
                    <a:pt x="344998" y="220995"/>
                    <a:pt x="324769" y="220995"/>
                  </a:cubicBezTo>
                  <a:lnTo>
                    <a:pt x="76274" y="220995"/>
                  </a:lnTo>
                  <a:cubicBezTo>
                    <a:pt x="56045" y="220995"/>
                    <a:pt x="36644" y="212959"/>
                    <a:pt x="22340" y="198655"/>
                  </a:cubicBezTo>
                  <a:cubicBezTo>
                    <a:pt x="8036" y="184351"/>
                    <a:pt x="0" y="164950"/>
                    <a:pt x="0" y="144721"/>
                  </a:cubicBezTo>
                  <a:lnTo>
                    <a:pt x="0" y="76274"/>
                  </a:lnTo>
                  <a:cubicBezTo>
                    <a:pt x="0" y="56045"/>
                    <a:pt x="8036" y="36644"/>
                    <a:pt x="22340" y="22340"/>
                  </a:cubicBezTo>
                  <a:cubicBezTo>
                    <a:pt x="36644" y="8036"/>
                    <a:pt x="56045" y="0"/>
                    <a:pt x="7627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28575"/>
              <a:ext cx="401043" cy="2495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872994" y="8419312"/>
            <a:ext cx="2257673" cy="838988"/>
            <a:chOff x="0" y="0"/>
            <a:chExt cx="3010231" cy="1118651"/>
          </a:xfrm>
        </p:grpSpPr>
        <p:grpSp>
          <p:nvGrpSpPr>
            <p:cNvPr id="79" name="Group 79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104775"/>
                <a:ext cx="537541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2213932" y="6659756"/>
            <a:ext cx="2257673" cy="838988"/>
            <a:chOff x="0" y="0"/>
            <a:chExt cx="3010231" cy="1118651"/>
          </a:xfrm>
        </p:grpSpPr>
        <p:grpSp>
          <p:nvGrpSpPr>
            <p:cNvPr id="86" name="Group 86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Group 89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0" y="104775"/>
                <a:ext cx="537542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sp>
        <p:nvSpPr>
          <p:cNvPr id="92" name="AutoShape 92"/>
          <p:cNvSpPr/>
          <p:nvPr/>
        </p:nvSpPr>
        <p:spPr>
          <a:xfrm flipH="1">
            <a:off x="3625540" y="3879028"/>
            <a:ext cx="4232494" cy="91481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93" name="Group 93"/>
          <p:cNvGrpSpPr/>
          <p:nvPr/>
        </p:nvGrpSpPr>
        <p:grpSpPr>
          <a:xfrm>
            <a:off x="1110661" y="6274837"/>
            <a:ext cx="2298347" cy="2983463"/>
            <a:chOff x="0" y="0"/>
            <a:chExt cx="605400" cy="785864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3626180" y="6274837"/>
            <a:ext cx="2298347" cy="2983463"/>
            <a:chOff x="0" y="0"/>
            <a:chExt cx="605400" cy="785864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102928" y="6274837"/>
            <a:ext cx="2298347" cy="2983463"/>
            <a:chOff x="0" y="0"/>
            <a:chExt cx="605400" cy="7858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220959" y="6434872"/>
            <a:ext cx="2077750" cy="609223"/>
            <a:chOff x="0" y="0"/>
            <a:chExt cx="547226" cy="16045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3736478" y="6434872"/>
            <a:ext cx="2077750" cy="609223"/>
            <a:chOff x="0" y="0"/>
            <a:chExt cx="547226" cy="160454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6213226" y="6434872"/>
            <a:ext cx="2077750" cy="609223"/>
            <a:chOff x="0" y="0"/>
            <a:chExt cx="547226" cy="16045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1220959" y="7113306"/>
            <a:ext cx="2077750" cy="609223"/>
            <a:chOff x="0" y="0"/>
            <a:chExt cx="547226" cy="160454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3736478" y="7113306"/>
            <a:ext cx="2077750" cy="609223"/>
            <a:chOff x="0" y="0"/>
            <a:chExt cx="547226" cy="160454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6213226" y="7113306"/>
            <a:ext cx="2077750" cy="609223"/>
            <a:chOff x="0" y="0"/>
            <a:chExt cx="547226" cy="160454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1220959" y="7789204"/>
            <a:ext cx="2077750" cy="609223"/>
            <a:chOff x="0" y="0"/>
            <a:chExt cx="547226" cy="160454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3736478" y="7789204"/>
            <a:ext cx="2077750" cy="609223"/>
            <a:chOff x="0" y="0"/>
            <a:chExt cx="547226" cy="160454"/>
          </a:xfrm>
        </p:grpSpPr>
        <p:sp>
          <p:nvSpPr>
            <p:cNvPr id="124" name="Freeform 124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6213226" y="7789204"/>
            <a:ext cx="2077750" cy="609223"/>
            <a:chOff x="0" y="0"/>
            <a:chExt cx="547226" cy="160454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1220959" y="8465102"/>
            <a:ext cx="2077750" cy="609223"/>
            <a:chOff x="0" y="0"/>
            <a:chExt cx="547226" cy="160454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UseSkill_A</a:t>
              </a: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3736478" y="8465102"/>
            <a:ext cx="2077750" cy="609223"/>
            <a:chOff x="0" y="0"/>
            <a:chExt cx="547226" cy="160454"/>
          </a:xfrm>
        </p:grpSpPr>
        <p:sp>
          <p:nvSpPr>
            <p:cNvPr id="133" name="Freeform 13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UseSkill_B</a:t>
              </a: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6213226" y="8465102"/>
            <a:ext cx="2077750" cy="609223"/>
            <a:chOff x="0" y="0"/>
            <a:chExt cx="547226" cy="160454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UseSkill_C</a:t>
              </a:r>
            </a:p>
          </p:txBody>
        </p:sp>
      </p:grpSp>
      <p:sp>
        <p:nvSpPr>
          <p:cNvPr id="138" name="AutoShape 138"/>
          <p:cNvSpPr/>
          <p:nvPr/>
        </p:nvSpPr>
        <p:spPr>
          <a:xfrm flipH="1">
            <a:off x="2259834" y="5143500"/>
            <a:ext cx="4718053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9" name="AutoShape 139"/>
          <p:cNvSpPr/>
          <p:nvPr/>
        </p:nvSpPr>
        <p:spPr>
          <a:xfrm flipH="1">
            <a:off x="4775353" y="5143500"/>
            <a:ext cx="2202534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0" name="AutoShape 140"/>
          <p:cNvSpPr/>
          <p:nvPr/>
        </p:nvSpPr>
        <p:spPr>
          <a:xfrm>
            <a:off x="6977887" y="5143500"/>
            <a:ext cx="277114" cy="115016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1" name="AutoShape 141"/>
          <p:cNvSpPr/>
          <p:nvPr/>
        </p:nvSpPr>
        <p:spPr>
          <a:xfrm flipH="1">
            <a:off x="11001830" y="6299412"/>
            <a:ext cx="1212102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2" name="AutoShape 142"/>
          <p:cNvSpPr/>
          <p:nvPr/>
        </p:nvSpPr>
        <p:spPr>
          <a:xfrm>
            <a:off x="12213932" y="6299412"/>
            <a:ext cx="1128837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43" name="Group 143"/>
          <p:cNvGrpSpPr/>
          <p:nvPr/>
        </p:nvGrpSpPr>
        <p:grpSpPr>
          <a:xfrm>
            <a:off x="13527606" y="5460424"/>
            <a:ext cx="1522526" cy="838988"/>
            <a:chOff x="0" y="0"/>
            <a:chExt cx="2030034" cy="1118651"/>
          </a:xfrm>
        </p:grpSpPr>
        <p:grpSp>
          <p:nvGrpSpPr>
            <p:cNvPr id="144" name="Group 144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45" name="Freeform 145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" name="TextBox 146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47" name="Group 147"/>
            <p:cNvGrpSpPr/>
            <p:nvPr/>
          </p:nvGrpSpPr>
          <p:grpSpPr>
            <a:xfrm>
              <a:off x="97422" y="153177"/>
              <a:ext cx="1847102" cy="812297"/>
              <a:chOff x="0" y="0"/>
              <a:chExt cx="364860" cy="160454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104775"/>
                <a:ext cx="364860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150" name="Group 150"/>
          <p:cNvGrpSpPr/>
          <p:nvPr/>
        </p:nvGrpSpPr>
        <p:grpSpPr>
          <a:xfrm>
            <a:off x="15145831" y="5460424"/>
            <a:ext cx="1522526" cy="838988"/>
            <a:chOff x="0" y="0"/>
            <a:chExt cx="2030034" cy="1118651"/>
          </a:xfrm>
        </p:grpSpPr>
        <p:grpSp>
          <p:nvGrpSpPr>
            <p:cNvPr id="151" name="Group 151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52" name="Freeform 152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" name="TextBox 153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54" name="Group 154"/>
            <p:cNvGrpSpPr/>
            <p:nvPr/>
          </p:nvGrpSpPr>
          <p:grpSpPr>
            <a:xfrm>
              <a:off x="97422" y="153177"/>
              <a:ext cx="1856933" cy="812297"/>
              <a:chOff x="0" y="0"/>
              <a:chExt cx="366802" cy="160454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104775"/>
                <a:ext cx="366802" cy="2232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Wait</a:t>
                </a:r>
              </a:p>
            </p:txBody>
          </p:sp>
        </p:grpSp>
      </p:grpSp>
      <p:grpSp>
        <p:nvGrpSpPr>
          <p:cNvPr id="157" name="Group 157"/>
          <p:cNvGrpSpPr/>
          <p:nvPr/>
        </p:nvGrpSpPr>
        <p:grpSpPr>
          <a:xfrm>
            <a:off x="9906000" y="2705099"/>
            <a:ext cx="8076178" cy="1396276"/>
            <a:chOff x="310158" y="-1028954"/>
            <a:chExt cx="2127059" cy="367743"/>
          </a:xfrm>
        </p:grpSpPr>
        <p:sp>
          <p:nvSpPr>
            <p:cNvPr id="158" name="Freeform 158"/>
            <p:cNvSpPr/>
            <p:nvPr/>
          </p:nvSpPr>
          <p:spPr>
            <a:xfrm>
              <a:off x="310158" y="-1003120"/>
              <a:ext cx="2091190" cy="339168"/>
            </a:xfrm>
            <a:custGeom>
              <a:avLst/>
              <a:gdLst/>
              <a:ahLst/>
              <a:cxnLst/>
              <a:rect l="l" t="t" r="r" b="b"/>
              <a:pathLst>
                <a:path w="2091190" h="339168">
                  <a:moveTo>
                    <a:pt x="0" y="0"/>
                  </a:moveTo>
                  <a:lnTo>
                    <a:pt x="2091190" y="0"/>
                  </a:lnTo>
                  <a:lnTo>
                    <a:pt x="2091190" y="339168"/>
                  </a:lnTo>
                  <a:lnTo>
                    <a:pt x="0" y="33916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346027" y="-1028954"/>
              <a:ext cx="2091190" cy="3677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4. 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기본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대기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전투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안정성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: 위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모든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조건이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맞지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않는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극히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짧은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순간에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실행된다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짧은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Wait를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통해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AI의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부하를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줄이면서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다음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프레임의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새로운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판단을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기다린다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</p:txBody>
        </p:sp>
      </p:grpSp>
      <p:sp>
        <p:nvSpPr>
          <p:cNvPr id="160" name="TextBox 159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19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163" name="Group 4">
            <a:extLst>
              <a:ext uri="{FF2B5EF4-FFF2-40B4-BE49-F238E27FC236}">
                <a16:creationId xmlns:a16="http://schemas.microsoft.com/office/drawing/2014/main" id="{C3002BF6-459E-3E9C-DB50-E38770DC8226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64" name="Freeform 5">
              <a:extLst>
                <a:ext uri="{FF2B5EF4-FFF2-40B4-BE49-F238E27FC236}">
                  <a16:creationId xmlns:a16="http://schemas.microsoft.com/office/drawing/2014/main" id="{237E40BC-166D-E816-775E-4F00C48AB04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DA48CF8D-FF04-D839-B79C-F259D1402BE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66" name="TextBox 165">
            <a:extLst>
              <a:ext uri="{FF2B5EF4-FFF2-40B4-BE49-F238E27FC236}">
                <a16:creationId xmlns:a16="http://schemas.microsoft.com/office/drawing/2014/main" id="{1381D0DF-35ED-6568-DF6C-BBCD5C834415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61" name="AutoShape 10">
            <a:extLst>
              <a:ext uri="{FF2B5EF4-FFF2-40B4-BE49-F238E27FC236}">
                <a16:creationId xmlns:a16="http://schemas.microsoft.com/office/drawing/2014/main" id="{2D75F6AB-C0FC-C617-E261-0C98185678D0}"/>
              </a:ext>
            </a:extLst>
          </p:cNvPr>
          <p:cNvSpPr/>
          <p:nvPr/>
        </p:nvSpPr>
        <p:spPr>
          <a:xfrm>
            <a:off x="8686800" y="1968672"/>
            <a:ext cx="0" cy="372795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1860754" y="4827532"/>
            <a:ext cx="4313182" cy="4149571"/>
            <a:chOff x="0" y="0"/>
            <a:chExt cx="1135982" cy="109289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35982" cy="1092891"/>
            </a:xfrm>
            <a:custGeom>
              <a:avLst/>
              <a:gdLst/>
              <a:ahLst/>
              <a:cxnLst/>
              <a:rect l="l" t="t" r="r" b="b"/>
              <a:pathLst>
                <a:path w="1135982" h="1092891">
                  <a:moveTo>
                    <a:pt x="0" y="0"/>
                  </a:moveTo>
                  <a:lnTo>
                    <a:pt x="1135982" y="0"/>
                  </a:lnTo>
                  <a:lnTo>
                    <a:pt x="1135982" y="1092891"/>
                  </a:lnTo>
                  <a:lnTo>
                    <a:pt x="0" y="1092891"/>
                  </a:lnTo>
                  <a:close/>
                </a:path>
              </a:pathLst>
            </a:custGeom>
            <a:ln w="38100" cap="sq">
              <a:solidFill>
                <a:srgbClr val="FFDE5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135982" cy="11214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6" name="AutoShape 6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6" name="AutoShape 16"/>
          <p:cNvSpPr/>
          <p:nvPr/>
        </p:nvSpPr>
        <p:spPr>
          <a:xfrm flipH="1">
            <a:off x="5574156" y="4514409"/>
            <a:ext cx="2068641" cy="1203703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10654572" y="4504083"/>
            <a:ext cx="1797068" cy="1222075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812800" cy="35660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749222" y="3870493"/>
            <a:ext cx="2789555" cy="609223"/>
            <a:chOff x="0" y="0"/>
            <a:chExt cx="734698" cy="16045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>
                <a:alpha val="49804"/>
              </a:srgbClr>
            </a:solidFill>
            <a:ln w="952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54310"/>
              <a:ext cx="734698" cy="10614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</a:t>
              </a: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638343" y="2169291"/>
            <a:ext cx="1011314" cy="716280"/>
            <a:chOff x="0" y="0"/>
            <a:chExt cx="266354" cy="18865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sp>
        <p:nvSpPr>
          <p:cNvPr id="35" name="Freeform 35"/>
          <p:cNvSpPr/>
          <p:nvPr/>
        </p:nvSpPr>
        <p:spPr>
          <a:xfrm>
            <a:off x="9174481" y="2885571"/>
            <a:ext cx="45719" cy="425208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20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37" name="AutoShape 18">
            <a:extLst>
              <a:ext uri="{FF2B5EF4-FFF2-40B4-BE49-F238E27FC236}">
                <a16:creationId xmlns:a16="http://schemas.microsoft.com/office/drawing/2014/main" id="{952FD9D2-E437-177B-6491-4485EEBAEDF4}"/>
              </a:ext>
            </a:extLst>
          </p:cNvPr>
          <p:cNvSpPr/>
          <p:nvPr/>
        </p:nvSpPr>
        <p:spPr>
          <a:xfrm>
            <a:off x="9143999" y="4610737"/>
            <a:ext cx="1" cy="1065528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TextBox 16">
            <a:extLst>
              <a:ext uri="{FF2B5EF4-FFF2-40B4-BE49-F238E27FC236}">
                <a16:creationId xmlns:a16="http://schemas.microsoft.com/office/drawing/2014/main" id="{E988656D-6F90-17B1-FDDD-67BC5F59F725}"/>
              </a:ext>
            </a:extLst>
          </p:cNvPr>
          <p:cNvSpPr txBox="1"/>
          <p:nvPr/>
        </p:nvSpPr>
        <p:spPr>
          <a:xfrm>
            <a:off x="2529903" y="5567768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[생명 지원]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Urgent</a:t>
            </a:r>
          </a:p>
        </p:txBody>
      </p:sp>
      <p:sp>
        <p:nvSpPr>
          <p:cNvPr id="42" name="TextBox 19">
            <a:extLst>
              <a:ext uri="{FF2B5EF4-FFF2-40B4-BE49-F238E27FC236}">
                <a16:creationId xmlns:a16="http://schemas.microsoft.com/office/drawing/2014/main" id="{5D818398-8DB0-B688-481A-4D7D4CEF6539}"/>
              </a:ext>
            </a:extLst>
          </p:cNvPr>
          <p:cNvSpPr txBox="1"/>
          <p:nvPr/>
        </p:nvSpPr>
        <p:spPr>
          <a:xfrm>
            <a:off x="7564300" y="5606706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전투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수행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Combat</a:t>
            </a:r>
          </a:p>
        </p:txBody>
      </p:sp>
      <p:grpSp>
        <p:nvGrpSpPr>
          <p:cNvPr id="43" name="Group 20">
            <a:extLst>
              <a:ext uri="{FF2B5EF4-FFF2-40B4-BE49-F238E27FC236}">
                <a16:creationId xmlns:a16="http://schemas.microsoft.com/office/drawing/2014/main" id="{8EC8AE24-ED90-709B-F016-95427B6C2FD1}"/>
              </a:ext>
            </a:extLst>
          </p:cNvPr>
          <p:cNvGrpSpPr/>
          <p:nvPr/>
        </p:nvGrpSpPr>
        <p:grpSpPr>
          <a:xfrm>
            <a:off x="12443814" y="5650525"/>
            <a:ext cx="3086100" cy="1143220"/>
            <a:chOff x="0" y="0"/>
            <a:chExt cx="812800" cy="301095"/>
          </a:xfrm>
        </p:grpSpPr>
        <p:sp>
          <p:nvSpPr>
            <p:cNvPr id="44" name="Freeform 21">
              <a:extLst>
                <a:ext uri="{FF2B5EF4-FFF2-40B4-BE49-F238E27FC236}">
                  <a16:creationId xmlns:a16="http://schemas.microsoft.com/office/drawing/2014/main" id="{851CA27D-D035-5B20-5022-840BD44E279F}"/>
                </a:ext>
              </a:extLst>
            </p:cNvPr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TextBox 22">
              <a:extLst>
                <a:ext uri="{FF2B5EF4-FFF2-40B4-BE49-F238E27FC236}">
                  <a16:creationId xmlns:a16="http://schemas.microsoft.com/office/drawing/2014/main" id="{573237F9-FA11-D043-1C11-DB0C6D1C1E43}"/>
                </a:ext>
              </a:extLst>
            </p:cNvPr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/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탐험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Follow</a:t>
              </a:r>
            </a:p>
          </p:txBody>
        </p:sp>
      </p:grpSp>
      <p:sp>
        <p:nvSpPr>
          <p:cNvPr id="46" name="TextBox 30">
            <a:extLst>
              <a:ext uri="{FF2B5EF4-FFF2-40B4-BE49-F238E27FC236}">
                <a16:creationId xmlns:a16="http://schemas.microsoft.com/office/drawing/2014/main" id="{5A05C598-9AC2-D375-B0DE-C6F358E49446}"/>
              </a:ext>
            </a:extLst>
          </p:cNvPr>
          <p:cNvSpPr txBox="1"/>
          <p:nvPr/>
        </p:nvSpPr>
        <p:spPr>
          <a:xfrm>
            <a:off x="3489398" y="7372984"/>
            <a:ext cx="11671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부활,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본인 체력 회복</a:t>
            </a:r>
          </a:p>
        </p:txBody>
      </p:sp>
      <p:sp>
        <p:nvSpPr>
          <p:cNvPr id="47" name="TextBox 31">
            <a:extLst>
              <a:ext uri="{FF2B5EF4-FFF2-40B4-BE49-F238E27FC236}">
                <a16:creationId xmlns:a16="http://schemas.microsoft.com/office/drawing/2014/main" id="{E8EB014F-017B-D833-D513-31F597C74D1D}"/>
              </a:ext>
            </a:extLst>
          </p:cNvPr>
          <p:cNvSpPr txBox="1"/>
          <p:nvPr/>
        </p:nvSpPr>
        <p:spPr>
          <a:xfrm>
            <a:off x="3230883" y="8231942"/>
            <a:ext cx="168413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전투보다 생존이 우선</a:t>
            </a:r>
          </a:p>
        </p:txBody>
      </p:sp>
      <p:sp>
        <p:nvSpPr>
          <p:cNvPr id="48" name="TextBox 32">
            <a:extLst>
              <a:ext uri="{FF2B5EF4-FFF2-40B4-BE49-F238E27FC236}">
                <a16:creationId xmlns:a16="http://schemas.microsoft.com/office/drawing/2014/main" id="{66A63EF0-E9A4-E204-E6FD-CB0F64F00E5B}"/>
              </a:ext>
            </a:extLst>
          </p:cNvPr>
          <p:cNvSpPr txBox="1"/>
          <p:nvPr/>
        </p:nvSpPr>
        <p:spPr>
          <a:xfrm>
            <a:off x="7583350" y="8125169"/>
            <a:ext cx="3048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데코레이터 : TargetEnemy Is Set</a:t>
            </a:r>
          </a:p>
        </p:txBody>
      </p:sp>
      <p:sp>
        <p:nvSpPr>
          <p:cNvPr id="49" name="TextBox 33">
            <a:extLst>
              <a:ext uri="{FF2B5EF4-FFF2-40B4-BE49-F238E27FC236}">
                <a16:creationId xmlns:a16="http://schemas.microsoft.com/office/drawing/2014/main" id="{66F8CCBC-CFEA-23F0-EF7B-46D128F7776B}"/>
              </a:ext>
            </a:extLst>
          </p:cNvPr>
          <p:cNvSpPr txBox="1"/>
          <p:nvPr/>
        </p:nvSpPr>
        <p:spPr>
          <a:xfrm>
            <a:off x="12716864" y="8206203"/>
            <a:ext cx="2540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조건 없음 · 최종 폴백</a:t>
            </a:r>
          </a:p>
        </p:txBody>
      </p:sp>
      <p:sp>
        <p:nvSpPr>
          <p:cNvPr id="50" name="TextBox 34">
            <a:extLst>
              <a:ext uri="{FF2B5EF4-FFF2-40B4-BE49-F238E27FC236}">
                <a16:creationId xmlns:a16="http://schemas.microsoft.com/office/drawing/2014/main" id="{6FBFB595-0CB3-9BBF-53A3-9C2421086F0B}"/>
              </a:ext>
            </a:extLst>
          </p:cNvPr>
          <p:cNvSpPr txBox="1"/>
          <p:nvPr/>
        </p:nvSpPr>
        <p:spPr>
          <a:xfrm>
            <a:off x="8295195" y="7266211"/>
            <a:ext cx="16243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스태미너 관리,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스킬 사용, 기본 공격</a:t>
            </a:r>
          </a:p>
        </p:txBody>
      </p:sp>
      <p:sp>
        <p:nvSpPr>
          <p:cNvPr id="51" name="TextBox 35">
            <a:extLst>
              <a:ext uri="{FF2B5EF4-FFF2-40B4-BE49-F238E27FC236}">
                <a16:creationId xmlns:a16="http://schemas.microsoft.com/office/drawing/2014/main" id="{402946D4-4B59-7BFE-B99A-0B4C479412DC}"/>
              </a:ext>
            </a:extLst>
          </p:cNvPr>
          <p:cNvSpPr txBox="1"/>
          <p:nvPr/>
        </p:nvSpPr>
        <p:spPr>
          <a:xfrm>
            <a:off x="12852050" y="7156745"/>
            <a:ext cx="226962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추적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2m 유지, 7m 벗어나면 워프</a:t>
            </a:r>
          </a:p>
        </p:txBody>
      </p:sp>
      <p:grpSp>
        <p:nvGrpSpPr>
          <p:cNvPr id="52" name="Group 26">
            <a:extLst>
              <a:ext uri="{FF2B5EF4-FFF2-40B4-BE49-F238E27FC236}">
                <a16:creationId xmlns:a16="http://schemas.microsoft.com/office/drawing/2014/main" id="{A9ECE4C4-DBD5-84B3-45E9-F13A69CB2358}"/>
              </a:ext>
            </a:extLst>
          </p:cNvPr>
          <p:cNvGrpSpPr/>
          <p:nvPr/>
        </p:nvGrpSpPr>
        <p:grpSpPr>
          <a:xfrm>
            <a:off x="2543422" y="5386150"/>
            <a:ext cx="3086100" cy="1450858"/>
            <a:chOff x="0" y="-54091"/>
            <a:chExt cx="812800" cy="382119"/>
          </a:xfrm>
        </p:grpSpPr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2D703606-7785-7023-A396-470FB7E43B54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TextBox 28">
              <a:extLst>
                <a:ext uri="{FF2B5EF4-FFF2-40B4-BE49-F238E27FC236}">
                  <a16:creationId xmlns:a16="http://schemas.microsoft.com/office/drawing/2014/main" id="{4CC21904-F961-BB60-6EE6-D4030C17CB55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55" name="Group 26">
            <a:extLst>
              <a:ext uri="{FF2B5EF4-FFF2-40B4-BE49-F238E27FC236}">
                <a16:creationId xmlns:a16="http://schemas.microsoft.com/office/drawing/2014/main" id="{6AC37608-78C7-BEAB-FA53-A5F8C16E790E}"/>
              </a:ext>
            </a:extLst>
          </p:cNvPr>
          <p:cNvGrpSpPr/>
          <p:nvPr/>
        </p:nvGrpSpPr>
        <p:grpSpPr>
          <a:xfrm>
            <a:off x="7583350" y="5450827"/>
            <a:ext cx="3086100" cy="1450858"/>
            <a:chOff x="0" y="-54091"/>
            <a:chExt cx="812800" cy="382119"/>
          </a:xfrm>
        </p:grpSpPr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3DA4CC00-57DE-BDAA-C862-A362E4334C27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TextBox 28">
              <a:extLst>
                <a:ext uri="{FF2B5EF4-FFF2-40B4-BE49-F238E27FC236}">
                  <a16:creationId xmlns:a16="http://schemas.microsoft.com/office/drawing/2014/main" id="{B6D5A69E-3755-9923-8FEA-9DD2D46AD4CE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58" name="Group 4">
            <a:extLst>
              <a:ext uri="{FF2B5EF4-FFF2-40B4-BE49-F238E27FC236}">
                <a16:creationId xmlns:a16="http://schemas.microsoft.com/office/drawing/2014/main" id="{DB92A9E1-46A8-796D-B601-B24D6700C32A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59" name="Freeform 5">
              <a:extLst>
                <a:ext uri="{FF2B5EF4-FFF2-40B4-BE49-F238E27FC236}">
                  <a16:creationId xmlns:a16="http://schemas.microsoft.com/office/drawing/2014/main" id="{6DAE3617-5223-BAC9-0278-1FC018EA6D5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CFB166E-066E-23F6-D306-17A66514EB5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AF8A4E1E-9C16-9D3E-F92D-5148E0A2B022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[Follow]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252101" y="4129711"/>
            <a:ext cx="3085725" cy="716280"/>
            <a:chOff x="0" y="0"/>
            <a:chExt cx="812800" cy="18867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88673"/>
            </a:xfrm>
            <a:custGeom>
              <a:avLst/>
              <a:gdLst/>
              <a:ahLst/>
              <a:cxnLst/>
              <a:rect l="l" t="t" r="r" b="b"/>
              <a:pathLst>
                <a:path w="812800" h="18867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151039"/>
                  </a:lnTo>
                  <a:cubicBezTo>
                    <a:pt x="812800" y="161020"/>
                    <a:pt x="808835" y="170592"/>
                    <a:pt x="801777" y="177650"/>
                  </a:cubicBezTo>
                  <a:cubicBezTo>
                    <a:pt x="794719" y="184708"/>
                    <a:pt x="785147" y="188673"/>
                    <a:pt x="775166" y="188673"/>
                  </a:cubicBezTo>
                  <a:lnTo>
                    <a:pt x="37634" y="188673"/>
                  </a:lnTo>
                  <a:cubicBezTo>
                    <a:pt x="16849" y="188673"/>
                    <a:pt x="0" y="171823"/>
                    <a:pt x="0" y="15103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8794964" y="3800293"/>
            <a:ext cx="0" cy="329418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666445" y="5035018"/>
            <a:ext cx="3085725" cy="1486753"/>
            <a:chOff x="0" y="-144643"/>
            <a:chExt cx="4114300" cy="1982338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28575"/>
                <a:ext cx="812800" cy="363046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dirty="0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700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7252101" y="5035018"/>
            <a:ext cx="3085725" cy="1486753"/>
            <a:chOff x="0" y="-144643"/>
            <a:chExt cx="4114300" cy="1982338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28575"/>
                <a:ext cx="812800" cy="363046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104775"/>
                <a:ext cx="734698" cy="2092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200</a:t>
                </a:r>
              </a:p>
            </p:txBody>
          </p:sp>
        </p:grpSp>
      </p:grpSp>
      <p:grpSp>
        <p:nvGrpSpPr>
          <p:cNvPr id="26" name="Group 26"/>
          <p:cNvGrpSpPr/>
          <p:nvPr/>
        </p:nvGrpSpPr>
        <p:grpSpPr>
          <a:xfrm>
            <a:off x="12833376" y="5035018"/>
            <a:ext cx="3085725" cy="1486753"/>
            <a:chOff x="0" y="-144643"/>
            <a:chExt cx="4114300" cy="1982338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2800" cy="3613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104775"/>
                <a:ext cx="734698" cy="2092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&lt;= 200</a:t>
                </a:r>
              </a:p>
            </p:txBody>
          </p:sp>
        </p:grpSp>
      </p:grpSp>
      <p:sp>
        <p:nvSpPr>
          <p:cNvPr id="33" name="AutoShape 33"/>
          <p:cNvSpPr/>
          <p:nvPr/>
        </p:nvSpPr>
        <p:spPr>
          <a:xfrm>
            <a:off x="8794964" y="4845991"/>
            <a:ext cx="0" cy="297509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4" name="AutoShape 34"/>
          <p:cNvSpPr/>
          <p:nvPr/>
        </p:nvSpPr>
        <p:spPr>
          <a:xfrm flipH="1">
            <a:off x="3301338" y="4487851"/>
            <a:ext cx="3950763" cy="695588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5" name="AutoShape 35"/>
          <p:cNvSpPr/>
          <p:nvPr/>
        </p:nvSpPr>
        <p:spPr>
          <a:xfrm flipH="1">
            <a:off x="3209307" y="6521771"/>
            <a:ext cx="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AutoShape 36"/>
          <p:cNvSpPr/>
          <p:nvPr/>
        </p:nvSpPr>
        <p:spPr>
          <a:xfrm flipH="1">
            <a:off x="14320986" y="6521771"/>
            <a:ext cx="55253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 flipH="1">
            <a:off x="6912148" y="6521771"/>
            <a:ext cx="183689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10337826" y="4487851"/>
            <a:ext cx="4079315" cy="655649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39" name="Group 39"/>
          <p:cNvGrpSpPr/>
          <p:nvPr/>
        </p:nvGrpSpPr>
        <p:grpSpPr>
          <a:xfrm>
            <a:off x="1666445" y="6903056"/>
            <a:ext cx="3085725" cy="838988"/>
            <a:chOff x="0" y="0"/>
            <a:chExt cx="4114300" cy="111865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04775"/>
                <a:ext cx="72624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369286" y="6903056"/>
            <a:ext cx="3085725" cy="838988"/>
            <a:chOff x="0" y="0"/>
            <a:chExt cx="4114300" cy="1118651"/>
          </a:xfrm>
        </p:grpSpPr>
        <p:grpSp>
          <p:nvGrpSpPr>
            <p:cNvPr id="47" name="Group 47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04775"/>
                <a:ext cx="734698" cy="2536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9134917" y="6903056"/>
            <a:ext cx="3085725" cy="838988"/>
            <a:chOff x="0" y="0"/>
            <a:chExt cx="4114300" cy="1118651"/>
          </a:xfrm>
        </p:grpSpPr>
        <p:grpSp>
          <p:nvGrpSpPr>
            <p:cNvPr id="54" name="Group 54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12833376" y="6903056"/>
            <a:ext cx="3085725" cy="838988"/>
            <a:chOff x="0" y="0"/>
            <a:chExt cx="4114300" cy="1118651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Idle</a:t>
                </a:r>
              </a:p>
            </p:txBody>
          </p:sp>
        </p:grpSp>
      </p:grpSp>
      <p:sp>
        <p:nvSpPr>
          <p:cNvPr id="67" name="AutoShape 67"/>
          <p:cNvSpPr/>
          <p:nvPr/>
        </p:nvSpPr>
        <p:spPr>
          <a:xfrm>
            <a:off x="8829859" y="6521771"/>
            <a:ext cx="1847921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68" name="TextBox 68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21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71" name="AutoShape 10">
            <a:extLst>
              <a:ext uri="{FF2B5EF4-FFF2-40B4-BE49-F238E27FC236}">
                <a16:creationId xmlns:a16="http://schemas.microsoft.com/office/drawing/2014/main" id="{C7507F7C-23ED-D471-4AF6-9762208745CD}"/>
              </a:ext>
            </a:extLst>
          </p:cNvPr>
          <p:cNvSpPr/>
          <p:nvPr/>
        </p:nvSpPr>
        <p:spPr>
          <a:xfrm>
            <a:off x="7315201" y="2144512"/>
            <a:ext cx="1479761" cy="512701"/>
          </a:xfrm>
          <a:prstGeom prst="line">
            <a:avLst/>
          </a:prstGeom>
          <a:ln w="38100" cap="rnd">
            <a:solidFill>
              <a:schemeClr val="bg1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72" name="Group 4">
            <a:extLst>
              <a:ext uri="{FF2B5EF4-FFF2-40B4-BE49-F238E27FC236}">
                <a16:creationId xmlns:a16="http://schemas.microsoft.com/office/drawing/2014/main" id="{DCF7BAD3-6169-982C-63E1-0A427DDB926C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73" name="Freeform 5">
              <a:extLst>
                <a:ext uri="{FF2B5EF4-FFF2-40B4-BE49-F238E27FC236}">
                  <a16:creationId xmlns:a16="http://schemas.microsoft.com/office/drawing/2014/main" id="{7996410E-8973-1508-6615-4D1AB035A4C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31130D9-A059-9D05-618B-CB71D5298AF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86A8814D-0A32-681C-7D7A-07354006E462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[Follow]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252101" y="4129711"/>
            <a:ext cx="3085725" cy="716280"/>
            <a:chOff x="0" y="0"/>
            <a:chExt cx="812800" cy="18867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88673"/>
            </a:xfrm>
            <a:custGeom>
              <a:avLst/>
              <a:gdLst/>
              <a:ahLst/>
              <a:cxnLst/>
              <a:rect l="l" t="t" r="r" b="b"/>
              <a:pathLst>
                <a:path w="812800" h="18867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151039"/>
                  </a:lnTo>
                  <a:cubicBezTo>
                    <a:pt x="812800" y="161020"/>
                    <a:pt x="808835" y="170592"/>
                    <a:pt x="801777" y="177650"/>
                  </a:cubicBezTo>
                  <a:cubicBezTo>
                    <a:pt x="794719" y="184708"/>
                    <a:pt x="785147" y="188673"/>
                    <a:pt x="775166" y="188673"/>
                  </a:cubicBezTo>
                  <a:lnTo>
                    <a:pt x="37634" y="188673"/>
                  </a:lnTo>
                  <a:cubicBezTo>
                    <a:pt x="16849" y="188673"/>
                    <a:pt x="0" y="171823"/>
                    <a:pt x="0" y="15103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8794964" y="3800293"/>
            <a:ext cx="0" cy="329418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666445" y="5035018"/>
            <a:ext cx="3085725" cy="1486753"/>
            <a:chOff x="0" y="-144643"/>
            <a:chExt cx="4114300" cy="1982338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28575"/>
                <a:ext cx="812800" cy="3497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700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7252101" y="5035018"/>
            <a:ext cx="3085725" cy="1486753"/>
            <a:chOff x="0" y="-144643"/>
            <a:chExt cx="4114300" cy="1982338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28575"/>
                <a:ext cx="799412" cy="3613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200</a:t>
                </a:r>
              </a:p>
            </p:txBody>
          </p:sp>
        </p:grpSp>
      </p:grpSp>
      <p:grpSp>
        <p:nvGrpSpPr>
          <p:cNvPr id="26" name="Group 26"/>
          <p:cNvGrpSpPr/>
          <p:nvPr/>
        </p:nvGrpSpPr>
        <p:grpSpPr>
          <a:xfrm>
            <a:off x="12833376" y="5035018"/>
            <a:ext cx="3085725" cy="1486753"/>
            <a:chOff x="0" y="-144643"/>
            <a:chExt cx="4114300" cy="1982338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2800" cy="363046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&lt;= 200</a:t>
                </a:r>
              </a:p>
            </p:txBody>
          </p:sp>
        </p:grpSp>
      </p:grpSp>
      <p:sp>
        <p:nvSpPr>
          <p:cNvPr id="33" name="AutoShape 33"/>
          <p:cNvSpPr/>
          <p:nvPr/>
        </p:nvSpPr>
        <p:spPr>
          <a:xfrm>
            <a:off x="8794964" y="4845991"/>
            <a:ext cx="0" cy="29750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4" name="AutoShape 34"/>
          <p:cNvSpPr/>
          <p:nvPr/>
        </p:nvSpPr>
        <p:spPr>
          <a:xfrm flipH="1">
            <a:off x="3301338" y="4487851"/>
            <a:ext cx="3950763" cy="69558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5" name="AutoShape 35"/>
          <p:cNvSpPr/>
          <p:nvPr/>
        </p:nvSpPr>
        <p:spPr>
          <a:xfrm flipH="1">
            <a:off x="3209307" y="6521771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6" name="AutoShape 36"/>
          <p:cNvSpPr/>
          <p:nvPr/>
        </p:nvSpPr>
        <p:spPr>
          <a:xfrm flipH="1">
            <a:off x="14376237" y="6521771"/>
            <a:ext cx="1" cy="39781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AutoShape 37"/>
          <p:cNvSpPr/>
          <p:nvPr/>
        </p:nvSpPr>
        <p:spPr>
          <a:xfrm flipH="1">
            <a:off x="6912148" y="6521771"/>
            <a:ext cx="183689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8" name="AutoShape 38"/>
          <p:cNvSpPr/>
          <p:nvPr/>
        </p:nvSpPr>
        <p:spPr>
          <a:xfrm>
            <a:off x="10337826" y="4487851"/>
            <a:ext cx="4079315" cy="65564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39" name="Group 39"/>
          <p:cNvGrpSpPr/>
          <p:nvPr/>
        </p:nvGrpSpPr>
        <p:grpSpPr>
          <a:xfrm>
            <a:off x="1666445" y="6903056"/>
            <a:ext cx="3085725" cy="838988"/>
            <a:chOff x="0" y="0"/>
            <a:chExt cx="4114300" cy="111865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369286" y="6903056"/>
            <a:ext cx="3085725" cy="838988"/>
            <a:chOff x="0" y="0"/>
            <a:chExt cx="4114300" cy="1118651"/>
          </a:xfrm>
        </p:grpSpPr>
        <p:grpSp>
          <p:nvGrpSpPr>
            <p:cNvPr id="47" name="Group 47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9134917" y="6903056"/>
            <a:ext cx="3085725" cy="838988"/>
            <a:chOff x="0" y="0"/>
            <a:chExt cx="4114300" cy="1118651"/>
          </a:xfrm>
        </p:grpSpPr>
        <p:grpSp>
          <p:nvGrpSpPr>
            <p:cNvPr id="54" name="Group 54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12833376" y="6903056"/>
            <a:ext cx="3085725" cy="838988"/>
            <a:chOff x="0" y="0"/>
            <a:chExt cx="4114300" cy="1118651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Idle</a:t>
                </a:r>
              </a:p>
            </p:txBody>
          </p:sp>
        </p:grpSp>
      </p:grpSp>
      <p:sp>
        <p:nvSpPr>
          <p:cNvPr id="67" name="AutoShape 67"/>
          <p:cNvSpPr/>
          <p:nvPr/>
        </p:nvSpPr>
        <p:spPr>
          <a:xfrm>
            <a:off x="8829859" y="6521771"/>
            <a:ext cx="1847921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68" name="Group 68"/>
          <p:cNvGrpSpPr/>
          <p:nvPr/>
        </p:nvGrpSpPr>
        <p:grpSpPr>
          <a:xfrm>
            <a:off x="11237794" y="3398458"/>
            <a:ext cx="4916498" cy="1022744"/>
            <a:chOff x="0" y="0"/>
            <a:chExt cx="1294880" cy="269365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1294880" cy="269365"/>
            </a:xfrm>
            <a:custGeom>
              <a:avLst/>
              <a:gdLst/>
              <a:ahLst/>
              <a:cxnLst/>
              <a:rect l="l" t="t" r="r" b="b"/>
              <a:pathLst>
                <a:path w="1294880" h="269365">
                  <a:moveTo>
                    <a:pt x="0" y="0"/>
                  </a:moveTo>
                  <a:lnTo>
                    <a:pt x="1294880" y="0"/>
                  </a:lnTo>
                  <a:lnTo>
                    <a:pt x="1294880" y="269365"/>
                  </a:lnTo>
                  <a:lnTo>
                    <a:pt x="0" y="269365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28575"/>
              <a:ext cx="1294880" cy="2979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여기서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"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지금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내가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플레이어랑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얼마나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떨어져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있지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?"를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판단하고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세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중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하나를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골라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실행한다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447802" y="2608884"/>
            <a:ext cx="5380209" cy="1131240"/>
            <a:chOff x="-22482" y="-28575"/>
            <a:chExt cx="1417010" cy="29794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1394528" cy="269365"/>
            </a:xfrm>
            <a:custGeom>
              <a:avLst/>
              <a:gdLst/>
              <a:ahLst/>
              <a:cxnLst/>
              <a:rect l="l" t="t" r="r" b="b"/>
              <a:pathLst>
                <a:path w="1394528" h="269365">
                  <a:moveTo>
                    <a:pt x="0" y="0"/>
                  </a:moveTo>
                  <a:lnTo>
                    <a:pt x="1394528" y="0"/>
                  </a:lnTo>
                  <a:lnTo>
                    <a:pt x="1394528" y="269365"/>
                  </a:lnTo>
                  <a:lnTo>
                    <a:pt x="0" y="269365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-22482" y="-28575"/>
              <a:ext cx="1417010" cy="2979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전투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브랜치에서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적이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없거나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탐험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중일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때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들어오는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입구이다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전체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하나의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덩어리로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묶어주는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역할을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</p:txBody>
        </p:sp>
      </p:grpSp>
      <p:sp>
        <p:nvSpPr>
          <p:cNvPr id="74" name="AutoShape 74"/>
          <p:cNvSpPr/>
          <p:nvPr/>
        </p:nvSpPr>
        <p:spPr>
          <a:xfrm flipV="1">
            <a:off x="6828011" y="3199238"/>
            <a:ext cx="499859" cy="29514"/>
          </a:xfrm>
          <a:prstGeom prst="line">
            <a:avLst/>
          </a:prstGeom>
          <a:ln w="38100" cap="flat">
            <a:solidFill>
              <a:schemeClr val="bg2">
                <a:lumMod val="75000"/>
              </a:schemeClr>
            </a:solidFill>
            <a:prstDash val="sysDot"/>
            <a:headEnd type="arrow" w="med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75" name="AutoShape 75"/>
          <p:cNvSpPr/>
          <p:nvPr/>
        </p:nvSpPr>
        <p:spPr>
          <a:xfrm flipV="1">
            <a:off x="10337826" y="3850985"/>
            <a:ext cx="848763" cy="636865"/>
          </a:xfrm>
          <a:prstGeom prst="line">
            <a:avLst/>
          </a:prstGeom>
          <a:ln w="38100" cap="flat">
            <a:solidFill>
              <a:schemeClr val="bg2">
                <a:lumMod val="75000"/>
              </a:schemeClr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76" name="TextBox 76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22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83" name="AutoShape 10">
            <a:extLst>
              <a:ext uri="{FF2B5EF4-FFF2-40B4-BE49-F238E27FC236}">
                <a16:creationId xmlns:a16="http://schemas.microsoft.com/office/drawing/2014/main" id="{97CF6010-1351-3B3D-F5F6-5D8A111422CF}"/>
              </a:ext>
            </a:extLst>
          </p:cNvPr>
          <p:cNvSpPr/>
          <p:nvPr/>
        </p:nvSpPr>
        <p:spPr>
          <a:xfrm>
            <a:off x="7327870" y="2090783"/>
            <a:ext cx="1467091" cy="566431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>
              <a:ln>
                <a:solidFill>
                  <a:srgbClr val="282828"/>
                </a:solidFill>
              </a:ln>
            </a:endParaRPr>
          </a:p>
        </p:txBody>
      </p:sp>
      <p:grpSp>
        <p:nvGrpSpPr>
          <p:cNvPr id="84" name="Group 4">
            <a:extLst>
              <a:ext uri="{FF2B5EF4-FFF2-40B4-BE49-F238E27FC236}">
                <a16:creationId xmlns:a16="http://schemas.microsoft.com/office/drawing/2014/main" id="{78D30FEC-6CB4-0402-1780-138C5C7A04CA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85" name="Freeform 5">
              <a:extLst>
                <a:ext uri="{FF2B5EF4-FFF2-40B4-BE49-F238E27FC236}">
                  <a16:creationId xmlns:a16="http://schemas.microsoft.com/office/drawing/2014/main" id="{DAE89848-53E7-F4A0-E456-5A5989221D7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43F1CD14-BEBD-BB57-CE16-33AD8987F9D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7" name="TextBox 86">
            <a:extLst>
              <a:ext uri="{FF2B5EF4-FFF2-40B4-BE49-F238E27FC236}">
                <a16:creationId xmlns:a16="http://schemas.microsoft.com/office/drawing/2014/main" id="{0552F4CB-F7AD-641E-2D47-D55A4DEBBACA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[Follow]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252101" y="4129711"/>
            <a:ext cx="3085725" cy="716280"/>
            <a:chOff x="0" y="0"/>
            <a:chExt cx="812800" cy="18867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88673"/>
            </a:xfrm>
            <a:custGeom>
              <a:avLst/>
              <a:gdLst/>
              <a:ahLst/>
              <a:cxnLst/>
              <a:rect l="l" t="t" r="r" b="b"/>
              <a:pathLst>
                <a:path w="812800" h="18867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151039"/>
                  </a:lnTo>
                  <a:cubicBezTo>
                    <a:pt x="812800" y="161020"/>
                    <a:pt x="808835" y="170592"/>
                    <a:pt x="801777" y="177650"/>
                  </a:cubicBezTo>
                  <a:cubicBezTo>
                    <a:pt x="794719" y="184708"/>
                    <a:pt x="785147" y="188673"/>
                    <a:pt x="775166" y="188673"/>
                  </a:cubicBezTo>
                  <a:lnTo>
                    <a:pt x="37634" y="188673"/>
                  </a:lnTo>
                  <a:cubicBezTo>
                    <a:pt x="16849" y="188673"/>
                    <a:pt x="0" y="171823"/>
                    <a:pt x="0" y="15103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8794964" y="3800293"/>
            <a:ext cx="0" cy="32941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666445" y="5035018"/>
            <a:ext cx="3085725" cy="1486753"/>
            <a:chOff x="0" y="-144643"/>
            <a:chExt cx="4114300" cy="1982338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28575"/>
                <a:ext cx="812800" cy="347978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700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7252101" y="5143500"/>
            <a:ext cx="3085725" cy="1378271"/>
            <a:chOff x="0" y="0"/>
            <a:chExt cx="4114300" cy="1837695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0"/>
              <a:ext cx="4114300" cy="1837695"/>
              <a:chOff x="0" y="0"/>
              <a:chExt cx="812800" cy="36304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28575"/>
                <a:ext cx="812800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200</a:t>
                </a:r>
              </a:p>
            </p:txBody>
          </p:sp>
        </p:grpSp>
      </p:grpSp>
      <p:grpSp>
        <p:nvGrpSpPr>
          <p:cNvPr id="26" name="Group 26"/>
          <p:cNvGrpSpPr/>
          <p:nvPr/>
        </p:nvGrpSpPr>
        <p:grpSpPr>
          <a:xfrm>
            <a:off x="12833376" y="5143500"/>
            <a:ext cx="3085725" cy="1378271"/>
            <a:chOff x="0" y="0"/>
            <a:chExt cx="4114300" cy="1837695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0"/>
              <a:ext cx="4114300" cy="1837695"/>
              <a:chOff x="0" y="0"/>
              <a:chExt cx="812800" cy="36304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2800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&lt;= 200</a:t>
                </a:r>
              </a:p>
            </p:txBody>
          </p:sp>
        </p:grpSp>
      </p:grpSp>
      <p:sp>
        <p:nvSpPr>
          <p:cNvPr id="33" name="AutoShape 33"/>
          <p:cNvSpPr/>
          <p:nvPr/>
        </p:nvSpPr>
        <p:spPr>
          <a:xfrm>
            <a:off x="8794964" y="4845991"/>
            <a:ext cx="0" cy="29750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4" name="AutoShape 34"/>
          <p:cNvSpPr/>
          <p:nvPr/>
        </p:nvSpPr>
        <p:spPr>
          <a:xfrm flipH="1">
            <a:off x="3301338" y="4487851"/>
            <a:ext cx="3950763" cy="69558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5" name="AutoShape 35"/>
          <p:cNvSpPr/>
          <p:nvPr/>
        </p:nvSpPr>
        <p:spPr>
          <a:xfrm flipH="1">
            <a:off x="3209307" y="6521771"/>
            <a:ext cx="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AutoShape 36"/>
          <p:cNvSpPr/>
          <p:nvPr/>
        </p:nvSpPr>
        <p:spPr>
          <a:xfrm flipH="1">
            <a:off x="14320986" y="6521771"/>
            <a:ext cx="55253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 flipH="1">
            <a:off x="6912148" y="6521771"/>
            <a:ext cx="183689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10337826" y="4487851"/>
            <a:ext cx="4079315" cy="65564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39" name="Group 39"/>
          <p:cNvGrpSpPr/>
          <p:nvPr/>
        </p:nvGrpSpPr>
        <p:grpSpPr>
          <a:xfrm>
            <a:off x="1666445" y="6903056"/>
            <a:ext cx="3085725" cy="838988"/>
            <a:chOff x="0" y="0"/>
            <a:chExt cx="4114300" cy="111865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369286" y="6903056"/>
            <a:ext cx="3085725" cy="838988"/>
            <a:chOff x="0" y="0"/>
            <a:chExt cx="4114300" cy="1118651"/>
          </a:xfrm>
        </p:grpSpPr>
        <p:grpSp>
          <p:nvGrpSpPr>
            <p:cNvPr id="47" name="Group 47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9134917" y="6903056"/>
            <a:ext cx="3085725" cy="838988"/>
            <a:chOff x="0" y="0"/>
            <a:chExt cx="4114300" cy="1118651"/>
          </a:xfrm>
        </p:grpSpPr>
        <p:grpSp>
          <p:nvGrpSpPr>
            <p:cNvPr id="54" name="Group 54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12833376" y="6903056"/>
            <a:ext cx="3085725" cy="838988"/>
            <a:chOff x="0" y="0"/>
            <a:chExt cx="4114300" cy="1118651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104775"/>
                <a:ext cx="734698" cy="2536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Idle</a:t>
                </a:r>
              </a:p>
            </p:txBody>
          </p:sp>
        </p:grpSp>
      </p:grpSp>
      <p:sp>
        <p:nvSpPr>
          <p:cNvPr id="67" name="AutoShape 67"/>
          <p:cNvSpPr/>
          <p:nvPr/>
        </p:nvSpPr>
        <p:spPr>
          <a:xfrm>
            <a:off x="8829859" y="6521771"/>
            <a:ext cx="1847921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5369286" y="5615276"/>
            <a:ext cx="9691893" cy="12877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8" name="Group 68"/>
          <p:cNvGrpSpPr/>
          <p:nvPr/>
        </p:nvGrpSpPr>
        <p:grpSpPr>
          <a:xfrm>
            <a:off x="5369286" y="5506780"/>
            <a:ext cx="9814487" cy="1396276"/>
            <a:chOff x="0" y="-28575"/>
            <a:chExt cx="2584885" cy="367743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2552597" cy="339168"/>
            </a:xfrm>
            <a:custGeom>
              <a:avLst/>
              <a:gdLst/>
              <a:ahLst/>
              <a:cxnLst/>
              <a:rect l="l" t="t" r="r" b="b"/>
              <a:pathLst>
                <a:path w="2552597" h="339168">
                  <a:moveTo>
                    <a:pt x="0" y="0"/>
                  </a:moveTo>
                  <a:lnTo>
                    <a:pt x="2552597" y="0"/>
                  </a:lnTo>
                  <a:lnTo>
                    <a:pt x="2552597" y="339168"/>
                  </a:lnTo>
                  <a:lnTo>
                    <a:pt x="0" y="33916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32288" y="-28575"/>
              <a:ext cx="2552597" cy="3677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[Sequence] 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거리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&gt; 7m) → Task: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WarpToPlayer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플레이어가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절벽을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뛰어넘거나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너무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멀리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갔을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때이다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(+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끼임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및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버그로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인해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멀어진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상황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기획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의도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맵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미아가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되는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것을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방지하는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‘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강제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복귀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’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안전장치이다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가장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중요하므로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가장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왼쪽에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둡니다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23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78" name="Group 4">
            <a:extLst>
              <a:ext uri="{FF2B5EF4-FFF2-40B4-BE49-F238E27FC236}">
                <a16:creationId xmlns:a16="http://schemas.microsoft.com/office/drawing/2014/main" id="{5892A922-EF42-3E24-4B4F-327E6FBF0B44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79" name="Freeform 5">
              <a:extLst>
                <a:ext uri="{FF2B5EF4-FFF2-40B4-BE49-F238E27FC236}">
                  <a16:creationId xmlns:a16="http://schemas.microsoft.com/office/drawing/2014/main" id="{67352708-F03B-000B-F575-3D1C64E4F40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4EE6B53-A051-E774-041F-C2D20C401EB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38397D22-F089-7A49-0025-880190F3C61D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4" name="AutoShape 10">
            <a:extLst>
              <a:ext uri="{FF2B5EF4-FFF2-40B4-BE49-F238E27FC236}">
                <a16:creationId xmlns:a16="http://schemas.microsoft.com/office/drawing/2014/main" id="{C3182CD6-39CC-9D89-061C-C315226388BE}"/>
              </a:ext>
            </a:extLst>
          </p:cNvPr>
          <p:cNvSpPr/>
          <p:nvPr/>
        </p:nvSpPr>
        <p:spPr>
          <a:xfrm>
            <a:off x="7327870" y="2090783"/>
            <a:ext cx="1467091" cy="566431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>
              <a:ln>
                <a:solidFill>
                  <a:srgbClr val="282828"/>
                </a:solidFill>
              </a:ln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[Follow]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252101" y="4129711"/>
            <a:ext cx="3085725" cy="716280"/>
            <a:chOff x="0" y="0"/>
            <a:chExt cx="812800" cy="18867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88673"/>
            </a:xfrm>
            <a:custGeom>
              <a:avLst/>
              <a:gdLst/>
              <a:ahLst/>
              <a:cxnLst/>
              <a:rect l="l" t="t" r="r" b="b"/>
              <a:pathLst>
                <a:path w="812800" h="18867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151039"/>
                  </a:lnTo>
                  <a:cubicBezTo>
                    <a:pt x="812800" y="161020"/>
                    <a:pt x="808835" y="170592"/>
                    <a:pt x="801777" y="177650"/>
                  </a:cubicBezTo>
                  <a:cubicBezTo>
                    <a:pt x="794719" y="184708"/>
                    <a:pt x="785147" y="188673"/>
                    <a:pt x="775166" y="188673"/>
                  </a:cubicBezTo>
                  <a:lnTo>
                    <a:pt x="37634" y="188673"/>
                  </a:lnTo>
                  <a:cubicBezTo>
                    <a:pt x="16849" y="188673"/>
                    <a:pt x="0" y="171823"/>
                    <a:pt x="0" y="15103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8794964" y="3800293"/>
            <a:ext cx="0" cy="32941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666445" y="5035018"/>
            <a:ext cx="3085725" cy="1486753"/>
            <a:chOff x="0" y="-144643"/>
            <a:chExt cx="4114300" cy="1982338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28575"/>
                <a:ext cx="812800" cy="33921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700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7252101" y="5035018"/>
            <a:ext cx="3085725" cy="1486753"/>
            <a:chOff x="0" y="-144643"/>
            <a:chExt cx="4114300" cy="1982338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28575"/>
                <a:ext cx="812800" cy="3613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200</a:t>
                </a:r>
              </a:p>
            </p:txBody>
          </p:sp>
        </p:grpSp>
      </p:grpSp>
      <p:grpSp>
        <p:nvGrpSpPr>
          <p:cNvPr id="26" name="Group 26"/>
          <p:cNvGrpSpPr/>
          <p:nvPr/>
        </p:nvGrpSpPr>
        <p:grpSpPr>
          <a:xfrm>
            <a:off x="12833376" y="5035018"/>
            <a:ext cx="3085725" cy="1486753"/>
            <a:chOff x="0" y="-144643"/>
            <a:chExt cx="4114300" cy="1982338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2800" cy="3613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104775"/>
                <a:ext cx="734698" cy="1956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&lt;= 200</a:t>
                </a:r>
              </a:p>
            </p:txBody>
          </p:sp>
        </p:grpSp>
      </p:grpSp>
      <p:sp>
        <p:nvSpPr>
          <p:cNvPr id="33" name="AutoShape 33"/>
          <p:cNvSpPr/>
          <p:nvPr/>
        </p:nvSpPr>
        <p:spPr>
          <a:xfrm>
            <a:off x="8794964" y="4845991"/>
            <a:ext cx="0" cy="29750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4" name="AutoShape 34"/>
          <p:cNvSpPr/>
          <p:nvPr/>
        </p:nvSpPr>
        <p:spPr>
          <a:xfrm flipH="1">
            <a:off x="3301338" y="4487851"/>
            <a:ext cx="3950763" cy="69558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5" name="AutoShape 35"/>
          <p:cNvSpPr/>
          <p:nvPr/>
        </p:nvSpPr>
        <p:spPr>
          <a:xfrm flipH="1">
            <a:off x="3209307" y="6521771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6" name="AutoShape 36"/>
          <p:cNvSpPr/>
          <p:nvPr/>
        </p:nvSpPr>
        <p:spPr>
          <a:xfrm flipH="1">
            <a:off x="14376237" y="6521771"/>
            <a:ext cx="1" cy="43228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AutoShape 37"/>
          <p:cNvSpPr/>
          <p:nvPr/>
        </p:nvSpPr>
        <p:spPr>
          <a:xfrm flipH="1">
            <a:off x="6912148" y="6521771"/>
            <a:ext cx="183689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10337826" y="4487851"/>
            <a:ext cx="4079315" cy="65564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39" name="Group 39"/>
          <p:cNvGrpSpPr/>
          <p:nvPr/>
        </p:nvGrpSpPr>
        <p:grpSpPr>
          <a:xfrm>
            <a:off x="1666445" y="6903056"/>
            <a:ext cx="3085725" cy="838988"/>
            <a:chOff x="0" y="0"/>
            <a:chExt cx="4114300" cy="111865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369286" y="6903056"/>
            <a:ext cx="3085725" cy="838988"/>
            <a:chOff x="0" y="0"/>
            <a:chExt cx="4114300" cy="1118651"/>
          </a:xfrm>
        </p:grpSpPr>
        <p:grpSp>
          <p:nvGrpSpPr>
            <p:cNvPr id="47" name="Group 47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9134917" y="6903056"/>
            <a:ext cx="3085725" cy="838988"/>
            <a:chOff x="0" y="0"/>
            <a:chExt cx="4114300" cy="1118651"/>
          </a:xfrm>
        </p:grpSpPr>
        <p:grpSp>
          <p:nvGrpSpPr>
            <p:cNvPr id="54" name="Group 54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12833376" y="6903056"/>
            <a:ext cx="3085725" cy="838988"/>
            <a:chOff x="0" y="0"/>
            <a:chExt cx="4114300" cy="1118651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Idle</a:t>
                </a:r>
              </a:p>
            </p:txBody>
          </p:sp>
        </p:grpSp>
      </p:grpSp>
      <p:sp>
        <p:nvSpPr>
          <p:cNvPr id="67" name="AutoShape 67"/>
          <p:cNvSpPr/>
          <p:nvPr/>
        </p:nvSpPr>
        <p:spPr>
          <a:xfrm>
            <a:off x="8829859" y="6521771"/>
            <a:ext cx="1847921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949017" y="3558211"/>
            <a:ext cx="9691893" cy="12877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8" name="Group 68"/>
          <p:cNvGrpSpPr/>
          <p:nvPr/>
        </p:nvGrpSpPr>
        <p:grpSpPr>
          <a:xfrm>
            <a:off x="3949017" y="3449715"/>
            <a:ext cx="9783922" cy="1396276"/>
            <a:chOff x="0" y="-28575"/>
            <a:chExt cx="2576835" cy="367743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2552597" cy="339168"/>
            </a:xfrm>
            <a:custGeom>
              <a:avLst/>
              <a:gdLst/>
              <a:ahLst/>
              <a:cxnLst/>
              <a:rect l="l" t="t" r="r" b="b"/>
              <a:pathLst>
                <a:path w="2552597" h="339168">
                  <a:moveTo>
                    <a:pt x="0" y="0"/>
                  </a:moveTo>
                  <a:lnTo>
                    <a:pt x="2552597" y="0"/>
                  </a:lnTo>
                  <a:lnTo>
                    <a:pt x="2552597" y="339168"/>
                  </a:lnTo>
                  <a:lnTo>
                    <a:pt x="0" y="33916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24238" y="-28575"/>
              <a:ext cx="2552597" cy="3677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[Sequence] 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거리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&gt; 2m) → Task: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UpdateSpeed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&amp;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MoveTo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“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조금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멀어졌네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?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빨리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따라가야지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”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하는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상태이다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기획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의도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UpdateSpeed를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통해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달리기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속도로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변경하고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플레이어의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2m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반경까지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신속하게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이동한다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24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78" name="Group 4">
            <a:extLst>
              <a:ext uri="{FF2B5EF4-FFF2-40B4-BE49-F238E27FC236}">
                <a16:creationId xmlns:a16="http://schemas.microsoft.com/office/drawing/2014/main" id="{F28A24A2-574D-DB3A-591D-8506DD9DED7A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79" name="Freeform 5">
              <a:extLst>
                <a:ext uri="{FF2B5EF4-FFF2-40B4-BE49-F238E27FC236}">
                  <a16:creationId xmlns:a16="http://schemas.microsoft.com/office/drawing/2014/main" id="{FC4CD846-C1A4-D919-F250-5BDD629F2F8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47C1C85-A201-770E-AF98-FCFBF599E4F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089343E8-73C6-0B4E-9B96-E81FE6BA437E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4" name="AutoShape 10">
            <a:extLst>
              <a:ext uri="{FF2B5EF4-FFF2-40B4-BE49-F238E27FC236}">
                <a16:creationId xmlns:a16="http://schemas.microsoft.com/office/drawing/2014/main" id="{0A190669-28BA-8543-937A-FF3FADE0A2CC}"/>
              </a:ext>
            </a:extLst>
          </p:cNvPr>
          <p:cNvSpPr/>
          <p:nvPr/>
        </p:nvSpPr>
        <p:spPr>
          <a:xfrm>
            <a:off x="7327870" y="2090783"/>
            <a:ext cx="1467091" cy="566431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>
              <a:ln>
                <a:solidFill>
                  <a:srgbClr val="282828"/>
                </a:solidFill>
              </a:ln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[Follow]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252101" y="4129711"/>
            <a:ext cx="3085725" cy="716280"/>
            <a:chOff x="0" y="0"/>
            <a:chExt cx="812800" cy="18867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88673"/>
            </a:xfrm>
            <a:custGeom>
              <a:avLst/>
              <a:gdLst/>
              <a:ahLst/>
              <a:cxnLst/>
              <a:rect l="l" t="t" r="r" b="b"/>
              <a:pathLst>
                <a:path w="812800" h="18867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151039"/>
                  </a:lnTo>
                  <a:cubicBezTo>
                    <a:pt x="812800" y="161020"/>
                    <a:pt x="808835" y="170592"/>
                    <a:pt x="801777" y="177650"/>
                  </a:cubicBezTo>
                  <a:cubicBezTo>
                    <a:pt x="794719" y="184708"/>
                    <a:pt x="785147" y="188673"/>
                    <a:pt x="775166" y="188673"/>
                  </a:cubicBezTo>
                  <a:lnTo>
                    <a:pt x="37634" y="188673"/>
                  </a:lnTo>
                  <a:cubicBezTo>
                    <a:pt x="16849" y="188673"/>
                    <a:pt x="0" y="171823"/>
                    <a:pt x="0" y="15103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8794964" y="3800293"/>
            <a:ext cx="0" cy="32941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666445" y="5143500"/>
            <a:ext cx="3085725" cy="1378271"/>
            <a:chOff x="0" y="0"/>
            <a:chExt cx="4114300" cy="1837695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4114300" cy="1837695"/>
              <a:chOff x="0" y="0"/>
              <a:chExt cx="812800" cy="363046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28575"/>
                <a:ext cx="812800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700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7252101" y="5143500"/>
            <a:ext cx="3085725" cy="1378271"/>
            <a:chOff x="0" y="0"/>
            <a:chExt cx="4114300" cy="1837695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0"/>
              <a:ext cx="4114300" cy="1837695"/>
              <a:chOff x="0" y="0"/>
              <a:chExt cx="812800" cy="36304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28575"/>
                <a:ext cx="812800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200</a:t>
                </a:r>
              </a:p>
            </p:txBody>
          </p:sp>
        </p:grpSp>
      </p:grpSp>
      <p:grpSp>
        <p:nvGrpSpPr>
          <p:cNvPr id="26" name="Group 26"/>
          <p:cNvGrpSpPr/>
          <p:nvPr/>
        </p:nvGrpSpPr>
        <p:grpSpPr>
          <a:xfrm>
            <a:off x="12833376" y="5035018"/>
            <a:ext cx="3085725" cy="1486753"/>
            <a:chOff x="0" y="-144643"/>
            <a:chExt cx="4114300" cy="1982338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1646" cy="3613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104775"/>
                <a:ext cx="731599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&lt;= 200</a:t>
                </a:r>
              </a:p>
            </p:txBody>
          </p:sp>
        </p:grpSp>
      </p:grpSp>
      <p:sp>
        <p:nvSpPr>
          <p:cNvPr id="33" name="AutoShape 33"/>
          <p:cNvSpPr/>
          <p:nvPr/>
        </p:nvSpPr>
        <p:spPr>
          <a:xfrm>
            <a:off x="8794964" y="4845991"/>
            <a:ext cx="0" cy="29750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4" name="AutoShape 34"/>
          <p:cNvSpPr/>
          <p:nvPr/>
        </p:nvSpPr>
        <p:spPr>
          <a:xfrm flipH="1">
            <a:off x="3301338" y="4487851"/>
            <a:ext cx="3950763" cy="69558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5" name="AutoShape 35"/>
          <p:cNvSpPr/>
          <p:nvPr/>
        </p:nvSpPr>
        <p:spPr>
          <a:xfrm flipH="1">
            <a:off x="3209307" y="6521771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AutoShape 36"/>
          <p:cNvSpPr/>
          <p:nvPr/>
        </p:nvSpPr>
        <p:spPr>
          <a:xfrm>
            <a:off x="14376238" y="6521771"/>
            <a:ext cx="4381" cy="397817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 flipH="1">
            <a:off x="6912148" y="6521771"/>
            <a:ext cx="183689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10337826" y="4487851"/>
            <a:ext cx="4079315" cy="65564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39" name="Group 39"/>
          <p:cNvGrpSpPr/>
          <p:nvPr/>
        </p:nvGrpSpPr>
        <p:grpSpPr>
          <a:xfrm>
            <a:off x="1666445" y="6903056"/>
            <a:ext cx="3085725" cy="838988"/>
            <a:chOff x="0" y="0"/>
            <a:chExt cx="4114300" cy="111865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369286" y="6903056"/>
            <a:ext cx="3085725" cy="838988"/>
            <a:chOff x="0" y="0"/>
            <a:chExt cx="4114300" cy="1118651"/>
          </a:xfrm>
        </p:grpSpPr>
        <p:grpSp>
          <p:nvGrpSpPr>
            <p:cNvPr id="47" name="Group 47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9134917" y="6903056"/>
            <a:ext cx="3085725" cy="838988"/>
            <a:chOff x="0" y="0"/>
            <a:chExt cx="4114300" cy="1118651"/>
          </a:xfrm>
        </p:grpSpPr>
        <p:grpSp>
          <p:nvGrpSpPr>
            <p:cNvPr id="54" name="Group 54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12833376" y="6903056"/>
            <a:ext cx="3085725" cy="838988"/>
            <a:chOff x="0" y="0"/>
            <a:chExt cx="4114300" cy="1118651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Idle</a:t>
                </a:r>
              </a:p>
            </p:txBody>
          </p:sp>
        </p:grpSp>
      </p:grpSp>
      <p:sp>
        <p:nvSpPr>
          <p:cNvPr id="67" name="AutoShape 67"/>
          <p:cNvSpPr/>
          <p:nvPr/>
        </p:nvSpPr>
        <p:spPr>
          <a:xfrm>
            <a:off x="8829859" y="6521771"/>
            <a:ext cx="1847921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2528749" y="5615276"/>
            <a:ext cx="9691893" cy="12877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8" name="Group 68"/>
          <p:cNvGrpSpPr/>
          <p:nvPr/>
        </p:nvGrpSpPr>
        <p:grpSpPr>
          <a:xfrm>
            <a:off x="2528749" y="5615276"/>
            <a:ext cx="9691893" cy="1287780"/>
            <a:chOff x="0" y="0"/>
            <a:chExt cx="2552597" cy="339168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2552597" cy="339168"/>
            </a:xfrm>
            <a:custGeom>
              <a:avLst/>
              <a:gdLst/>
              <a:ahLst/>
              <a:cxnLst/>
              <a:rect l="l" t="t" r="r" b="b"/>
              <a:pathLst>
                <a:path w="2552597" h="339168">
                  <a:moveTo>
                    <a:pt x="0" y="0"/>
                  </a:moveTo>
                  <a:lnTo>
                    <a:pt x="2552597" y="0"/>
                  </a:lnTo>
                  <a:lnTo>
                    <a:pt x="2552597" y="339168"/>
                  </a:lnTo>
                  <a:lnTo>
                    <a:pt x="0" y="33916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28575"/>
              <a:ext cx="2552597" cy="3677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[Sequence] (거리 ≤ 2m) → Task: Idle / MaintainPosition</a:t>
              </a:r>
            </a:p>
            <a:p>
              <a:pPr marL="323850" lvl="1" indent="-161925" algn="l">
                <a:lnSpc>
                  <a:spcPts val="2100"/>
                </a:lnSpc>
                <a:buFont typeface="Arial"/>
                <a:buChar char="•"/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 : “딱 좋은 거리네” 하는 기본값 상태이다.</a:t>
              </a:r>
            </a:p>
            <a:p>
              <a:pPr marL="323850" lvl="1" indent="-161925" algn="l">
                <a:lnSpc>
                  <a:spcPts val="2100"/>
                </a:lnSpc>
                <a:buFont typeface="Arial"/>
                <a:buChar char="•"/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기획 의도 : 플레이어와 겹치지 않게 멈춰서서 다음 명령이나 적의 등장을 기다리는 안정적인 상태이다.</a:t>
              </a: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25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78" name="Group 4">
            <a:extLst>
              <a:ext uri="{FF2B5EF4-FFF2-40B4-BE49-F238E27FC236}">
                <a16:creationId xmlns:a16="http://schemas.microsoft.com/office/drawing/2014/main" id="{C7FB673C-01F3-5F52-156A-86184F50A852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79" name="Freeform 5">
              <a:extLst>
                <a:ext uri="{FF2B5EF4-FFF2-40B4-BE49-F238E27FC236}">
                  <a16:creationId xmlns:a16="http://schemas.microsoft.com/office/drawing/2014/main" id="{AC3E1C36-37A7-45BB-AF4D-6C29DAB528C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2E8E753-8ACA-DDE5-1725-6E4FA744332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BDFAAC7D-376B-7E4B-6A8C-3191F82A2D64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4" name="AutoShape 10">
            <a:extLst>
              <a:ext uri="{FF2B5EF4-FFF2-40B4-BE49-F238E27FC236}">
                <a16:creationId xmlns:a16="http://schemas.microsoft.com/office/drawing/2014/main" id="{97439002-B794-2E9F-B172-B8297D6B4118}"/>
              </a:ext>
            </a:extLst>
          </p:cNvPr>
          <p:cNvSpPr/>
          <p:nvPr/>
        </p:nvSpPr>
        <p:spPr>
          <a:xfrm>
            <a:off x="7327870" y="2090783"/>
            <a:ext cx="1467091" cy="566431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>
              <a:ln>
                <a:solidFill>
                  <a:srgbClr val="282828"/>
                </a:solidFill>
              </a:ln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n04_예외처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7399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26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680FB5C-B244-6DAA-8458-F8FAAF3F5E7E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B509B5-78B4-35AF-F2DF-4E8B25B4594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A17763F-8B13-0585-27F9-6DF63B50874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A849FAC-59DE-8F24-25E7-9070C5D7E042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8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24E28AA4-D67A-4755-0DA2-34F21D5CEE75}"/>
              </a:ext>
            </a:extLst>
          </p:cNvPr>
          <p:cNvCxnSpPr>
            <a:cxnSpLocks/>
          </p:cNvCxnSpPr>
          <p:nvPr/>
        </p:nvCxnSpPr>
        <p:spPr>
          <a:xfrm>
            <a:off x="17399000" y="2781300"/>
            <a:ext cx="0" cy="495300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028700" y="2456925"/>
          <a:ext cx="16230599" cy="3817619"/>
        </p:xfrm>
        <a:graphic>
          <a:graphicData uri="http://schemas.openxmlformats.org/drawingml/2006/table">
            <a:tbl>
              <a:tblPr/>
              <a:tblGrid>
                <a:gridCol w="23186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349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구분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루이 (근접 DPS)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야쿠모 (탱커)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미아 (사격 지원)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이오 (최종 지원)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잭 (암살자)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에바 (원거리 마법)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2684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Stamina &lt; X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40 (공격 중심)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75 (가드용 비축)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50 (표준)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60 (부활용 비축)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30 (극공격형)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55 (캐스팅용)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49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Approach Speed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750 (신속)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500 (묵직)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600 (적당)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550 (밀착)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850 (최고속)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550 (적당)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49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Strafe Speed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400 (회피 위주)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200 (방어적)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350 (거리 유지)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300 (근접 유지)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450 (고기동)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300 (위치 선정)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49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InRange (Skill)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100 ~ 300 (초근접)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200 ~ 500 (근접)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800 ~ 1500 (원거리)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200 ~ 1000 (유연)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100 ~ 250 (밀착)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600 ~ 1800 (장거리)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49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Skill Chance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55% (콤보 위주)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35% (신중한 한방)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45% (사격 위주)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50% (버프/힐)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60% (몰아치기)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65% (마법 난사)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동행자별 설정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028700" y="6274543"/>
            <a:ext cx="16230600" cy="3093363"/>
            <a:chOff x="0" y="-88855"/>
            <a:chExt cx="4274726" cy="81471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274726" cy="700413"/>
            </a:xfrm>
            <a:custGeom>
              <a:avLst/>
              <a:gdLst/>
              <a:ahLst/>
              <a:cxnLst/>
              <a:rect l="l" t="t" r="r" b="b"/>
              <a:pathLst>
                <a:path w="4274726" h="700413">
                  <a:moveTo>
                    <a:pt x="0" y="0"/>
                  </a:moveTo>
                  <a:lnTo>
                    <a:pt x="4274726" y="0"/>
                  </a:lnTo>
                  <a:lnTo>
                    <a:pt x="4274726" y="700413"/>
                  </a:lnTo>
                  <a:lnTo>
                    <a:pt x="0" y="700413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88855"/>
              <a:ext cx="4274726" cy="8147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루이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(Louis):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스테미나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임계값이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낮아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끝까지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퍼붓는다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Approach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Speed가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빨라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적의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빈틈을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파고드는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능력이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탁월하다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야쿠모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(Yakumo):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스테미나를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항상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70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이상으로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높게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관리한다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이는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적의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가드하거나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무거운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대검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스킬을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즉시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쓰기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위한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고증이다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미아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(Mia):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사거리가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가장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길다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적이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다가오면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브랜치를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이탈해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뒤로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회피하는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강하게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작동한다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이오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(Io):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모든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수치가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안정적이다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항상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여유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있게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남겨두는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이유는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플레이어가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쓰러졌을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때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즉시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HP를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나눠주는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연혈을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쓰기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위함이다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잭 (Jack):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모든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중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가장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호전적이다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30이 될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때까지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멈추지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않으며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가장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빠른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속도로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적의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뒤를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노린다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에바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(Eva):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평타보다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마법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연혈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비중이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압도적이다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 Skill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가장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높으며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아주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먼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거리에서도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강력한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원거리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마법을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투사한다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27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1D6676F9-705B-CC19-7BD8-663C89A49F67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194B4978-EAB4-C229-D145-032E528F69C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63ACBA9-A448-3B23-6D6B-2416ECCA51B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99F0D72-570B-8B4D-0CB3-A6A455262DDB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8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n05_우선순위근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669" y="197215"/>
            <a:ext cx="17613340" cy="100897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28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F01D40E-B404-0614-DB68-97C9A134949B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A47D844C-97B4-298C-EC56-DC7F34A4C32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E949B55-136B-4D15-367D-FEFE140D27E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E0AECA1-20D6-94D3-BCBF-92B2AE3A21C9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8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06_Command_브랜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35" y="234853"/>
            <a:ext cx="17456727" cy="960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29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BE5710D-8655-BF7F-2A14-A95688299FC7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14A2084-5952-F126-63B0-59F1E64F1D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61670E2-79FD-D5FC-74BF-AE06CAB95D0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4AD649C-9CF4-E66C-912F-31C9B455747C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8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07_파라미터_주입구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8200"/>
            <a:ext cx="18288000" cy="8610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3</a:t>
            </a:r>
            <a:r>
              <a:rPr lang="en-US" sz="1500" dirty="0">
                <a:solidFill>
                  <a:srgbClr val="999999"/>
                </a:solidFill>
                <a:latin typeface="Noto Sans KR"/>
              </a:rPr>
              <a:t>0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AEA98CD-73C8-7F2F-9280-9F3B27D94DAC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B051893A-91AB-8660-315C-3B881EA6573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1F31ED3-0D19-66FF-8092-32036B7564D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3F132A7-1DAA-BDDA-4AF4-A22F5843A371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8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1353801" y="6577470"/>
            <a:ext cx="7198838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467668" y="6830237"/>
            <a:ext cx="6502862" cy="213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79"/>
              </a:lnSpc>
            </a:pPr>
            <a:r>
              <a:rPr lang="en-US" altLang="ko-KR" sz="2325" spc="116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김태윤</a:t>
            </a:r>
            <a:endParaRPr lang="en-US" sz="2325" spc="116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r">
              <a:lnSpc>
                <a:spcPts val="4279"/>
              </a:lnSpc>
            </a:pPr>
            <a:r>
              <a:rPr lang="en-US" sz="2325" spc="116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010-5750-7113</a:t>
            </a:r>
          </a:p>
          <a:p>
            <a:pPr algn="r">
              <a:lnSpc>
                <a:spcPts val="4279"/>
              </a:lnSpc>
            </a:pPr>
            <a:r>
              <a:rPr lang="en-US" sz="2325" spc="116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0518tune@gmail.com</a:t>
            </a:r>
          </a:p>
          <a:p>
            <a:pPr algn="r">
              <a:lnSpc>
                <a:spcPts val="4279"/>
              </a:lnSpc>
            </a:pPr>
            <a:endParaRPr lang="en-US" sz="2325" spc="116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060398" y="2366777"/>
            <a:ext cx="5317403" cy="1026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626"/>
              </a:lnSpc>
            </a:pPr>
            <a:r>
              <a:rPr lang="en-US" sz="8283" spc="-579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감사합니다.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31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2328</Words>
  <Application>Microsoft Office PowerPoint</Application>
  <PresentationFormat>사용자 지정</PresentationFormat>
  <Paragraphs>584</Paragraphs>
  <Slides>31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7" baseType="lpstr">
      <vt:lpstr>Calibri</vt:lpstr>
      <vt:lpstr>NanumGothic</vt:lpstr>
      <vt:lpstr>맑은 고딕</vt:lpstr>
      <vt:lpstr>Arial</vt:lpstr>
      <vt:lpstr>Noto Sans Kr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동행자 BT 설계</dc:title>
  <dc:creator>김태윤</dc:creator>
  <cp:lastModifiedBy>태윤 김</cp:lastModifiedBy>
  <cp:revision>5</cp:revision>
  <dcterms:created xsi:type="dcterms:W3CDTF">2006-08-16T00:00:00Z</dcterms:created>
  <dcterms:modified xsi:type="dcterms:W3CDTF">2026-08-26T07:25:59Z</dcterms:modified>
  <dc:identifier>DAHDt5tIXHk</dc:identifier>
</cp:coreProperties>
</file>